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Wireframe dan keterangan studi kasus disediakan oleh author. Semua metode menggunakan GPT-6.1 Sol High.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Sumber V1: repository publik HTML-To-Delphi-FMX, diakses 3 Oktober 2026. Proyek saat ini memiliki enam skill seperti terdokumentasi dalam README lokal.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ini menjelaskan hipotesis desain. Tidak mengklaim penghematan performa tanpa profiling.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Healthcare Appointment App: membantu pasien mencari dokter, mengelola konsultasi mendatang, memilih kategori kesehatan, dan berkomunikasi dengan penyedia layanan. Brief disediakan oleh author.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Method list supplied by author. No quality ranking is stated here.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Panduan ini merapikan prompt berdasarkan brief wireframe dan empat alur yang dijelaskan author dalam percakapan. Panduan bukan transkrip kata-per-kata dari seluruh prompt awal. Detail langkah yang diperjelas berfungsi sebagai template agar audience dapat mencoba workflow. Gunakan sumber wireframe asli di docs/result/VERSION.2.0.0/wireframe.png. Agent eksperimen: GPT-6.1 Sol, reasoning High. Istilah skill saat ini adalah create-fmx-ui. Deskripsi tujuan berasal dari brief Healthcare Appointment App author.</a:t>
            </a:r>
          </a:p>
          <a:p>
            <a:endParaRPr/>
          </a:p>
          <a:p>
            <a:r>
              <a:t>Sumber: brief dan alur author dalam percakapan. Instruksi skill create-fmx-ui dan html-to-fmx lokal. project/DESIGN.md.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Panduan ini merapikan prompt berdasarkan brief wireframe dan empat alur yang dijelaskan author dalam percakapan. Panduan bukan transkrip kata-per-kata dari seluruh prompt awal. Detail langkah yang diperjelas berfungsi sebagai template agar audience dapat mencoba workflow. Gunakan sumber wireframe asli di docs/result/VERSION.2.0.0/wireframe.png. Agent eksperimen: GPT-6.1 Sol, reasoning High. Istilah skill saat ini adalah create-fmx-ui. Deskripsi tujuan berasal dari brief Healthcare Appointment App author.</a:t>
            </a:r>
          </a:p>
          <a:p>
            <a:endParaRPr/>
          </a:p>
          <a:p>
            <a:r>
              <a:t>Agent dapat membaca DESIGN.md terlebih dahulu dan menyampaikan aturan warna tersebut ke Google Stitch. Kemudian ekspor HTML/CSS dan aset sebelum menjalankan html-to-fmx. Nama atau cara ekspor mengikuti integrasi Stitch yang tersedia. Ini panduan alur, tanpa menjanjikan hasil visual atau durasi yang identik.</a:t>
            </a:r>
          </a:p>
          <a:p>
            <a:endParaRPr/>
          </a:p>
          <a:p>
            <a:r>
              <a:t>1. Buat desain melalui MCP Google Stitch</a:t>
            </a:r>
          </a:p>
          <a:p>
            <a:r>
              <a:t>Gunakan MCP Google Stitch untuk membuat UI Healthcare Appointment App dari wireframe dan brief ini. Pertahankan susunan area utama. Ikuti aturan warna project/DESIGN.md, lalu lengkapi aset visual yang relevan.</a:t>
            </a:r>
          </a:p>
          <a:p>
            <a:endParaRPr/>
          </a:p>
          <a:p>
            <a:r>
              <a:t>2. Ekspor HTML, lalu konversi ke FMX</a:t>
            </a:r>
          </a:p>
          <a:p>
            <a:r>
              <a:t>Ekspor desain tadi sebagai HTML/CSS. Gunakan skill html-to-fmx untuk mengonversinya ke UI native Delphi FMX. Pertahankan visual sumber. Buat page dan reusable doctor card sebagai pasangan .fmx dan .pas yang dapat diedit di Designer.</a:t>
            </a:r>
          </a:p>
          <a:p>
            <a:endParaRPr/>
          </a:p>
          <a:p>
            <a:r>
              <a:t>Sumber: brief dan alur author dalam percakapan. Instruksi skill create-fmx-ui dan html-to-fmx lokal. project/DESIGN.md.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Panduan ini merapikan prompt berdasarkan brief wireframe dan empat alur yang dijelaskan author dalam percakapan. Panduan bukan transkrip kata-per-kata dari seluruh prompt awal. Detail langkah yang diperjelas berfungsi sebagai template agar audience dapat mencoba workflow. Gunakan sumber wireframe asli di docs/result/VERSION.2.0.0/wireframe.png. Agent eksperimen: GPT-6.1 Sol, reasoning High. Istilah skill saat ini adalah create-fmx-ui. Deskripsi tujuan berasal dari brief Healthcare Appointment App author.</a:t>
            </a:r>
          </a:p>
          <a:p>
            <a:endParaRPr/>
          </a:p>
          <a:p>
            <a:r>
              <a:t>Menurut skill create-fmx-ui lokal, input screenshot/wireframe memerlukan screenshot-to-fmx-mapping di dalam workflow. Langkah mapping tetap ada meskipun pengguna memberi satu permintaan create UI.</a:t>
            </a:r>
          </a:p>
          <a:p>
            <a:endParaRPr/>
          </a:p>
          <a:p>
            <a:r>
              <a:t>Gunakan skill create-fmx-ui untuk membuat halaman Healthcare Appointment App langsung dari wireframe.png dan brief ini. Ikuti susunan wireframe dan aturan warna project/DESIGN.md.</a:t>
            </a:r>
          </a:p>
          <a:p>
            <a:endParaRPr/>
          </a:p>
          <a:p>
            <a:r>
              <a:t>Simpan struktur tetap sebagai pasangan .fmx dan .pas yang dapat diedit di Designer. Buat doctor card reusable untuk daftar dokter dan siapkan binding agar page dapat memakai card tersebut. Ikuti struktur proyek serta StyleBook yang ada.</a:t>
            </a:r>
          </a:p>
          <a:p>
            <a:endParaRPr/>
          </a:p>
          <a:p>
            <a:r>
              <a:t>Sumber: brief dan alur author dalam percakapan. Instruksi skill create-fmx-ui dan html-to-fmx lokal. project/DESIGN.md.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Panduan ini merapikan prompt berdasarkan brief wireframe dan empat alur yang dijelaskan author dalam percakapan. Panduan bukan transkrip kata-per-kata dari seluruh prompt awal. Detail langkah yang diperjelas berfungsi sebagai template agar audience dapat mencoba workflow. Gunakan sumber wireframe asli di docs/result/VERSION.2.0.0/wireframe.png. Agent eksperimen: GPT-6.1 Sol, reasoning High. Istilah skill saat ini adalah create-fmx-ui. Deskripsi tujuan berasal dari brief Healthcare Appointment App author.</a:t>
            </a:r>
          </a:p>
          <a:p>
            <a:endParaRPr/>
          </a:p>
          <a:p>
            <a:r>
              <a:t>Mapping terpisah menghasilkan dokumen Markdown sebelum tahap implementasi. Bawa dokumen tersebut beserta wireframe dan brief ke tahap create-fmx-ui. Waktu mapping dan implementasi dapat dicatat terpisah.</a:t>
            </a:r>
          </a:p>
          <a:p>
            <a:endParaRPr/>
          </a:p>
          <a:p>
            <a:r>
              <a:t>1. Jalankan screenshot-to-fmx-mapping</a:t>
            </a:r>
          </a:p>
          <a:p>
            <a:r>
              <a:t>Gunakan skill screenshot-to-fmx-mapping untuk memetakan wireframe dan brief ke hierarki komponen FMX. Pisahkan area tetap, area scroll, navigasi bawah, dan daftar dokter dengan card reusable. Simpan hasilnya sebagai dokumen mapping.</a:t>
            </a:r>
          </a:p>
          <a:p>
            <a:endParaRPr/>
          </a:p>
          <a:p>
            <a:r>
              <a:t>2. Implementasikan mapping dengan create-fmx-ui</a:t>
            </a:r>
          </a:p>
          <a:p>
            <a:r>
              <a:t>Gunakan skill create-fmx-ui untuk membangun UI berdasarkan mapping tadi. Ikuti aturan warna project/DESIGN.md. Buat pasangan .fmx dan .pas yang dapat diedit di Designer, lalu siapkan binding page dan doctor card.</a:t>
            </a:r>
          </a:p>
          <a:p>
            <a:endParaRPr/>
          </a:p>
          <a:p>
            <a:r>
              <a:t>Sumber: brief dan alur author dalam percakapan. Instruksi skill create-fmx-ui dan html-to-fmx lokal. project/DESIGN.md.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Panduan ini merapikan prompt berdasarkan brief wireframe dan empat alur yang dijelaskan author dalam percakapan. Panduan bukan transkrip kata-per-kata dari seluruh prompt awal. Detail langkah yang diperjelas berfungsi sebagai template agar audience dapat mencoba workflow. Gunakan sumber wireframe asli di docs/result/VERSION.2.0.0/wireframe.png. Agent eksperimen: GPT-6.1 Sol, reasoning High. Istilah skill saat ini adalah create-fmx-ui. Deskripsi tujuan berasal dari brief Healthcare Appointment App author.</a:t>
            </a:r>
          </a:p>
          <a:p>
            <a:endParaRPr/>
          </a:p>
          <a:p>
            <a:r>
              <a:t>Prompt HTML sengaja tidak memuat DESIGN.md agar panduan tetap konsisten dengan penjelasan author tentang percobaan Metode 4. html-to-fmx mempertahankan HTML/CSS sebagai sumber visual, sehingga perbedaan palet dapat terbawa ke hasil FMX. Tambahan rujukan DESIGN.md hanya muncul sebagai saran perbaikan untuk percobaan berikutnya.</a:t>
            </a:r>
          </a:p>
          <a:p>
            <a:endParaRPr/>
          </a:p>
          <a:p>
            <a:r>
              <a:t>1. Minta agent membuat HTML/CSS</a:t>
            </a:r>
          </a:p>
          <a:p>
            <a:r>
              <a:t>Ubah wireframe dan brief Healthcare Appointment App menjadi halaman HTML/CSS mobile. Pertahankan susunan area utama dan buat tampilan modern serta sederhana. Lengkapi aset yang diperlukan, lalu simpan sumber HTML/CSS.</a:t>
            </a:r>
          </a:p>
          <a:p>
            <a:endParaRPr/>
          </a:p>
          <a:p>
            <a:r>
              <a:t>2. Konversi HTML/CSS dengan html-to-fmx</a:t>
            </a:r>
          </a:p>
          <a:p>
            <a:r>
              <a:t>Gunakan skill html-to-fmx untuk mengonversi HTML/CSS tadi ke UI native Delphi FMX. Pertahankan visual sumber. Buat page dan reusable doctor card sebagai pasangan .fmx dan .pas yang dapat diedit di Designer.</a:t>
            </a:r>
          </a:p>
          <a:p>
            <a:endParaRPr/>
          </a:p>
          <a:p>
            <a:r>
              <a:t>Sumber: brief dan alur author dalam percakapan. Instruksi skill create-fmx-ui dan html-to-fmx lokal. project/DESIGN.md.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Prompt asli author: “Tambahkan Data dummy nya dengan card yang sudah anda buat”. Versi panduan memperjelas bahwa page harus membuat item, memasang card, dan mengisi data menggunakan binding yang sudah ada. Data demo bersifat fiktif dan tidak membuktikan integrasi API. Aturan satu kali pemuatan dan perlindungan binding berikutnya merupakan refinement panduan yang mengikuti pola implementasi lokal. Bagian DESIGN.md untuk Metode 4 adalah usulan percobaan lanjutan, tanpa hasil validasi baru.</a:t>
            </a:r>
          </a:p>
          <a:p>
            <a:endParaRPr/>
          </a:p>
          <a:p>
            <a:r>
              <a:t>Sumber: brief dan alur author dalam percakapan. Instruksi skill create-fmx-ui dan html-to-fmx lokal. project/DESIGN.md.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Kriteria eksperimen dirancang untuk perbandingan yang transparan. Status validasi harus didukung bukti dari setiap metode.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Kiri: screenshot Google Stitch yang tersedia di workspace. Kanan: preview FMX native dari artefak wireframe-mapping. Keduanya dipakai sebagai evidence visual, bukan peringkat kualitas antar metode.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Struktur ini mengikuti aturan skill lokal: UI fixed berada di .fmx, sedangkan data berulang memakai TListBoxItem dan reusable TFrame.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Gunakan bukti yang benar-benar tersedia pada saat presentasi. Jangan menyimpulkan interaction behavior atau device matrix dari satu screenshot.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Ini adalah rubric presentasi. Isi hasil akhir setelah seluruh metode memiliki evidence yang setara.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Author memperkirakan sekitar 90% kemiripan struktur/hierarki komponen secara keseluruhan setelah meninjau empat hasil. Angka ini merupakan estimasi pengamatan, tanpa metode pengukuran atau perbandingan tree formal. Author menilai aturan pewarnaan DESIGN.md diikuti Metode 1, 2, dan 3. Metode 4 memakai palet berbeda karena prompt tahap pembuatan HTML tidak secara eksplisit merujuk DESIGN.md. Pernyataan ini membahas warna dan tidak menyatakan audit seluruh aturan desain. File project/DESIGN.md memuat token warna Toss, termasuk primary #3182f6. Kesimpulan mengikuti hasil dan konteks prompt eksperimen ini.</a:t>
            </a:r>
          </a:p>
          <a:p>
            <a:endParaRPr/>
          </a:p>
          <a:p>
            <a:r>
              <a:t>Sumber: kesimpulan tambahan author dalam percakapan. project/DESIGN.md.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Penilaian visual berasal dari author. Istilah lebih terstruktur untuk Metode 1 dipertegas sebagai pengelompokan visual yang lebih rapi, sejalan dengan kemiripan hierarki sekitar 90%. Google Stitch membantu menyediakan desain dan aset yang lebih lengkap. Metode 1: UI awal 32m 49s + card dan dummy 6m 06s = total 38m 55s, urutan ketiga tercepat. Metode 2: 23m 25s + 2m 27s = 25m 52s, urutan kedua tercepat. Metode 2 tetap sesuai wireframe, namun visualnya masih mentah seperti Metode 3. Waktu tambahan card dan dummy paling kecil ada pada Metode 2. Keduanya mengikuti aturan warna DESIGN.md menurut author.</a:t>
            </a:r>
          </a:p>
          <a:p>
            <a:endParaRPr/>
          </a:p>
          <a:p>
            <a:r>
              <a:t>Sumber: kesimpulan tambahan author dan catatan waktu dalam percakapan.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Author menilai Metode 3 paling sesuai susunan wireframe, tetapi hasil visualnya masih mentah dan kurang memuaskan. Kesesuaian wireframe dan kematangan visual merupakan dimensi yang berbeda. Mapping terpisah tidak memberi peningkatan visual yang terlihat pada eksperimen ini. UI awal 8m 16s mapping + 41m 54s implementasi = 50m 10s. Tambahan card dan dummy 5m 12s, total 55m 22s, waktu terlama. Tahap implementasinya sendiri lebih lama daripada metode lain, sehingga perbedaan waktu tidak dapat dijelaskan hanya oleh mapping 8m 16s. Metode 4: 14m 40s + 8m 53s = total 23m 33s, waktu tercepat. Author cukup puas dengan visualnya, meski palet menyimpang dari DESIGN.md. Author menjelaskan prompt HTML tidak merujuk DESIGN.md secara eksplisit. Refinement prompt selanjutnya dapat menyebut file tersebut sejak tahap HTML, kemudian memeriksa konsistensi warna setelah konversi FMX. Ini usulan tindak lanjut, bukan hasil percobaan baru.</a:t>
            </a:r>
          </a:p>
          <a:p>
            <a:endParaRPr/>
          </a:p>
          <a:p>
            <a:r>
              <a:t>Sumber: kesimpulan tambahan author dan catatan waktu dalam percakapan.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Kesimpulan deck. Klaim arsitektur disandarkan pada repository dan aturan skill; hasil evaluasi metode disampaikan hanya bila evidence sudah dilengkapi.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2820"/>
        </a:solidFill>
        <a:effectLst/>
      </p:bgPr>
    </p:bg>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AABA6790-2550-42F7-A76C-9B82315DB2AB}"/>
              </a:ext>
            </a:extLst>
          </p:cNvPr>
          <p:cNvSpPr>
            <a:spLocks noGrp="1"/>
          </p:cNvSpPr>
          <p:nvPr/>
        </p:nvSpPr>
        <p:spPr>
          <a:xfrm>
            <a:off x="685800" y="647700"/>
            <a:ext cx="1466850" cy="323850"/>
          </a:xfrm>
          <a:prstGeom prst="roundRect">
            <a:avLst>
              <a:gd name="adj" fmla="val 35294"/>
            </a:avLst>
          </a:prstGeom>
          <a:solidFill>
            <a:srgbClr val="DFF2E9"/>
          </a:solidFill>
          <a:ln w="0">
            <a:noFill/>
          </a:ln>
        </p:spPr>
      </p:sp>
      <p:sp>
        <p:nvSpPr>
          <p:cNvPr id="2" name="Rectangle 1">
            <a:extLst>
              <a:ext uri="{FF2B5EF4-FFF2-40B4-BE49-F238E27FC236}">
                <a16:creationId xmlns:a16="http://schemas.microsoft.com/office/drawing/2014/main" id="{F95A8159-4142-46EB-82D4-FB67D1A6A49E}"/>
              </a:ext>
            </a:extLst>
          </p:cNvPr>
          <p:cNvSpPr>
            <a:spLocks noGrp="1"/>
          </p:cNvSpPr>
          <p:nvPr/>
        </p:nvSpPr>
        <p:spPr>
          <a:xfrm>
            <a:off x="838200" y="723900"/>
            <a:ext cx="1143000" cy="171450"/>
          </a:xfrm>
          <a:prstGeom prst="rect">
            <a:avLst/>
          </a:prstGeom>
          <a:noFill/>
          <a:ln w="0">
            <a:noFill/>
          </a:ln>
        </p:spPr>
        <p:txBody>
          <a:bodyPr anchor="t">
            <a:normAutofit fontScale="65833" lnSpcReduction="10000"/>
          </a:bodyPr>
          <a:lstStyle/>
          <a:p>
            <a:pPr algn="ctr">
              <a:buNone/>
              <a:defRPr sz="900" b="1">
                <a:solidFill>
                  <a:srgbClr val="1F6F54"/>
                </a:solidFill>
                <a:latin typeface="Arial"/>
                <a:ea typeface="Arial"/>
                <a:cs typeface="Arial"/>
              </a:defRPr>
            </a:pPr>
            <a:r>
              <a:rPr sz="900" b="1">
                <a:solidFill>
                  <a:srgbClr val="1F6F54"/>
                </a:solidFill>
                <a:latin typeface="Arial"/>
                <a:ea typeface="Arial"/>
                <a:cs typeface="Arial"/>
              </a:rPr>
              <a:t>CASE STUDY</a:t>
            </a:r>
          </a:p>
        </p:txBody>
      </p:sp>
      <p:sp>
        <p:nvSpPr>
          <p:cNvPr id="3" name="Rectangle 2">
            <a:extLst>
              <a:ext uri="{FF2B5EF4-FFF2-40B4-BE49-F238E27FC236}">
                <a16:creationId xmlns:a16="http://schemas.microsoft.com/office/drawing/2014/main" id="{116C53DE-99AB-421D-9A29-280052A9E827}"/>
              </a:ext>
            </a:extLst>
          </p:cNvPr>
          <p:cNvSpPr>
            <a:spLocks noGrp="1"/>
          </p:cNvSpPr>
          <p:nvPr/>
        </p:nvSpPr>
        <p:spPr>
          <a:xfrm>
            <a:off x="685800" y="1619250"/>
            <a:ext cx="6191250" cy="1295400"/>
          </a:xfrm>
          <a:prstGeom prst="rect">
            <a:avLst/>
          </a:prstGeom>
          <a:noFill/>
          <a:ln w="0">
            <a:noFill/>
          </a:ln>
        </p:spPr>
        <p:txBody>
          <a:bodyPr anchor="t">
            <a:normAutofit/>
          </a:bodyPr>
          <a:lstStyle/>
          <a:p>
            <a:pPr algn="l">
              <a:buNone/>
              <a:defRPr sz="3675" b="1">
                <a:solidFill>
                  <a:srgbClr val="FFFFFF"/>
                </a:solidFill>
                <a:latin typeface="Arial"/>
                <a:ea typeface="Arial"/>
                <a:cs typeface="Arial"/>
              </a:defRPr>
            </a:pPr>
            <a:r>
              <a:rPr sz="3675" b="1" dirty="0" err="1">
                <a:solidFill>
                  <a:srgbClr val="FFFFFF"/>
                </a:solidFill>
                <a:latin typeface="Arial"/>
                <a:ea typeface="Arial"/>
                <a:cs typeface="Arial"/>
              </a:rPr>
              <a:t>Membangun</a:t>
            </a:r>
            <a:r>
              <a:rPr sz="3675" b="1" dirty="0">
                <a:solidFill>
                  <a:srgbClr val="FFFFFF"/>
                </a:solidFill>
                <a:latin typeface="Arial"/>
                <a:ea typeface="Arial"/>
                <a:cs typeface="Arial"/>
              </a:rPr>
              <a:t> UI FMX yang </a:t>
            </a:r>
            <a:r>
              <a:rPr lang="en-US" sz="3675" b="1" dirty="0" err="1">
                <a:solidFill>
                  <a:srgbClr val="FFFFFF"/>
                </a:solidFill>
                <a:latin typeface="Arial"/>
                <a:ea typeface="Arial"/>
                <a:cs typeface="Arial"/>
              </a:rPr>
              <a:t>dibuat</a:t>
            </a:r>
            <a:r>
              <a:rPr lang="en-US" sz="3675" b="1" dirty="0">
                <a:solidFill>
                  <a:srgbClr val="FFFFFF"/>
                </a:solidFill>
                <a:latin typeface="Arial"/>
                <a:ea typeface="Arial"/>
                <a:cs typeface="Arial"/>
              </a:rPr>
              <a:t> </a:t>
            </a:r>
            <a:r>
              <a:rPr sz="3675" b="1" dirty="0" err="1">
                <a:solidFill>
                  <a:srgbClr val="FFFFFF"/>
                </a:solidFill>
                <a:latin typeface="Arial"/>
                <a:ea typeface="Arial"/>
                <a:cs typeface="Arial"/>
              </a:rPr>
              <a:t>dengan</a:t>
            </a:r>
            <a:r>
              <a:rPr sz="3675" b="1" dirty="0">
                <a:solidFill>
                  <a:srgbClr val="FFFFFF"/>
                </a:solidFill>
                <a:latin typeface="Arial"/>
                <a:ea typeface="Arial"/>
                <a:cs typeface="Arial"/>
              </a:rPr>
              <a:t> AI</a:t>
            </a:r>
          </a:p>
        </p:txBody>
      </p:sp>
      <p:sp>
        <p:nvSpPr>
          <p:cNvPr id="4" name="Rectangle 3">
            <a:extLst>
              <a:ext uri="{FF2B5EF4-FFF2-40B4-BE49-F238E27FC236}">
                <a16:creationId xmlns:a16="http://schemas.microsoft.com/office/drawing/2014/main" id="{5B5513F5-D230-4CD6-BC0B-2CC9E5057537}"/>
              </a:ext>
            </a:extLst>
          </p:cNvPr>
          <p:cNvSpPr>
            <a:spLocks noGrp="1"/>
          </p:cNvSpPr>
          <p:nvPr/>
        </p:nvSpPr>
        <p:spPr>
          <a:xfrm>
            <a:off x="685800" y="3238500"/>
            <a:ext cx="5429250" cy="781050"/>
          </a:xfrm>
          <a:prstGeom prst="rect">
            <a:avLst/>
          </a:prstGeom>
          <a:noFill/>
          <a:ln w="0">
            <a:noFill/>
          </a:ln>
        </p:spPr>
        <p:txBody>
          <a:bodyPr anchor="t">
            <a:normAutofit fontScale="94393" lnSpcReduction="10000"/>
          </a:bodyPr>
          <a:lstStyle/>
          <a:p>
            <a:pPr algn="l">
              <a:buNone/>
              <a:defRPr sz="1650" b="0">
                <a:solidFill>
                  <a:srgbClr val="D7E3DC"/>
                </a:solidFill>
                <a:latin typeface="Arial"/>
                <a:ea typeface="Arial"/>
                <a:cs typeface="Arial"/>
              </a:defRPr>
            </a:pPr>
            <a:r>
              <a:rPr sz="1650" b="0" dirty="0">
                <a:solidFill>
                  <a:srgbClr val="D7E3DC"/>
                </a:solidFill>
                <a:latin typeface="Arial"/>
                <a:ea typeface="Arial"/>
                <a:cs typeface="Arial"/>
              </a:rPr>
              <a:t>Satu wireframe healthcare. </a:t>
            </a:r>
            <a:r>
              <a:rPr sz="1650" b="0" dirty="0" err="1">
                <a:solidFill>
                  <a:srgbClr val="D7E3DC"/>
                </a:solidFill>
                <a:latin typeface="Arial"/>
                <a:ea typeface="Arial"/>
                <a:cs typeface="Arial"/>
              </a:rPr>
              <a:t>Empat</a:t>
            </a:r>
            <a:r>
              <a:rPr sz="1650" b="0" dirty="0">
                <a:solidFill>
                  <a:srgbClr val="D7E3DC"/>
                </a:solidFill>
                <a:latin typeface="Arial"/>
                <a:ea typeface="Arial"/>
                <a:cs typeface="Arial"/>
              </a:rPr>
              <a:t> </a:t>
            </a:r>
            <a:r>
              <a:rPr sz="1650" b="0" dirty="0" err="1">
                <a:solidFill>
                  <a:srgbClr val="D7E3DC"/>
                </a:solidFill>
                <a:latin typeface="Arial"/>
                <a:ea typeface="Arial"/>
                <a:cs typeface="Arial"/>
              </a:rPr>
              <a:t>jalur</a:t>
            </a:r>
            <a:r>
              <a:rPr sz="1650" b="0" dirty="0">
                <a:solidFill>
                  <a:srgbClr val="D7E3DC"/>
                </a:solidFill>
                <a:latin typeface="Arial"/>
                <a:ea typeface="Arial"/>
                <a:cs typeface="Arial"/>
              </a:rPr>
              <a:t> </a:t>
            </a:r>
            <a:r>
              <a:rPr sz="1650" b="0" dirty="0" err="1">
                <a:solidFill>
                  <a:srgbClr val="D7E3DC"/>
                </a:solidFill>
                <a:latin typeface="Arial"/>
                <a:ea typeface="Arial"/>
                <a:cs typeface="Arial"/>
              </a:rPr>
              <a:t>generasi</a:t>
            </a:r>
            <a:r>
              <a:rPr sz="1650" b="0" dirty="0">
                <a:solidFill>
                  <a:srgbClr val="D7E3DC"/>
                </a:solidFill>
                <a:latin typeface="Arial"/>
                <a:ea typeface="Arial"/>
                <a:cs typeface="Arial"/>
              </a:rPr>
              <a:t>. Satu target: FMX native yang </a:t>
            </a:r>
            <a:r>
              <a:rPr sz="1650" b="0" dirty="0" err="1">
                <a:solidFill>
                  <a:srgbClr val="D7E3DC"/>
                </a:solidFill>
                <a:latin typeface="Arial"/>
                <a:ea typeface="Arial"/>
                <a:cs typeface="Arial"/>
              </a:rPr>
              <a:t>tetap</a:t>
            </a:r>
            <a:r>
              <a:rPr sz="1650" b="0" dirty="0">
                <a:solidFill>
                  <a:srgbClr val="D7E3DC"/>
                </a:solidFill>
                <a:latin typeface="Arial"/>
                <a:ea typeface="Arial"/>
                <a:cs typeface="Arial"/>
              </a:rPr>
              <a:t> </a:t>
            </a:r>
            <a:r>
              <a:rPr sz="1650" b="0" dirty="0" err="1">
                <a:solidFill>
                  <a:srgbClr val="D7E3DC"/>
                </a:solidFill>
                <a:latin typeface="Arial"/>
                <a:ea typeface="Arial"/>
                <a:cs typeface="Arial"/>
              </a:rPr>
              <a:t>jelas</a:t>
            </a:r>
            <a:r>
              <a:rPr sz="1650" b="0" dirty="0">
                <a:solidFill>
                  <a:srgbClr val="D7E3DC"/>
                </a:solidFill>
                <a:latin typeface="Arial"/>
                <a:ea typeface="Arial"/>
                <a:cs typeface="Arial"/>
              </a:rPr>
              <a:t> di RAD Studio Designer.</a:t>
            </a:r>
          </a:p>
        </p:txBody>
      </p:sp>
      <p:pic>
        <p:nvPicPr>
          <p:cNvPr id="13" name="Picture 12"/>
          <p:cNvPicPr>
            <a:picLocks noChangeAspect="1"/>
          </p:cNvPicPr>
          <p:nvPr/>
        </p:nvPicPr>
        <p:blipFill>
          <a:blip r:embed="rId3"/>
          <a:srcRect/>
          <a:stretch>
            <a:fillRect/>
          </a:stretch>
        </p:blipFill>
        <p:spPr>
          <a:xfrm>
            <a:off x="8098170" y="685800"/>
            <a:ext cx="2472660" cy="5334000"/>
          </a:xfrm>
          <a:prstGeom prst="roundRect">
            <a:avLst>
              <a:gd name="adj" fmla="val 4615"/>
            </a:avLst>
          </a:prstGeom>
        </p:spPr>
      </p:pic>
      <p:sp>
        <p:nvSpPr>
          <p:cNvPr id="6" name="Rectangle 5">
            <a:extLst>
              <a:ext uri="{FF2B5EF4-FFF2-40B4-BE49-F238E27FC236}">
                <a16:creationId xmlns:a16="http://schemas.microsoft.com/office/drawing/2014/main" id="{2FCBD812-0C2C-4CCB-97A3-97FD49BB0A0C}"/>
              </a:ext>
            </a:extLst>
          </p:cNvPr>
          <p:cNvSpPr>
            <a:spLocks noGrp="1"/>
          </p:cNvSpPr>
          <p:nvPr/>
        </p:nvSpPr>
        <p:spPr>
          <a:xfrm>
            <a:off x="685800" y="5619750"/>
            <a:ext cx="4000500" cy="247650"/>
          </a:xfrm>
          <a:prstGeom prst="rect">
            <a:avLst/>
          </a:prstGeom>
          <a:noFill/>
          <a:ln w="0">
            <a:noFill/>
          </a:ln>
        </p:spPr>
        <p:txBody>
          <a:bodyPr anchor="t">
            <a:normAutofit fontScale="98611" lnSpcReduction="10000"/>
          </a:bodyPr>
          <a:lstStyle/>
          <a:p>
            <a:pPr algn="l">
              <a:buNone/>
              <a:defRPr sz="1125" b="0">
                <a:solidFill>
                  <a:srgbClr val="A9C6B6"/>
                </a:solidFill>
                <a:latin typeface="Arial"/>
                <a:ea typeface="Arial"/>
                <a:cs typeface="Arial"/>
              </a:defRPr>
            </a:pPr>
            <a:r>
              <a:rPr sz="1125" b="0">
                <a:solidFill>
                  <a:srgbClr val="A9C6B6"/>
                </a:solidFill>
                <a:latin typeface="Arial"/>
                <a:ea typeface="Arial"/>
                <a:cs typeface="Arial"/>
              </a:rPr>
              <a:t>GPT-6.1 Sol High untuk seluruh metode</a:t>
            </a:r>
          </a:p>
        </p:txBody>
      </p:sp>
    </p:spTree>
    <p:extLst>
      <p:ext uri="{BB962C8B-B14F-4D97-AF65-F5344CB8AC3E}">
        <p14:creationId xmlns:p14="http://schemas.microsoft.com/office/powerpoint/2010/main" val="18831925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17DA689-AC13-423D-A22C-D2BE93C1F150}"/>
              </a:ext>
            </a:extLst>
          </p:cNvPr>
          <p:cNvSpPr>
            <a:spLocks noGrp="1"/>
          </p:cNvSpPr>
          <p:nvPr/>
        </p:nvSpPr>
        <p:spPr>
          <a:xfrm>
            <a:off x="685800" y="6477000"/>
            <a:ext cx="5715000" cy="190500"/>
          </a:xfrm>
          <a:prstGeom prst="rect">
            <a:avLst/>
          </a:prstGeom>
          <a:noFill/>
          <a:ln w="0">
            <a:noFill/>
          </a:ln>
        </p:spPr>
        <p:txBody>
          <a:bodyPr anchor="t">
            <a:normAutofit fontScale="78788" lnSpcReduction="10000"/>
          </a:bodyPr>
          <a:lstStyle/>
          <a:p>
            <a:pPr algn="l">
              <a:buNone/>
              <a:defRPr sz="825" b="0">
                <a:solidFill>
                  <a:srgbClr val="64736C"/>
                </a:solidFill>
                <a:latin typeface="Arial"/>
                <a:ea typeface="Arial"/>
                <a:cs typeface="Arial"/>
              </a:defRPr>
            </a:pPr>
            <a:r>
              <a:rPr sz="825" b="0">
                <a:solidFill>
                  <a:srgbClr val="64736C"/>
                </a:solidFill>
                <a:latin typeface="Arial"/>
                <a:ea typeface="Arial"/>
                <a:cs typeface="Arial"/>
              </a:rPr>
              <a:t>HTML-FMX · Healthcare wireframe case study</a:t>
            </a:r>
          </a:p>
        </p:txBody>
      </p:sp>
      <p:sp>
        <p:nvSpPr>
          <p:cNvPr id="2" name="Rectangle 1">
            <a:extLst>
              <a:ext uri="{FF2B5EF4-FFF2-40B4-BE49-F238E27FC236}">
                <a16:creationId xmlns:a16="http://schemas.microsoft.com/office/drawing/2014/main" id="{A9EDA490-491F-45BA-B490-21F7A98F54D5}"/>
              </a:ext>
            </a:extLst>
          </p:cNvPr>
          <p:cNvSpPr>
            <a:spLocks noGrp="1"/>
          </p:cNvSpPr>
          <p:nvPr/>
        </p:nvSpPr>
        <p:spPr>
          <a:xfrm>
            <a:off x="11049000" y="6438900"/>
            <a:ext cx="457200" cy="190500"/>
          </a:xfrm>
          <a:prstGeom prst="rect">
            <a:avLst/>
          </a:prstGeom>
          <a:noFill/>
          <a:ln w="0">
            <a:noFill/>
          </a:ln>
        </p:spPr>
        <p:txBody>
          <a:bodyPr anchor="t">
            <a:normAutofit fontScale="78788" lnSpcReduction="10000"/>
          </a:bodyPr>
          <a:lstStyle/>
          <a:p>
            <a:pPr algn="r">
              <a:buNone/>
              <a:defRPr sz="825" b="0">
                <a:solidFill>
                  <a:srgbClr val="64736C"/>
                </a:solidFill>
                <a:latin typeface="Arial"/>
                <a:ea typeface="Arial"/>
                <a:cs typeface="Arial"/>
              </a:defRPr>
            </a:pPr>
            <a:r>
              <a:rPr sz="825" b="0">
                <a:solidFill>
                  <a:srgbClr val="64736C"/>
                </a:solidFill>
                <a:latin typeface="Arial"/>
                <a:ea typeface="Arial"/>
                <a:cs typeface="Arial"/>
              </a:rPr>
              <a:t>02</a:t>
            </a:r>
          </a:p>
        </p:txBody>
      </p:sp>
      <p:sp>
        <p:nvSpPr>
          <p:cNvPr id="3" name="Rectangle 2">
            <a:extLst>
              <a:ext uri="{FF2B5EF4-FFF2-40B4-BE49-F238E27FC236}">
                <a16:creationId xmlns:a16="http://schemas.microsoft.com/office/drawing/2014/main" id="{D8F98BBF-D295-4537-97A8-536730E4181A}"/>
              </a:ext>
            </a:extLst>
          </p:cNvPr>
          <p:cNvSpPr>
            <a:spLocks noGrp="1"/>
          </p:cNvSpPr>
          <p:nvPr/>
        </p:nvSpPr>
        <p:spPr>
          <a:xfrm>
            <a:off x="685800" y="514350"/>
            <a:ext cx="10668000" cy="495300"/>
          </a:xfrm>
          <a:prstGeom prst="rect">
            <a:avLst/>
          </a:prstGeom>
          <a:noFill/>
          <a:ln w="0">
            <a:noFill/>
          </a:ln>
        </p:spPr>
        <p:txBody>
          <a:bodyPr anchor="t">
            <a:normAutofit/>
          </a:bodyPr>
          <a:lstStyle/>
          <a:p>
            <a:pPr algn="l">
              <a:buNone/>
              <a:defRPr sz="2400" b="1">
                <a:solidFill>
                  <a:srgbClr val="172820"/>
                </a:solidFill>
                <a:latin typeface="Arial"/>
                <a:ea typeface="Arial"/>
                <a:cs typeface="Arial"/>
              </a:defRPr>
            </a:pPr>
            <a:r>
              <a:rPr sz="2400" b="1">
                <a:solidFill>
                  <a:srgbClr val="172820"/>
                </a:solidFill>
                <a:latin typeface="Arial"/>
                <a:ea typeface="Arial"/>
                <a:cs typeface="Arial"/>
              </a:rPr>
              <a:t>Dari V1 NovaPOS ke studi kasus healthcare</a:t>
            </a:r>
          </a:p>
        </p:txBody>
      </p:sp>
      <p:sp>
        <p:nvSpPr>
          <p:cNvPr id="4" name="Rectangle 3">
            <a:extLst>
              <a:ext uri="{FF2B5EF4-FFF2-40B4-BE49-F238E27FC236}">
                <a16:creationId xmlns:a16="http://schemas.microsoft.com/office/drawing/2014/main" id="{ED48834C-F2CB-4EBA-A0AC-1A9B3BD01EFB}"/>
              </a:ext>
            </a:extLst>
          </p:cNvPr>
          <p:cNvSpPr>
            <a:spLocks noGrp="1"/>
          </p:cNvSpPr>
          <p:nvPr/>
        </p:nvSpPr>
        <p:spPr>
          <a:xfrm>
            <a:off x="685800" y="1066800"/>
            <a:ext cx="10287000" cy="323850"/>
          </a:xfrm>
          <a:prstGeom prst="rect">
            <a:avLst/>
          </a:prstGeom>
          <a:noFill/>
          <a:ln w="0">
            <a:noFill/>
          </a:ln>
        </p:spPr>
        <p:txBody>
          <a:bodyPr anchor="t">
            <a:normAutofit/>
          </a:bodyPr>
          <a:lstStyle/>
          <a:p>
            <a:pPr algn="l">
              <a:buNone/>
              <a:defRPr sz="1200" b="0">
                <a:solidFill>
                  <a:srgbClr val="64736C"/>
                </a:solidFill>
                <a:latin typeface="Arial"/>
                <a:ea typeface="Arial"/>
                <a:cs typeface="Arial"/>
              </a:defRPr>
            </a:pPr>
            <a:r>
              <a:rPr sz="1200" b="0">
                <a:solidFill>
                  <a:srgbClr val="64736C"/>
                </a:solidFill>
                <a:latin typeface="Arial"/>
                <a:ea typeface="Arial"/>
                <a:cs typeface="Arial"/>
              </a:rPr>
              <a:t>V1 memperlihatkan konversi HTML ke FMX. Proyek yang direfine memperluas jalur input dan kontrol arsitektur.</a:t>
            </a:r>
          </a:p>
        </p:txBody>
      </p:sp>
      <p:sp>
        <p:nvSpPr>
          <p:cNvPr id="5" name="Rectangle 4">
            <a:extLst>
              <a:ext uri="{FF2B5EF4-FFF2-40B4-BE49-F238E27FC236}">
                <a16:creationId xmlns:a16="http://schemas.microsoft.com/office/drawing/2014/main" id="{15872944-4196-41CC-B2CE-BC69C0717839}"/>
              </a:ext>
            </a:extLst>
          </p:cNvPr>
          <p:cNvSpPr>
            <a:spLocks noGrp="1"/>
          </p:cNvSpPr>
          <p:nvPr/>
        </p:nvSpPr>
        <p:spPr>
          <a:xfrm>
            <a:off x="685800" y="1809750"/>
            <a:ext cx="1714500" cy="400050"/>
          </a:xfrm>
          <a:prstGeom prst="rect">
            <a:avLst/>
          </a:prstGeom>
          <a:noFill/>
          <a:ln w="0">
            <a:noFill/>
          </a:ln>
        </p:spPr>
        <p:txBody>
          <a:bodyPr anchor="t">
            <a:normAutofit fontScale="86912" lnSpcReduction="10000"/>
          </a:bodyPr>
          <a:lstStyle/>
          <a:p>
            <a:pPr algn="l">
              <a:buNone/>
              <a:defRPr sz="2550" b="1">
                <a:solidFill>
                  <a:srgbClr val="1F6F54"/>
                </a:solidFill>
                <a:latin typeface="Arial"/>
                <a:ea typeface="Arial"/>
                <a:cs typeface="Arial"/>
              </a:defRPr>
            </a:pPr>
            <a:r>
              <a:rPr sz="2550" b="1">
                <a:solidFill>
                  <a:srgbClr val="1F6F54"/>
                </a:solidFill>
                <a:latin typeface="Arial"/>
                <a:ea typeface="Arial"/>
                <a:cs typeface="Arial"/>
              </a:rPr>
              <a:t>V1</a:t>
            </a:r>
          </a:p>
        </p:txBody>
      </p:sp>
      <p:sp>
        <p:nvSpPr>
          <p:cNvPr id="6" name="Rectangle 5">
            <a:extLst>
              <a:ext uri="{FF2B5EF4-FFF2-40B4-BE49-F238E27FC236}">
                <a16:creationId xmlns:a16="http://schemas.microsoft.com/office/drawing/2014/main" id="{36793A30-9B5D-47CF-9410-AD1E7CCCB591}"/>
              </a:ext>
            </a:extLst>
          </p:cNvPr>
          <p:cNvSpPr>
            <a:spLocks noGrp="1"/>
          </p:cNvSpPr>
          <p:nvPr/>
        </p:nvSpPr>
        <p:spPr>
          <a:xfrm>
            <a:off x="685800" y="2333625"/>
            <a:ext cx="2952750" cy="304800"/>
          </a:xfrm>
          <a:prstGeom prst="rect">
            <a:avLst/>
          </a:prstGeom>
          <a:noFill/>
          <a:ln w="0">
            <a:noFill/>
          </a:ln>
        </p:spPr>
        <p:txBody>
          <a:bodyPr anchor="t">
            <a:normAutofit fontScale="96389" lnSpcReduction="10000"/>
          </a:bodyPr>
          <a:lstStyle/>
          <a:p>
            <a:pPr algn="l">
              <a:buNone/>
              <a:defRPr sz="1575" b="1">
                <a:solidFill>
                  <a:srgbClr val="172820"/>
                </a:solidFill>
                <a:latin typeface="Arial"/>
                <a:ea typeface="Arial"/>
                <a:cs typeface="Arial"/>
              </a:defRPr>
            </a:pPr>
            <a:r>
              <a:rPr sz="1575" b="1">
                <a:solidFill>
                  <a:srgbClr val="172820"/>
                </a:solidFill>
                <a:latin typeface="Arial"/>
                <a:ea typeface="Arial"/>
                <a:cs typeface="Arial"/>
              </a:rPr>
              <a:t>NovaPOS dari Google Stitch</a:t>
            </a:r>
          </a:p>
        </p:txBody>
      </p:sp>
      <p:sp>
        <p:nvSpPr>
          <p:cNvPr id="7" name="Rectangle 6">
            <a:extLst>
              <a:ext uri="{FF2B5EF4-FFF2-40B4-BE49-F238E27FC236}">
                <a16:creationId xmlns:a16="http://schemas.microsoft.com/office/drawing/2014/main" id="{23E55F7B-2C60-4853-8952-4A115D279AAD}"/>
              </a:ext>
            </a:extLst>
          </p:cNvPr>
          <p:cNvSpPr>
            <a:spLocks noGrp="1"/>
          </p:cNvSpPr>
          <p:nvPr/>
        </p:nvSpPr>
        <p:spPr>
          <a:xfrm>
            <a:off x="685800" y="2781300"/>
            <a:ext cx="3333750" cy="704850"/>
          </a:xfrm>
          <a:prstGeom prst="rect">
            <a:avLst/>
          </a:prstGeom>
          <a:noFill/>
          <a:ln w="0">
            <a:noFill/>
          </a:ln>
        </p:spPr>
        <p:txBody>
          <a:bodyPr anchor="t">
            <a:normAutofit/>
          </a:bodyPr>
          <a:lstStyle/>
          <a:p>
            <a:pPr algn="l">
              <a:buNone/>
              <a:defRPr sz="1200" b="0">
                <a:solidFill>
                  <a:srgbClr val="64736C"/>
                </a:solidFill>
                <a:latin typeface="Arial"/>
                <a:ea typeface="Arial"/>
                <a:cs typeface="Arial"/>
              </a:defRPr>
            </a:pPr>
            <a:r>
              <a:rPr sz="1200" b="0">
                <a:solidFill>
                  <a:srgbClr val="64736C"/>
                </a:solidFill>
                <a:latin typeface="Arial"/>
                <a:ea typeface="Arial"/>
                <a:cs typeface="Arial"/>
              </a:rPr>
              <a:t>HTML/CSS sebagai sumber visual</a:t>
            </a:r>
          </a:p>
          <a:p>
            <a:pPr algn="l">
              <a:buNone/>
              <a:defRPr sz="1200" b="0">
                <a:solidFill>
                  <a:srgbClr val="64736C"/>
                </a:solidFill>
                <a:latin typeface="Arial"/>
                <a:ea typeface="Arial"/>
                <a:cs typeface="Arial"/>
              </a:defRPr>
            </a:pPr>
            <a:r>
              <a:rPr sz="1200" b="0">
                <a:solidFill>
                  <a:srgbClr val="64736C"/>
                </a:solidFill>
                <a:latin typeface="Arial"/>
                <a:ea typeface="Arial"/>
                <a:cs typeface="Arial"/>
              </a:rPr>
              <a:t>3 skill inti: mapping, style, implementation</a:t>
            </a:r>
          </a:p>
        </p:txBody>
      </p:sp>
      <p:sp>
        <p:nvSpPr>
          <p:cNvPr id="8" name="Straight Connector 7">
            <a:extLst>
              <a:ext uri="{FF2B5EF4-FFF2-40B4-BE49-F238E27FC236}">
                <a16:creationId xmlns:a16="http://schemas.microsoft.com/office/drawing/2014/main" id="{DB0D42BD-8461-459D-A193-7426367F584A}"/>
              </a:ext>
            </a:extLst>
          </p:cNvPr>
          <p:cNvSpPr>
            <a:spLocks noGrp="1"/>
          </p:cNvSpPr>
          <p:nvPr/>
        </p:nvSpPr>
        <p:spPr>
          <a:xfrm>
            <a:off x="4476750" y="1952625"/>
            <a:ext cx="952500" cy="0"/>
          </a:xfrm>
          <a:prstGeom prst="line">
            <a:avLst/>
          </a:prstGeom>
          <a:noFill/>
          <a:ln w="11430">
            <a:solidFill>
              <a:srgbClr val="1F6F54"/>
            </a:solidFill>
          </a:ln>
        </p:spPr>
      </p:sp>
      <p:sp>
        <p:nvSpPr>
          <p:cNvPr id="9" name="Rectangle 8">
            <a:extLst>
              <a:ext uri="{FF2B5EF4-FFF2-40B4-BE49-F238E27FC236}">
                <a16:creationId xmlns:a16="http://schemas.microsoft.com/office/drawing/2014/main" id="{C7E0EF2B-7848-49F0-9210-CC424468EF27}"/>
              </a:ext>
            </a:extLst>
          </p:cNvPr>
          <p:cNvSpPr>
            <a:spLocks noGrp="1"/>
          </p:cNvSpPr>
          <p:nvPr/>
        </p:nvSpPr>
        <p:spPr>
          <a:xfrm>
            <a:off x="4514850" y="1714500"/>
            <a:ext cx="895350" cy="171450"/>
          </a:xfrm>
          <a:prstGeom prst="rect">
            <a:avLst/>
          </a:prstGeom>
          <a:noFill/>
          <a:ln w="0">
            <a:noFill/>
          </a:ln>
        </p:spPr>
        <p:txBody>
          <a:bodyPr anchor="t">
            <a:normAutofit fontScale="71136" lnSpcReduction="10000"/>
          </a:bodyPr>
          <a:lstStyle/>
          <a:p>
            <a:pPr algn="ctr">
              <a:buNone/>
              <a:defRPr sz="825" b="1">
                <a:solidFill>
                  <a:srgbClr val="1F6F54"/>
                </a:solidFill>
                <a:latin typeface="Arial"/>
                <a:ea typeface="Arial"/>
                <a:cs typeface="Arial"/>
              </a:defRPr>
            </a:pPr>
            <a:r>
              <a:rPr sz="825" b="1">
                <a:solidFill>
                  <a:srgbClr val="1F6F54"/>
                </a:solidFill>
                <a:latin typeface="Arial"/>
                <a:ea typeface="Arial"/>
                <a:cs typeface="Arial"/>
              </a:rPr>
              <a:t>REDEFINE</a:t>
            </a:r>
          </a:p>
        </p:txBody>
      </p:sp>
      <p:sp>
        <p:nvSpPr>
          <p:cNvPr id="10" name="Rectangle 9">
            <a:extLst>
              <a:ext uri="{FF2B5EF4-FFF2-40B4-BE49-F238E27FC236}">
                <a16:creationId xmlns:a16="http://schemas.microsoft.com/office/drawing/2014/main" id="{0F38F13C-A046-4820-A067-468E2662CEA3}"/>
              </a:ext>
            </a:extLst>
          </p:cNvPr>
          <p:cNvSpPr>
            <a:spLocks noGrp="1"/>
          </p:cNvSpPr>
          <p:nvPr/>
        </p:nvSpPr>
        <p:spPr>
          <a:xfrm>
            <a:off x="6191250" y="1809750"/>
            <a:ext cx="3429000" cy="400050"/>
          </a:xfrm>
          <a:prstGeom prst="rect">
            <a:avLst/>
          </a:prstGeom>
          <a:noFill/>
          <a:ln w="0">
            <a:noFill/>
          </a:ln>
        </p:spPr>
        <p:txBody>
          <a:bodyPr anchor="t">
            <a:normAutofit fontScale="86912" lnSpcReduction="10000"/>
          </a:bodyPr>
          <a:lstStyle/>
          <a:p>
            <a:pPr algn="l">
              <a:buNone/>
              <a:defRPr sz="2550" b="1">
                <a:solidFill>
                  <a:srgbClr val="1F6F54"/>
                </a:solidFill>
                <a:latin typeface="Arial"/>
                <a:ea typeface="Arial"/>
                <a:cs typeface="Arial"/>
              </a:defRPr>
            </a:pPr>
            <a:r>
              <a:rPr sz="2550" b="1">
                <a:solidFill>
                  <a:srgbClr val="1F6F54"/>
                </a:solidFill>
                <a:latin typeface="Arial"/>
                <a:ea typeface="Arial"/>
                <a:cs typeface="Arial"/>
              </a:rPr>
              <a:t>Proyek saat ini</a:t>
            </a:r>
          </a:p>
        </p:txBody>
      </p:sp>
      <p:sp>
        <p:nvSpPr>
          <p:cNvPr id="11" name="Rectangle 10">
            <a:extLst>
              <a:ext uri="{FF2B5EF4-FFF2-40B4-BE49-F238E27FC236}">
                <a16:creationId xmlns:a16="http://schemas.microsoft.com/office/drawing/2014/main" id="{8CEBF9D2-0FEB-4483-8ECF-AC0A685F578E}"/>
              </a:ext>
            </a:extLst>
          </p:cNvPr>
          <p:cNvSpPr>
            <a:spLocks noGrp="1"/>
          </p:cNvSpPr>
          <p:nvPr/>
        </p:nvSpPr>
        <p:spPr>
          <a:xfrm>
            <a:off x="6191250" y="2333625"/>
            <a:ext cx="3619500" cy="304800"/>
          </a:xfrm>
          <a:prstGeom prst="rect">
            <a:avLst/>
          </a:prstGeom>
          <a:noFill/>
          <a:ln w="0">
            <a:noFill/>
          </a:ln>
        </p:spPr>
        <p:txBody>
          <a:bodyPr anchor="t">
            <a:normAutofit fontScale="96389" lnSpcReduction="10000"/>
          </a:bodyPr>
          <a:lstStyle/>
          <a:p>
            <a:pPr algn="l">
              <a:buNone/>
              <a:defRPr sz="1575" b="1">
                <a:solidFill>
                  <a:srgbClr val="172820"/>
                </a:solidFill>
                <a:latin typeface="Arial"/>
                <a:ea typeface="Arial"/>
                <a:cs typeface="Arial"/>
              </a:defRPr>
            </a:pPr>
            <a:r>
              <a:rPr sz="1575" b="1">
                <a:solidFill>
                  <a:srgbClr val="172820"/>
                </a:solidFill>
                <a:latin typeface="Arial"/>
                <a:ea typeface="Arial"/>
                <a:cs typeface="Arial"/>
              </a:rPr>
              <a:t>Healthcare Appointment App</a:t>
            </a:r>
          </a:p>
        </p:txBody>
      </p:sp>
      <p:sp>
        <p:nvSpPr>
          <p:cNvPr id="12" name="Rectangle 11">
            <a:extLst>
              <a:ext uri="{FF2B5EF4-FFF2-40B4-BE49-F238E27FC236}">
                <a16:creationId xmlns:a16="http://schemas.microsoft.com/office/drawing/2014/main" id="{A31D8794-46AC-4726-8A4C-338D7EFBE393}"/>
              </a:ext>
            </a:extLst>
          </p:cNvPr>
          <p:cNvSpPr>
            <a:spLocks noGrp="1"/>
          </p:cNvSpPr>
          <p:nvPr/>
        </p:nvSpPr>
        <p:spPr>
          <a:xfrm>
            <a:off x="6191250" y="2781300"/>
            <a:ext cx="4381500" cy="857250"/>
          </a:xfrm>
          <a:prstGeom prst="rect">
            <a:avLst/>
          </a:prstGeom>
          <a:noFill/>
          <a:ln w="0">
            <a:noFill/>
          </a:ln>
        </p:spPr>
        <p:txBody>
          <a:bodyPr anchor="t">
            <a:normAutofit/>
          </a:bodyPr>
          <a:lstStyle/>
          <a:p>
            <a:pPr algn="l">
              <a:buNone/>
              <a:defRPr sz="1200" b="0">
                <a:solidFill>
                  <a:srgbClr val="64736C"/>
                </a:solidFill>
                <a:latin typeface="Arial"/>
                <a:ea typeface="Arial"/>
                <a:cs typeface="Arial"/>
              </a:defRPr>
            </a:pPr>
            <a:r>
              <a:rPr sz="1200" b="0">
                <a:solidFill>
                  <a:srgbClr val="64736C"/>
                </a:solidFill>
                <a:latin typeface="Arial"/>
                <a:ea typeface="Arial"/>
                <a:cs typeface="Arial"/>
              </a:rPr>
              <a:t>Satu wireframe yang sama</a:t>
            </a:r>
          </a:p>
          <a:p>
            <a:pPr algn="l">
              <a:buNone/>
              <a:defRPr sz="1200" b="0">
                <a:solidFill>
                  <a:srgbClr val="64736C"/>
                </a:solidFill>
                <a:latin typeface="Arial"/>
                <a:ea typeface="Arial"/>
                <a:cs typeface="Arial"/>
              </a:defRPr>
            </a:pPr>
            <a:r>
              <a:rPr sz="1200" b="0">
                <a:solidFill>
                  <a:srgbClr val="64736C"/>
                </a:solidFill>
                <a:latin typeface="Arial"/>
                <a:ea typeface="Arial"/>
                <a:cs typeface="Arial"/>
              </a:rPr>
              <a:t>6 skill: mapping, screenshot mapping, style, HTML conversion, UI creation, UI review</a:t>
            </a:r>
          </a:p>
        </p:txBody>
      </p:sp>
      <p:sp>
        <p:nvSpPr>
          <p:cNvPr id="13" name="Rectangle: Rounded Corners 12">
            <a:extLst>
              <a:ext uri="{FF2B5EF4-FFF2-40B4-BE49-F238E27FC236}">
                <a16:creationId xmlns:a16="http://schemas.microsoft.com/office/drawing/2014/main" id="{8586DED4-7A38-43C0-9898-389112962820}"/>
              </a:ext>
            </a:extLst>
          </p:cNvPr>
          <p:cNvSpPr>
            <a:spLocks noGrp="1"/>
          </p:cNvSpPr>
          <p:nvPr/>
        </p:nvSpPr>
        <p:spPr>
          <a:xfrm>
            <a:off x="685800" y="4343400"/>
            <a:ext cx="10001250" cy="914400"/>
          </a:xfrm>
          <a:prstGeom prst="roundRect">
            <a:avLst>
              <a:gd name="adj" fmla="val 12500"/>
            </a:avLst>
          </a:prstGeom>
          <a:solidFill>
            <a:srgbClr val="F5F8F6"/>
          </a:solidFill>
          <a:ln w="0">
            <a:noFill/>
          </a:ln>
        </p:spPr>
      </p:sp>
      <p:sp>
        <p:nvSpPr>
          <p:cNvPr id="14" name="Rectangle 13">
            <a:extLst>
              <a:ext uri="{FF2B5EF4-FFF2-40B4-BE49-F238E27FC236}">
                <a16:creationId xmlns:a16="http://schemas.microsoft.com/office/drawing/2014/main" id="{9BD5ABA9-1330-4FAE-ABD7-FF75A0FD1642}"/>
              </a:ext>
            </a:extLst>
          </p:cNvPr>
          <p:cNvSpPr>
            <a:spLocks noGrp="1"/>
          </p:cNvSpPr>
          <p:nvPr/>
        </p:nvSpPr>
        <p:spPr>
          <a:xfrm>
            <a:off x="971550" y="4591050"/>
            <a:ext cx="9429750" cy="400050"/>
          </a:xfrm>
          <a:prstGeom prst="rect">
            <a:avLst/>
          </a:prstGeom>
          <a:noFill/>
          <a:ln w="0">
            <a:noFill/>
          </a:ln>
        </p:spPr>
        <p:txBody>
          <a:bodyPr anchor="t">
            <a:normAutofit fontScale="84785" lnSpcReduction="10000"/>
          </a:bodyPr>
          <a:lstStyle/>
          <a:p>
            <a:pPr algn="ctr">
              <a:buNone/>
              <a:defRPr sz="1725" b="1">
                <a:solidFill>
                  <a:srgbClr val="172820"/>
                </a:solidFill>
                <a:latin typeface="Arial"/>
                <a:ea typeface="Arial"/>
                <a:cs typeface="Arial"/>
              </a:defRPr>
            </a:pPr>
            <a:r>
              <a:rPr sz="1725" b="1">
                <a:solidFill>
                  <a:srgbClr val="172820"/>
                </a:solidFill>
                <a:latin typeface="Arial"/>
                <a:ea typeface="Arial"/>
                <a:cs typeface="Arial"/>
              </a:rPr>
              <a:t>Pertanyaan baru: apakah bentuk input dan alur agent memengaruhi struktur FMX, bukan hanya tampilan akhirnya?</a:t>
            </a:r>
          </a:p>
        </p:txBody>
      </p:sp>
    </p:spTree>
    <p:extLst>
      <p:ext uri="{BB962C8B-B14F-4D97-AF65-F5344CB8AC3E}">
        <p14:creationId xmlns:p14="http://schemas.microsoft.com/office/powerpoint/2010/main" val="507338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2EF67828-B622-4ECF-9BFC-EEF302A05B93}"/>
              </a:ext>
            </a:extLst>
          </p:cNvPr>
          <p:cNvSpPr>
            <a:spLocks noGrp="1"/>
          </p:cNvSpPr>
          <p:nvPr/>
        </p:nvSpPr>
        <p:spPr>
          <a:xfrm>
            <a:off x="685800" y="6477000"/>
            <a:ext cx="5715000" cy="190500"/>
          </a:xfrm>
          <a:prstGeom prst="rect">
            <a:avLst/>
          </a:prstGeom>
          <a:noFill/>
          <a:ln w="0">
            <a:noFill/>
          </a:ln>
        </p:spPr>
        <p:txBody>
          <a:bodyPr anchor="t">
            <a:normAutofit fontScale="78788" lnSpcReduction="10000"/>
          </a:bodyPr>
          <a:lstStyle/>
          <a:p>
            <a:pPr algn="l">
              <a:buNone/>
              <a:defRPr sz="825" b="0">
                <a:solidFill>
                  <a:srgbClr val="64736C"/>
                </a:solidFill>
                <a:latin typeface="Arial"/>
                <a:ea typeface="Arial"/>
                <a:cs typeface="Arial"/>
              </a:defRPr>
            </a:pPr>
            <a:r>
              <a:rPr sz="825" b="0">
                <a:solidFill>
                  <a:srgbClr val="64736C"/>
                </a:solidFill>
                <a:latin typeface="Arial"/>
                <a:ea typeface="Arial"/>
                <a:cs typeface="Arial"/>
              </a:rPr>
              <a:t>HTML-FMX · Healthcare wireframe case study</a:t>
            </a:r>
          </a:p>
        </p:txBody>
      </p:sp>
      <p:sp>
        <p:nvSpPr>
          <p:cNvPr id="2" name="Rectangle 1">
            <a:extLst>
              <a:ext uri="{FF2B5EF4-FFF2-40B4-BE49-F238E27FC236}">
                <a16:creationId xmlns:a16="http://schemas.microsoft.com/office/drawing/2014/main" id="{53B14916-F864-44B9-9F3A-7B935E7965C8}"/>
              </a:ext>
            </a:extLst>
          </p:cNvPr>
          <p:cNvSpPr>
            <a:spLocks noGrp="1"/>
          </p:cNvSpPr>
          <p:nvPr/>
        </p:nvSpPr>
        <p:spPr>
          <a:xfrm>
            <a:off x="11049000" y="6438900"/>
            <a:ext cx="457200" cy="190500"/>
          </a:xfrm>
          <a:prstGeom prst="rect">
            <a:avLst/>
          </a:prstGeom>
          <a:noFill/>
          <a:ln w="0">
            <a:noFill/>
          </a:ln>
        </p:spPr>
        <p:txBody>
          <a:bodyPr anchor="t">
            <a:normAutofit fontScale="78788" lnSpcReduction="10000"/>
          </a:bodyPr>
          <a:lstStyle/>
          <a:p>
            <a:pPr algn="r">
              <a:buNone/>
              <a:defRPr sz="825" b="0">
                <a:solidFill>
                  <a:srgbClr val="64736C"/>
                </a:solidFill>
                <a:latin typeface="Arial"/>
                <a:ea typeface="Arial"/>
                <a:cs typeface="Arial"/>
              </a:defRPr>
            </a:pPr>
            <a:r>
              <a:rPr sz="825" b="0">
                <a:solidFill>
                  <a:srgbClr val="64736C"/>
                </a:solidFill>
                <a:latin typeface="Arial"/>
                <a:ea typeface="Arial"/>
                <a:cs typeface="Arial"/>
              </a:rPr>
              <a:t>03</a:t>
            </a:r>
          </a:p>
        </p:txBody>
      </p:sp>
      <p:sp>
        <p:nvSpPr>
          <p:cNvPr id="3" name="Rectangle 2">
            <a:extLst>
              <a:ext uri="{FF2B5EF4-FFF2-40B4-BE49-F238E27FC236}">
                <a16:creationId xmlns:a16="http://schemas.microsoft.com/office/drawing/2014/main" id="{45BC3F9F-69EF-43A0-AF7D-931D5CEF0A63}"/>
              </a:ext>
            </a:extLst>
          </p:cNvPr>
          <p:cNvSpPr>
            <a:spLocks noGrp="1"/>
          </p:cNvSpPr>
          <p:nvPr/>
        </p:nvSpPr>
        <p:spPr>
          <a:xfrm>
            <a:off x="685800" y="514350"/>
            <a:ext cx="10668000" cy="495300"/>
          </a:xfrm>
          <a:prstGeom prst="rect">
            <a:avLst/>
          </a:prstGeom>
          <a:noFill/>
          <a:ln w="0">
            <a:noFill/>
          </a:ln>
        </p:spPr>
        <p:txBody>
          <a:bodyPr anchor="t">
            <a:normAutofit/>
          </a:bodyPr>
          <a:lstStyle/>
          <a:p>
            <a:pPr algn="l">
              <a:buNone/>
              <a:defRPr sz="2400" b="1">
                <a:solidFill>
                  <a:srgbClr val="172820"/>
                </a:solidFill>
                <a:latin typeface="Arial"/>
                <a:ea typeface="Arial"/>
                <a:cs typeface="Arial"/>
              </a:defRPr>
            </a:pPr>
            <a:r>
              <a:rPr sz="2400" b="1">
                <a:solidFill>
                  <a:srgbClr val="172820"/>
                </a:solidFill>
                <a:latin typeface="Arial"/>
                <a:ea typeface="Arial"/>
                <a:cs typeface="Arial"/>
              </a:rPr>
              <a:t>Masalah yang ingin diselesaikan</a:t>
            </a:r>
          </a:p>
        </p:txBody>
      </p:sp>
      <p:sp>
        <p:nvSpPr>
          <p:cNvPr id="4" name="Rectangle 3">
            <a:extLst>
              <a:ext uri="{FF2B5EF4-FFF2-40B4-BE49-F238E27FC236}">
                <a16:creationId xmlns:a16="http://schemas.microsoft.com/office/drawing/2014/main" id="{F63A7082-E7AF-45F1-8920-B925AA02DB0F}"/>
              </a:ext>
            </a:extLst>
          </p:cNvPr>
          <p:cNvSpPr>
            <a:spLocks noGrp="1"/>
          </p:cNvSpPr>
          <p:nvPr/>
        </p:nvSpPr>
        <p:spPr>
          <a:xfrm>
            <a:off x="685800" y="1066800"/>
            <a:ext cx="10287000" cy="323850"/>
          </a:xfrm>
          <a:prstGeom prst="rect">
            <a:avLst/>
          </a:prstGeom>
          <a:noFill/>
          <a:ln w="0">
            <a:noFill/>
          </a:ln>
        </p:spPr>
        <p:txBody>
          <a:bodyPr anchor="t">
            <a:normAutofit/>
          </a:bodyPr>
          <a:lstStyle/>
          <a:p>
            <a:pPr algn="l">
              <a:buNone/>
              <a:defRPr sz="1200" b="0">
                <a:solidFill>
                  <a:srgbClr val="64736C"/>
                </a:solidFill>
                <a:latin typeface="Arial"/>
                <a:ea typeface="Arial"/>
                <a:cs typeface="Arial"/>
              </a:defRPr>
            </a:pPr>
            <a:r>
              <a:rPr sz="1200" b="0">
                <a:solidFill>
                  <a:srgbClr val="64736C"/>
                </a:solidFill>
                <a:latin typeface="Arial"/>
                <a:ea typeface="Arial"/>
                <a:cs typeface="Arial"/>
              </a:rPr>
              <a:t>Kecepatan membangun UI tidak cukup jika struktur hasilnya menyulitkan perubahan berikutnya.</a:t>
            </a:r>
          </a:p>
        </p:txBody>
      </p:sp>
      <p:sp>
        <p:nvSpPr>
          <p:cNvPr id="5" name="Rectangle: Rounded Corners 4">
            <a:extLst>
              <a:ext uri="{FF2B5EF4-FFF2-40B4-BE49-F238E27FC236}">
                <a16:creationId xmlns:a16="http://schemas.microsoft.com/office/drawing/2014/main" id="{BD7E6A98-7166-434C-B8EA-950DB04168B5}"/>
              </a:ext>
            </a:extLst>
          </p:cNvPr>
          <p:cNvSpPr>
            <a:spLocks noGrp="1"/>
          </p:cNvSpPr>
          <p:nvPr/>
        </p:nvSpPr>
        <p:spPr>
          <a:xfrm>
            <a:off x="685800" y="1943100"/>
            <a:ext cx="2857500" cy="2571750"/>
          </a:xfrm>
          <a:prstGeom prst="roundRect">
            <a:avLst>
              <a:gd name="adj" fmla="val 4444"/>
            </a:avLst>
          </a:prstGeom>
          <a:solidFill>
            <a:srgbClr val="F5F8F6"/>
          </a:solidFill>
          <a:ln w="0">
            <a:noFill/>
          </a:ln>
        </p:spPr>
      </p:sp>
      <p:sp>
        <p:nvSpPr>
          <p:cNvPr id="6" name="Rectangle 5">
            <a:extLst>
              <a:ext uri="{FF2B5EF4-FFF2-40B4-BE49-F238E27FC236}">
                <a16:creationId xmlns:a16="http://schemas.microsoft.com/office/drawing/2014/main" id="{BF41CC02-9C0E-476A-B9D0-90EAA46FC7CC}"/>
              </a:ext>
            </a:extLst>
          </p:cNvPr>
          <p:cNvSpPr>
            <a:spLocks noGrp="1"/>
          </p:cNvSpPr>
          <p:nvPr/>
        </p:nvSpPr>
        <p:spPr>
          <a:xfrm>
            <a:off x="914400" y="2171700"/>
            <a:ext cx="400050" cy="323850"/>
          </a:xfrm>
          <a:prstGeom prst="rect">
            <a:avLst/>
          </a:prstGeom>
          <a:noFill/>
          <a:ln w="0">
            <a:noFill/>
          </a:ln>
        </p:spPr>
        <p:txBody>
          <a:bodyPr anchor="t">
            <a:normAutofit fontScale="88833" lnSpcReduction="20000"/>
          </a:bodyPr>
          <a:lstStyle/>
          <a:p>
            <a:pPr algn="l">
              <a:buNone/>
              <a:defRPr sz="1875" b="1">
                <a:solidFill>
                  <a:srgbClr val="1F6F54"/>
                </a:solidFill>
                <a:latin typeface="Arial"/>
                <a:ea typeface="Arial"/>
                <a:cs typeface="Arial"/>
              </a:defRPr>
            </a:pPr>
            <a:r>
              <a:rPr sz="1875" b="1">
                <a:solidFill>
                  <a:srgbClr val="1F6F54"/>
                </a:solidFill>
                <a:latin typeface="Arial"/>
                <a:ea typeface="Arial"/>
                <a:cs typeface="Arial"/>
              </a:rPr>
              <a:t>1</a:t>
            </a:r>
          </a:p>
        </p:txBody>
      </p:sp>
      <p:sp>
        <p:nvSpPr>
          <p:cNvPr id="7" name="Rectangle 6">
            <a:extLst>
              <a:ext uri="{FF2B5EF4-FFF2-40B4-BE49-F238E27FC236}">
                <a16:creationId xmlns:a16="http://schemas.microsoft.com/office/drawing/2014/main" id="{EF6FFF9C-0D22-47AF-980F-90F2EE700046}"/>
              </a:ext>
            </a:extLst>
          </p:cNvPr>
          <p:cNvSpPr>
            <a:spLocks noGrp="1"/>
          </p:cNvSpPr>
          <p:nvPr/>
        </p:nvSpPr>
        <p:spPr>
          <a:xfrm>
            <a:off x="914400" y="2647950"/>
            <a:ext cx="2333625" cy="438150"/>
          </a:xfrm>
          <a:prstGeom prst="rect">
            <a:avLst/>
          </a:prstGeom>
          <a:noFill/>
          <a:ln w="0">
            <a:noFill/>
          </a:ln>
        </p:spPr>
        <p:txBody>
          <a:bodyPr anchor="t">
            <a:normAutofit/>
          </a:bodyPr>
          <a:lstStyle/>
          <a:p>
            <a:pPr algn="l">
              <a:buNone/>
              <a:defRPr sz="1575" b="1">
                <a:solidFill>
                  <a:srgbClr val="172820"/>
                </a:solidFill>
                <a:latin typeface="Arial"/>
                <a:ea typeface="Arial"/>
                <a:cs typeface="Arial"/>
              </a:defRPr>
            </a:pPr>
            <a:r>
              <a:rPr sz="1575" b="1">
                <a:solidFill>
                  <a:srgbClr val="172820"/>
                </a:solidFill>
                <a:latin typeface="Arial"/>
                <a:ea typeface="Arial"/>
                <a:cs typeface="Arial"/>
              </a:rPr>
              <a:t>Pola desktop terbawa</a:t>
            </a:r>
          </a:p>
        </p:txBody>
      </p:sp>
      <p:sp>
        <p:nvSpPr>
          <p:cNvPr id="8" name="Rectangle 7">
            <a:extLst>
              <a:ext uri="{FF2B5EF4-FFF2-40B4-BE49-F238E27FC236}">
                <a16:creationId xmlns:a16="http://schemas.microsoft.com/office/drawing/2014/main" id="{741D3596-9B36-42A1-86E0-F6C1694FC64C}"/>
              </a:ext>
            </a:extLst>
          </p:cNvPr>
          <p:cNvSpPr>
            <a:spLocks noGrp="1"/>
          </p:cNvSpPr>
          <p:nvPr/>
        </p:nvSpPr>
        <p:spPr>
          <a:xfrm>
            <a:off x="914400" y="3238500"/>
            <a:ext cx="2324100" cy="1000125"/>
          </a:xfrm>
          <a:prstGeom prst="rect">
            <a:avLst/>
          </a:prstGeom>
          <a:noFill/>
          <a:ln w="0">
            <a:noFill/>
          </a:ln>
        </p:spPr>
        <p:txBody>
          <a:bodyPr anchor="t">
            <a:normAutofit fontScale="99375" lnSpcReduction="10000"/>
          </a:bodyPr>
          <a:lstStyle/>
          <a:p>
            <a:pPr algn="l">
              <a:buNone/>
              <a:defRPr sz="1200" b="0">
                <a:solidFill>
                  <a:srgbClr val="64736C"/>
                </a:solidFill>
                <a:latin typeface="Arial"/>
                <a:ea typeface="Arial"/>
                <a:cs typeface="Arial"/>
              </a:defRPr>
            </a:pPr>
            <a:r>
              <a:rPr sz="1200" b="0">
                <a:solidFill>
                  <a:srgbClr val="64736C"/>
                </a:solidFill>
                <a:latin typeface="Arial"/>
                <a:ea typeface="Arial"/>
                <a:cs typeface="Arial"/>
              </a:rPr>
              <a:t>Layar FMX mobile tetap diperlakukan seperti form VCL: ukuran kaku, prioritas layar kecil kabur, dan area scroll tidak jelas.</a:t>
            </a:r>
          </a:p>
        </p:txBody>
      </p:sp>
      <p:sp>
        <p:nvSpPr>
          <p:cNvPr id="9" name="Rectangle: Rounded Corners 8">
            <a:extLst>
              <a:ext uri="{FF2B5EF4-FFF2-40B4-BE49-F238E27FC236}">
                <a16:creationId xmlns:a16="http://schemas.microsoft.com/office/drawing/2014/main" id="{EF5E5850-B124-4DFE-910B-DBC0AA14EE75}"/>
              </a:ext>
            </a:extLst>
          </p:cNvPr>
          <p:cNvSpPr>
            <a:spLocks noGrp="1"/>
          </p:cNvSpPr>
          <p:nvPr/>
        </p:nvSpPr>
        <p:spPr>
          <a:xfrm>
            <a:off x="4095750" y="1943100"/>
            <a:ext cx="2857500" cy="2571750"/>
          </a:xfrm>
          <a:prstGeom prst="roundRect">
            <a:avLst>
              <a:gd name="adj" fmla="val 4444"/>
            </a:avLst>
          </a:prstGeom>
          <a:solidFill>
            <a:srgbClr val="F5F8F6"/>
          </a:solidFill>
          <a:ln w="0">
            <a:noFill/>
          </a:ln>
        </p:spPr>
      </p:sp>
      <p:sp>
        <p:nvSpPr>
          <p:cNvPr id="10" name="Rectangle 9">
            <a:extLst>
              <a:ext uri="{FF2B5EF4-FFF2-40B4-BE49-F238E27FC236}">
                <a16:creationId xmlns:a16="http://schemas.microsoft.com/office/drawing/2014/main" id="{C4665273-EEE3-48C4-B4A1-2B0C470F0400}"/>
              </a:ext>
            </a:extLst>
          </p:cNvPr>
          <p:cNvSpPr>
            <a:spLocks noGrp="1"/>
          </p:cNvSpPr>
          <p:nvPr/>
        </p:nvSpPr>
        <p:spPr>
          <a:xfrm>
            <a:off x="4324350" y="2171700"/>
            <a:ext cx="400050" cy="323850"/>
          </a:xfrm>
          <a:prstGeom prst="rect">
            <a:avLst/>
          </a:prstGeom>
          <a:noFill/>
          <a:ln w="0">
            <a:noFill/>
          </a:ln>
        </p:spPr>
        <p:txBody>
          <a:bodyPr anchor="t">
            <a:normAutofit fontScale="88833" lnSpcReduction="20000"/>
          </a:bodyPr>
          <a:lstStyle/>
          <a:p>
            <a:pPr algn="l">
              <a:buNone/>
              <a:defRPr sz="1875" b="1">
                <a:solidFill>
                  <a:srgbClr val="1F6F54"/>
                </a:solidFill>
                <a:latin typeface="Arial"/>
                <a:ea typeface="Arial"/>
                <a:cs typeface="Arial"/>
              </a:defRPr>
            </a:pPr>
            <a:r>
              <a:rPr sz="1875" b="1">
                <a:solidFill>
                  <a:srgbClr val="1F6F54"/>
                </a:solidFill>
                <a:latin typeface="Arial"/>
                <a:ea typeface="Arial"/>
                <a:cs typeface="Arial"/>
              </a:rPr>
              <a:t>2</a:t>
            </a:r>
          </a:p>
        </p:txBody>
      </p:sp>
      <p:sp>
        <p:nvSpPr>
          <p:cNvPr id="11" name="Rectangle 10">
            <a:extLst>
              <a:ext uri="{FF2B5EF4-FFF2-40B4-BE49-F238E27FC236}">
                <a16:creationId xmlns:a16="http://schemas.microsoft.com/office/drawing/2014/main" id="{04EB8262-1E91-42D9-8083-C249118F74D0}"/>
              </a:ext>
            </a:extLst>
          </p:cNvPr>
          <p:cNvSpPr>
            <a:spLocks noGrp="1"/>
          </p:cNvSpPr>
          <p:nvPr/>
        </p:nvSpPr>
        <p:spPr>
          <a:xfrm>
            <a:off x="4324350" y="2647950"/>
            <a:ext cx="2333625" cy="438150"/>
          </a:xfrm>
          <a:prstGeom prst="rect">
            <a:avLst/>
          </a:prstGeom>
          <a:noFill/>
          <a:ln w="0">
            <a:noFill/>
          </a:ln>
        </p:spPr>
        <p:txBody>
          <a:bodyPr anchor="t">
            <a:normAutofit fontScale="90293"/>
          </a:bodyPr>
          <a:lstStyle/>
          <a:p>
            <a:pPr algn="l">
              <a:buNone/>
              <a:defRPr sz="1575" b="1">
                <a:solidFill>
                  <a:srgbClr val="172820"/>
                </a:solidFill>
                <a:latin typeface="Arial"/>
                <a:ea typeface="Arial"/>
                <a:cs typeface="Arial"/>
              </a:defRPr>
            </a:pPr>
            <a:r>
              <a:rPr sz="1575" b="1">
                <a:solidFill>
                  <a:srgbClr val="172820"/>
                </a:solidFill>
                <a:latin typeface="Arial"/>
                <a:ea typeface="Arial"/>
                <a:cs typeface="Arial"/>
              </a:rPr>
              <a:t>Wrapper menjadi nesting</a:t>
            </a:r>
          </a:p>
        </p:txBody>
      </p:sp>
      <p:sp>
        <p:nvSpPr>
          <p:cNvPr id="12" name="Rectangle 11">
            <a:extLst>
              <a:ext uri="{FF2B5EF4-FFF2-40B4-BE49-F238E27FC236}">
                <a16:creationId xmlns:a16="http://schemas.microsoft.com/office/drawing/2014/main" id="{8CBEDDEF-5542-4EDD-9931-A9BA4211F844}"/>
              </a:ext>
            </a:extLst>
          </p:cNvPr>
          <p:cNvSpPr>
            <a:spLocks noGrp="1"/>
          </p:cNvSpPr>
          <p:nvPr/>
        </p:nvSpPr>
        <p:spPr>
          <a:xfrm>
            <a:off x="4324350" y="3238500"/>
            <a:ext cx="2324100" cy="1000125"/>
          </a:xfrm>
          <a:prstGeom prst="rect">
            <a:avLst/>
          </a:prstGeom>
          <a:noFill/>
          <a:ln w="0">
            <a:noFill/>
          </a:ln>
        </p:spPr>
        <p:txBody>
          <a:bodyPr anchor="t">
            <a:normAutofit fontScale="99375" lnSpcReduction="10000"/>
          </a:bodyPr>
          <a:lstStyle/>
          <a:p>
            <a:pPr algn="l">
              <a:buNone/>
              <a:defRPr sz="1200" b="0">
                <a:solidFill>
                  <a:srgbClr val="64736C"/>
                </a:solidFill>
                <a:latin typeface="Arial"/>
                <a:ea typeface="Arial"/>
                <a:cs typeface="Arial"/>
              </a:defRPr>
            </a:pPr>
            <a:r>
              <a:rPr sz="1200" b="0">
                <a:solidFill>
                  <a:srgbClr val="64736C"/>
                </a:solidFill>
                <a:latin typeface="Arial"/>
                <a:ea typeface="Arial"/>
                <a:cs typeface="Arial"/>
              </a:rPr>
              <a:t>Container dibuat hanya untuk meniru div HTML. Designer menjadi sulit dibaca dan perubahan kecil menyentuh banyak parent.</a:t>
            </a:r>
          </a:p>
        </p:txBody>
      </p:sp>
      <p:sp>
        <p:nvSpPr>
          <p:cNvPr id="13" name="Rectangle: Rounded Corners 12">
            <a:extLst>
              <a:ext uri="{FF2B5EF4-FFF2-40B4-BE49-F238E27FC236}">
                <a16:creationId xmlns:a16="http://schemas.microsoft.com/office/drawing/2014/main" id="{D4574996-A137-4DE4-811E-FCC6F55306AB}"/>
              </a:ext>
            </a:extLst>
          </p:cNvPr>
          <p:cNvSpPr>
            <a:spLocks noGrp="1"/>
          </p:cNvSpPr>
          <p:nvPr/>
        </p:nvSpPr>
        <p:spPr>
          <a:xfrm>
            <a:off x="7505700" y="1943100"/>
            <a:ext cx="2857500" cy="2571750"/>
          </a:xfrm>
          <a:prstGeom prst="roundRect">
            <a:avLst>
              <a:gd name="adj" fmla="val 4444"/>
            </a:avLst>
          </a:prstGeom>
          <a:solidFill>
            <a:srgbClr val="F5F8F6"/>
          </a:solidFill>
          <a:ln w="0">
            <a:noFill/>
          </a:ln>
        </p:spPr>
      </p:sp>
      <p:sp>
        <p:nvSpPr>
          <p:cNvPr id="14" name="Rectangle 13">
            <a:extLst>
              <a:ext uri="{FF2B5EF4-FFF2-40B4-BE49-F238E27FC236}">
                <a16:creationId xmlns:a16="http://schemas.microsoft.com/office/drawing/2014/main" id="{F0D4D2F1-261F-4E91-940E-4AAE84C839DB}"/>
              </a:ext>
            </a:extLst>
          </p:cNvPr>
          <p:cNvSpPr>
            <a:spLocks noGrp="1"/>
          </p:cNvSpPr>
          <p:nvPr/>
        </p:nvSpPr>
        <p:spPr>
          <a:xfrm>
            <a:off x="7734300" y="2171700"/>
            <a:ext cx="400050" cy="323850"/>
          </a:xfrm>
          <a:prstGeom prst="rect">
            <a:avLst/>
          </a:prstGeom>
          <a:noFill/>
          <a:ln w="0">
            <a:noFill/>
          </a:ln>
        </p:spPr>
        <p:txBody>
          <a:bodyPr anchor="t">
            <a:normAutofit fontScale="88833" lnSpcReduction="20000"/>
          </a:bodyPr>
          <a:lstStyle/>
          <a:p>
            <a:pPr algn="l">
              <a:buNone/>
              <a:defRPr sz="1875" b="1">
                <a:solidFill>
                  <a:srgbClr val="1F6F54"/>
                </a:solidFill>
                <a:latin typeface="Arial"/>
                <a:ea typeface="Arial"/>
                <a:cs typeface="Arial"/>
              </a:defRPr>
            </a:pPr>
            <a:r>
              <a:rPr sz="1875" b="1">
                <a:solidFill>
                  <a:srgbClr val="1F6F54"/>
                </a:solidFill>
                <a:latin typeface="Arial"/>
                <a:ea typeface="Arial"/>
                <a:cs typeface="Arial"/>
              </a:rPr>
              <a:t>3</a:t>
            </a:r>
          </a:p>
        </p:txBody>
      </p:sp>
      <p:sp>
        <p:nvSpPr>
          <p:cNvPr id="15" name="Rectangle 14">
            <a:extLst>
              <a:ext uri="{FF2B5EF4-FFF2-40B4-BE49-F238E27FC236}">
                <a16:creationId xmlns:a16="http://schemas.microsoft.com/office/drawing/2014/main" id="{56107E05-D26E-4852-A69E-951D14EF2D7D}"/>
              </a:ext>
            </a:extLst>
          </p:cNvPr>
          <p:cNvSpPr>
            <a:spLocks noGrp="1"/>
          </p:cNvSpPr>
          <p:nvPr/>
        </p:nvSpPr>
        <p:spPr>
          <a:xfrm>
            <a:off x="7734300" y="2647950"/>
            <a:ext cx="2333625" cy="438150"/>
          </a:xfrm>
          <a:prstGeom prst="rect">
            <a:avLst/>
          </a:prstGeom>
          <a:noFill/>
          <a:ln w="0">
            <a:noFill/>
          </a:ln>
        </p:spPr>
        <p:txBody>
          <a:bodyPr anchor="t">
            <a:normAutofit fontScale="79722" lnSpcReduction="10000"/>
          </a:bodyPr>
          <a:lstStyle/>
          <a:p>
            <a:pPr algn="l">
              <a:buNone/>
              <a:defRPr sz="1575" b="1">
                <a:solidFill>
                  <a:srgbClr val="172820"/>
                </a:solidFill>
                <a:latin typeface="Arial"/>
                <a:ea typeface="Arial"/>
                <a:cs typeface="Arial"/>
              </a:defRPr>
            </a:pPr>
            <a:r>
              <a:rPr sz="1575" b="1">
                <a:solidFill>
                  <a:srgbClr val="172820"/>
                </a:solidFill>
                <a:latin typeface="Arial"/>
                <a:ea typeface="Arial"/>
                <a:cs typeface="Arial"/>
              </a:rPr>
              <a:t>AI mempercepat pola yang salah</a:t>
            </a:r>
          </a:p>
        </p:txBody>
      </p:sp>
      <p:sp>
        <p:nvSpPr>
          <p:cNvPr id="16" name="Rectangle 15">
            <a:extLst>
              <a:ext uri="{FF2B5EF4-FFF2-40B4-BE49-F238E27FC236}">
                <a16:creationId xmlns:a16="http://schemas.microsoft.com/office/drawing/2014/main" id="{31CB3168-2D1F-40F7-B4B0-A81EBE524FE3}"/>
              </a:ext>
            </a:extLst>
          </p:cNvPr>
          <p:cNvSpPr>
            <a:spLocks noGrp="1"/>
          </p:cNvSpPr>
          <p:nvPr/>
        </p:nvSpPr>
        <p:spPr>
          <a:xfrm>
            <a:off x="7734300" y="3238500"/>
            <a:ext cx="2324100" cy="1000125"/>
          </a:xfrm>
          <a:prstGeom prst="rect">
            <a:avLst/>
          </a:prstGeom>
          <a:noFill/>
          <a:ln w="0">
            <a:noFill/>
          </a:ln>
        </p:spPr>
        <p:txBody>
          <a:bodyPr anchor="t">
            <a:normAutofit fontScale="99375" lnSpcReduction="10000"/>
          </a:bodyPr>
          <a:lstStyle/>
          <a:p>
            <a:pPr algn="l">
              <a:buNone/>
              <a:defRPr sz="1200" b="0">
                <a:solidFill>
                  <a:srgbClr val="64736C"/>
                </a:solidFill>
                <a:latin typeface="Arial"/>
                <a:ea typeface="Arial"/>
                <a:cs typeface="Arial"/>
              </a:defRPr>
            </a:pPr>
            <a:r>
              <a:rPr sz="1200" b="0">
                <a:solidFill>
                  <a:srgbClr val="64736C"/>
                </a:solidFill>
                <a:latin typeface="Arial"/>
                <a:ea typeface="Arial"/>
                <a:cs typeface="Arial"/>
              </a:rPr>
              <a:t>Tanpa aturan mapping, agent dapat menghasilkan UI yang terlihat benar tetapi tidak memiliki ownership section, card, atau list yang sehat.</a:t>
            </a:r>
          </a:p>
        </p:txBody>
      </p:sp>
      <p:sp>
        <p:nvSpPr>
          <p:cNvPr id="17" name="Rectangle 16">
            <a:extLst>
              <a:ext uri="{FF2B5EF4-FFF2-40B4-BE49-F238E27FC236}">
                <a16:creationId xmlns:a16="http://schemas.microsoft.com/office/drawing/2014/main" id="{4DA8B478-A2B3-400C-9523-7EADF01CEA73}"/>
              </a:ext>
            </a:extLst>
          </p:cNvPr>
          <p:cNvSpPr>
            <a:spLocks noGrp="1"/>
          </p:cNvSpPr>
          <p:nvPr/>
        </p:nvSpPr>
        <p:spPr>
          <a:xfrm>
            <a:off x="1524000" y="5334000"/>
            <a:ext cx="9144000" cy="419100"/>
          </a:xfrm>
          <a:prstGeom prst="rect">
            <a:avLst/>
          </a:prstGeom>
          <a:noFill/>
          <a:ln w="0">
            <a:noFill/>
          </a:ln>
        </p:spPr>
        <p:txBody>
          <a:bodyPr anchor="t">
            <a:normAutofit fontScale="69350" lnSpcReduction="20000"/>
          </a:bodyPr>
          <a:lstStyle/>
          <a:p>
            <a:pPr algn="ctr">
              <a:buNone/>
              <a:defRPr sz="1725" b="1">
                <a:solidFill>
                  <a:srgbClr val="1F6F54"/>
                </a:solidFill>
                <a:latin typeface="Arial"/>
                <a:ea typeface="Arial"/>
                <a:cs typeface="Arial"/>
              </a:defRPr>
            </a:pPr>
            <a:r>
              <a:rPr sz="1725" b="1">
                <a:solidFill>
                  <a:srgbClr val="1F6F54"/>
                </a:solidFill>
                <a:latin typeface="Arial"/>
                <a:ea typeface="Arial"/>
                <a:cs typeface="Arial"/>
              </a:rPr>
              <a:t>Target skill: mengubah intent visual menjadi section dan card yang bermakna, kemudian mengikatnya ke layout native FMX.</a:t>
            </a:r>
          </a:p>
        </p:txBody>
      </p:sp>
    </p:spTree>
    <p:extLst>
      <p:ext uri="{BB962C8B-B14F-4D97-AF65-F5344CB8AC3E}">
        <p14:creationId xmlns:p14="http://schemas.microsoft.com/office/powerpoint/2010/main" val="1414178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F9288271-08D6-4D3D-8D05-63F7E7BF4EDD}"/>
              </a:ext>
            </a:extLst>
          </p:cNvPr>
          <p:cNvSpPr>
            <a:spLocks noGrp="1"/>
          </p:cNvSpPr>
          <p:nvPr/>
        </p:nvSpPr>
        <p:spPr>
          <a:xfrm>
            <a:off x="685800" y="6477000"/>
            <a:ext cx="5715000" cy="190500"/>
          </a:xfrm>
          <a:prstGeom prst="rect">
            <a:avLst/>
          </a:prstGeom>
          <a:noFill/>
          <a:ln w="0">
            <a:noFill/>
          </a:ln>
        </p:spPr>
        <p:txBody>
          <a:bodyPr anchor="t">
            <a:normAutofit fontScale="78788" lnSpcReduction="10000"/>
          </a:bodyPr>
          <a:lstStyle/>
          <a:p>
            <a:pPr algn="l">
              <a:buNone/>
              <a:defRPr sz="825" b="0">
                <a:solidFill>
                  <a:srgbClr val="64736C"/>
                </a:solidFill>
                <a:latin typeface="Arial"/>
                <a:ea typeface="Arial"/>
                <a:cs typeface="Arial"/>
              </a:defRPr>
            </a:pPr>
            <a:r>
              <a:rPr sz="825" b="0">
                <a:solidFill>
                  <a:srgbClr val="64736C"/>
                </a:solidFill>
                <a:latin typeface="Arial"/>
                <a:ea typeface="Arial"/>
                <a:cs typeface="Arial"/>
              </a:rPr>
              <a:t>HTML-FMX · Healthcare wireframe case study</a:t>
            </a:r>
          </a:p>
        </p:txBody>
      </p:sp>
      <p:sp>
        <p:nvSpPr>
          <p:cNvPr id="2" name="Rectangle 1">
            <a:extLst>
              <a:ext uri="{FF2B5EF4-FFF2-40B4-BE49-F238E27FC236}">
                <a16:creationId xmlns:a16="http://schemas.microsoft.com/office/drawing/2014/main" id="{D23A258C-97FF-4AA3-A270-F1ECF74B6094}"/>
              </a:ext>
            </a:extLst>
          </p:cNvPr>
          <p:cNvSpPr>
            <a:spLocks noGrp="1"/>
          </p:cNvSpPr>
          <p:nvPr/>
        </p:nvSpPr>
        <p:spPr>
          <a:xfrm>
            <a:off x="11049000" y="6438900"/>
            <a:ext cx="457200" cy="190500"/>
          </a:xfrm>
          <a:prstGeom prst="rect">
            <a:avLst/>
          </a:prstGeom>
          <a:noFill/>
          <a:ln w="0">
            <a:noFill/>
          </a:ln>
        </p:spPr>
        <p:txBody>
          <a:bodyPr anchor="t">
            <a:normAutofit fontScale="78788" lnSpcReduction="10000"/>
          </a:bodyPr>
          <a:lstStyle/>
          <a:p>
            <a:pPr algn="r">
              <a:buNone/>
              <a:defRPr sz="825" b="0">
                <a:solidFill>
                  <a:srgbClr val="64736C"/>
                </a:solidFill>
                <a:latin typeface="Arial"/>
                <a:ea typeface="Arial"/>
                <a:cs typeface="Arial"/>
              </a:defRPr>
            </a:pPr>
            <a:r>
              <a:rPr sz="825" b="0">
                <a:solidFill>
                  <a:srgbClr val="64736C"/>
                </a:solidFill>
                <a:latin typeface="Arial"/>
                <a:ea typeface="Arial"/>
                <a:cs typeface="Arial"/>
              </a:rPr>
              <a:t>04</a:t>
            </a:r>
          </a:p>
        </p:txBody>
      </p:sp>
      <p:sp>
        <p:nvSpPr>
          <p:cNvPr id="3" name="Rectangle 2">
            <a:extLst>
              <a:ext uri="{FF2B5EF4-FFF2-40B4-BE49-F238E27FC236}">
                <a16:creationId xmlns:a16="http://schemas.microsoft.com/office/drawing/2014/main" id="{D063DB03-E7A4-4BEE-90D0-6E22A6BEBCAA}"/>
              </a:ext>
            </a:extLst>
          </p:cNvPr>
          <p:cNvSpPr>
            <a:spLocks noGrp="1"/>
          </p:cNvSpPr>
          <p:nvPr/>
        </p:nvSpPr>
        <p:spPr>
          <a:xfrm>
            <a:off x="685800" y="514350"/>
            <a:ext cx="10668000" cy="495300"/>
          </a:xfrm>
          <a:prstGeom prst="rect">
            <a:avLst/>
          </a:prstGeom>
          <a:noFill/>
          <a:ln w="0">
            <a:noFill/>
          </a:ln>
        </p:spPr>
        <p:txBody>
          <a:bodyPr anchor="t">
            <a:normAutofit/>
          </a:bodyPr>
          <a:lstStyle/>
          <a:p>
            <a:pPr algn="l">
              <a:buNone/>
              <a:defRPr sz="2400" b="1">
                <a:solidFill>
                  <a:srgbClr val="172820"/>
                </a:solidFill>
                <a:latin typeface="Arial"/>
                <a:ea typeface="Arial"/>
                <a:cs typeface="Arial"/>
              </a:defRPr>
            </a:pPr>
            <a:r>
              <a:rPr sz="2400" b="1">
                <a:solidFill>
                  <a:srgbClr val="172820"/>
                </a:solidFill>
                <a:latin typeface="Arial"/>
                <a:ea typeface="Arial"/>
                <a:cs typeface="Arial"/>
              </a:rPr>
              <a:t>Baseline studi kasus: Healthcare Appointment App</a:t>
            </a:r>
          </a:p>
        </p:txBody>
      </p:sp>
      <p:sp>
        <p:nvSpPr>
          <p:cNvPr id="4" name="Rectangle 3">
            <a:extLst>
              <a:ext uri="{FF2B5EF4-FFF2-40B4-BE49-F238E27FC236}">
                <a16:creationId xmlns:a16="http://schemas.microsoft.com/office/drawing/2014/main" id="{2F1F4EAA-2155-4328-83B9-2DBE484ACA1C}"/>
              </a:ext>
            </a:extLst>
          </p:cNvPr>
          <p:cNvSpPr>
            <a:spLocks noGrp="1"/>
          </p:cNvSpPr>
          <p:nvPr/>
        </p:nvSpPr>
        <p:spPr>
          <a:xfrm>
            <a:off x="685800" y="1066800"/>
            <a:ext cx="10287000" cy="323850"/>
          </a:xfrm>
          <a:prstGeom prst="rect">
            <a:avLst/>
          </a:prstGeom>
          <a:noFill/>
          <a:ln w="0">
            <a:noFill/>
          </a:ln>
        </p:spPr>
        <p:txBody>
          <a:bodyPr anchor="t">
            <a:normAutofit/>
          </a:bodyPr>
          <a:lstStyle/>
          <a:p>
            <a:pPr algn="l">
              <a:buNone/>
              <a:defRPr sz="1200" b="0">
                <a:solidFill>
                  <a:srgbClr val="64736C"/>
                </a:solidFill>
                <a:latin typeface="Arial"/>
                <a:ea typeface="Arial"/>
                <a:cs typeface="Arial"/>
              </a:defRPr>
            </a:pPr>
            <a:r>
              <a:rPr sz="1200" b="0">
                <a:solidFill>
                  <a:srgbClr val="64736C"/>
                </a:solidFill>
                <a:latin typeface="Arial"/>
                <a:ea typeface="Arial"/>
                <a:cs typeface="Arial"/>
              </a:rPr>
              <a:t>Wireframe mentah mendefinisikan susunan informasi. Detail visual, data, dan interaksi dijelaskan melalui brief yang sama pada setiap metode.</a:t>
            </a:r>
          </a:p>
        </p:txBody>
      </p:sp>
      <p:pic>
        <p:nvPicPr>
          <p:cNvPr id="25" name="Picture 24"/>
          <p:cNvPicPr>
            <a:picLocks noChangeAspect="1"/>
          </p:cNvPicPr>
          <p:nvPr/>
        </p:nvPicPr>
        <p:blipFill>
          <a:blip r:embed="rId3"/>
          <a:stretch/>
        </p:blipFill>
        <p:spPr>
          <a:xfrm>
            <a:off x="1067391" y="1524000"/>
            <a:ext cx="2075269" cy="4476750"/>
          </a:xfrm>
          <a:prstGeom prst="roundRect">
            <a:avLst>
              <a:gd name="adj" fmla="val 4800"/>
            </a:avLst>
          </a:prstGeom>
        </p:spPr>
      </p:pic>
      <p:sp>
        <p:nvSpPr>
          <p:cNvPr id="6" name="Rectangle 5">
            <a:extLst>
              <a:ext uri="{FF2B5EF4-FFF2-40B4-BE49-F238E27FC236}">
                <a16:creationId xmlns:a16="http://schemas.microsoft.com/office/drawing/2014/main" id="{5481B3A3-8662-4CC0-998A-7D7FF8A67F4E}"/>
              </a:ext>
            </a:extLst>
          </p:cNvPr>
          <p:cNvSpPr>
            <a:spLocks noGrp="1"/>
          </p:cNvSpPr>
          <p:nvPr/>
        </p:nvSpPr>
        <p:spPr>
          <a:xfrm>
            <a:off x="4286250" y="1790700"/>
            <a:ext cx="3333750" cy="304800"/>
          </a:xfrm>
          <a:prstGeom prst="rect">
            <a:avLst/>
          </a:prstGeom>
          <a:noFill/>
          <a:ln w="0">
            <a:noFill/>
          </a:ln>
        </p:spPr>
        <p:txBody>
          <a:bodyPr anchor="t">
            <a:normAutofit fontScale="85278" lnSpcReduction="10000"/>
          </a:bodyPr>
          <a:lstStyle/>
          <a:p>
            <a:pPr algn="l">
              <a:buNone/>
              <a:defRPr sz="1800" b="1">
                <a:solidFill>
                  <a:srgbClr val="172820"/>
                </a:solidFill>
                <a:latin typeface="Arial"/>
                <a:ea typeface="Arial"/>
                <a:cs typeface="Arial"/>
              </a:defRPr>
            </a:pPr>
            <a:r>
              <a:rPr sz="1800" b="1">
                <a:solidFill>
                  <a:srgbClr val="172820"/>
                </a:solidFill>
                <a:latin typeface="Arial"/>
                <a:ea typeface="Arial"/>
                <a:cs typeface="Arial"/>
              </a:rPr>
              <a:t>Kebutuhan UI</a:t>
            </a:r>
          </a:p>
        </p:txBody>
      </p:sp>
      <p:sp>
        <p:nvSpPr>
          <p:cNvPr id="7" name="Rectangle: Rounded Corners 6">
            <a:extLst>
              <a:ext uri="{FF2B5EF4-FFF2-40B4-BE49-F238E27FC236}">
                <a16:creationId xmlns:a16="http://schemas.microsoft.com/office/drawing/2014/main" id="{0971F6EC-DA7C-4807-A734-65FBF7CE804F}"/>
              </a:ext>
            </a:extLst>
          </p:cNvPr>
          <p:cNvSpPr>
            <a:spLocks noGrp="1"/>
          </p:cNvSpPr>
          <p:nvPr/>
        </p:nvSpPr>
        <p:spPr>
          <a:xfrm>
            <a:off x="4286250" y="2381250"/>
            <a:ext cx="152400" cy="152400"/>
          </a:xfrm>
          <a:prstGeom prst="roundRect">
            <a:avLst>
              <a:gd name="adj" fmla="val 50000"/>
            </a:avLst>
          </a:prstGeom>
          <a:solidFill>
            <a:srgbClr val="1F6F54"/>
          </a:solidFill>
          <a:ln w="0">
            <a:noFill/>
          </a:ln>
        </p:spPr>
      </p:sp>
      <p:sp>
        <p:nvSpPr>
          <p:cNvPr id="8" name="Rectangle 7">
            <a:extLst>
              <a:ext uri="{FF2B5EF4-FFF2-40B4-BE49-F238E27FC236}">
                <a16:creationId xmlns:a16="http://schemas.microsoft.com/office/drawing/2014/main" id="{4CC0C842-767C-437F-8C13-F3E67C0F5312}"/>
              </a:ext>
            </a:extLst>
          </p:cNvPr>
          <p:cNvSpPr>
            <a:spLocks noGrp="1"/>
          </p:cNvSpPr>
          <p:nvPr/>
        </p:nvSpPr>
        <p:spPr>
          <a:xfrm>
            <a:off x="4667250" y="2305050"/>
            <a:ext cx="4857750" cy="304800"/>
          </a:xfrm>
          <a:prstGeom prst="rect">
            <a:avLst/>
          </a:prstGeom>
          <a:noFill/>
          <a:ln w="0">
            <a:noFill/>
          </a:ln>
        </p:spPr>
        <p:txBody>
          <a:bodyPr anchor="t">
            <a:normAutofit fontScale="98246"/>
          </a:bodyPr>
          <a:lstStyle/>
          <a:p>
            <a:pPr algn="l">
              <a:buNone/>
              <a:defRPr sz="1425" b="0">
                <a:solidFill>
                  <a:srgbClr val="172820"/>
                </a:solidFill>
                <a:latin typeface="Arial"/>
                <a:ea typeface="Arial"/>
                <a:cs typeface="Arial"/>
              </a:defRPr>
            </a:pPr>
            <a:r>
              <a:rPr sz="1425" b="0">
                <a:solidFill>
                  <a:srgbClr val="172820"/>
                </a:solidFill>
                <a:latin typeface="Arial"/>
                <a:ea typeface="Arial"/>
                <a:cs typeface="Arial"/>
              </a:rPr>
              <a:t>Mencari dokter atau keluhan</a:t>
            </a:r>
          </a:p>
        </p:txBody>
      </p:sp>
      <p:sp>
        <p:nvSpPr>
          <p:cNvPr id="9" name="Rectangle: Rounded Corners 8">
            <a:extLst>
              <a:ext uri="{FF2B5EF4-FFF2-40B4-BE49-F238E27FC236}">
                <a16:creationId xmlns:a16="http://schemas.microsoft.com/office/drawing/2014/main" id="{0ED57B6B-15A4-469B-9E9B-69B7E5248AB5}"/>
              </a:ext>
            </a:extLst>
          </p:cNvPr>
          <p:cNvSpPr>
            <a:spLocks noGrp="1"/>
          </p:cNvSpPr>
          <p:nvPr/>
        </p:nvSpPr>
        <p:spPr>
          <a:xfrm>
            <a:off x="4286250" y="2933700"/>
            <a:ext cx="152400" cy="152400"/>
          </a:xfrm>
          <a:prstGeom prst="roundRect">
            <a:avLst>
              <a:gd name="adj" fmla="val 50000"/>
            </a:avLst>
          </a:prstGeom>
          <a:solidFill>
            <a:srgbClr val="1F6F54"/>
          </a:solidFill>
          <a:ln w="0">
            <a:noFill/>
          </a:ln>
        </p:spPr>
      </p:sp>
      <p:sp>
        <p:nvSpPr>
          <p:cNvPr id="10" name="Rectangle 9">
            <a:extLst>
              <a:ext uri="{FF2B5EF4-FFF2-40B4-BE49-F238E27FC236}">
                <a16:creationId xmlns:a16="http://schemas.microsoft.com/office/drawing/2014/main" id="{B54F9C11-A9C9-4B94-8313-A7954538B969}"/>
              </a:ext>
            </a:extLst>
          </p:cNvPr>
          <p:cNvSpPr>
            <a:spLocks noGrp="1"/>
          </p:cNvSpPr>
          <p:nvPr/>
        </p:nvSpPr>
        <p:spPr>
          <a:xfrm>
            <a:off x="4667250" y="2857500"/>
            <a:ext cx="4857750" cy="304800"/>
          </a:xfrm>
          <a:prstGeom prst="rect">
            <a:avLst/>
          </a:prstGeom>
          <a:noFill/>
          <a:ln w="0">
            <a:noFill/>
          </a:ln>
        </p:spPr>
        <p:txBody>
          <a:bodyPr anchor="t">
            <a:normAutofit fontScale="98246"/>
          </a:bodyPr>
          <a:lstStyle/>
          <a:p>
            <a:pPr algn="l">
              <a:buNone/>
              <a:defRPr sz="1425" b="0">
                <a:solidFill>
                  <a:srgbClr val="172820"/>
                </a:solidFill>
                <a:latin typeface="Arial"/>
                <a:ea typeface="Arial"/>
                <a:cs typeface="Arial"/>
              </a:defRPr>
            </a:pPr>
            <a:r>
              <a:rPr sz="1425" b="0">
                <a:solidFill>
                  <a:srgbClr val="172820"/>
                </a:solidFill>
                <a:latin typeface="Arial"/>
                <a:ea typeface="Arial"/>
                <a:cs typeface="Arial"/>
              </a:rPr>
              <a:t>Memilih kategori kesehatan</a:t>
            </a:r>
          </a:p>
        </p:txBody>
      </p:sp>
      <p:sp>
        <p:nvSpPr>
          <p:cNvPr id="11" name="Rectangle: Rounded Corners 10">
            <a:extLst>
              <a:ext uri="{FF2B5EF4-FFF2-40B4-BE49-F238E27FC236}">
                <a16:creationId xmlns:a16="http://schemas.microsoft.com/office/drawing/2014/main" id="{C47EB744-6722-4C82-9F7A-08D433993B2A}"/>
              </a:ext>
            </a:extLst>
          </p:cNvPr>
          <p:cNvSpPr>
            <a:spLocks noGrp="1"/>
          </p:cNvSpPr>
          <p:nvPr/>
        </p:nvSpPr>
        <p:spPr>
          <a:xfrm>
            <a:off x="4286250" y="3486150"/>
            <a:ext cx="152400" cy="152400"/>
          </a:xfrm>
          <a:prstGeom prst="roundRect">
            <a:avLst>
              <a:gd name="adj" fmla="val 50000"/>
            </a:avLst>
          </a:prstGeom>
          <a:solidFill>
            <a:srgbClr val="1F6F54"/>
          </a:solidFill>
          <a:ln w="0">
            <a:noFill/>
          </a:ln>
        </p:spPr>
      </p:sp>
      <p:sp>
        <p:nvSpPr>
          <p:cNvPr id="12" name="Rectangle 11">
            <a:extLst>
              <a:ext uri="{FF2B5EF4-FFF2-40B4-BE49-F238E27FC236}">
                <a16:creationId xmlns:a16="http://schemas.microsoft.com/office/drawing/2014/main" id="{B892A719-8D8F-4DCB-9BC1-8EC24A7C51BD}"/>
              </a:ext>
            </a:extLst>
          </p:cNvPr>
          <p:cNvSpPr>
            <a:spLocks noGrp="1"/>
          </p:cNvSpPr>
          <p:nvPr/>
        </p:nvSpPr>
        <p:spPr>
          <a:xfrm>
            <a:off x="4667250" y="3409950"/>
            <a:ext cx="4857750" cy="304800"/>
          </a:xfrm>
          <a:prstGeom prst="rect">
            <a:avLst/>
          </a:prstGeom>
          <a:noFill/>
          <a:ln w="0">
            <a:noFill/>
          </a:ln>
        </p:spPr>
        <p:txBody>
          <a:bodyPr anchor="t">
            <a:normAutofit fontScale="98246"/>
          </a:bodyPr>
          <a:lstStyle/>
          <a:p>
            <a:pPr algn="l">
              <a:buNone/>
              <a:defRPr sz="1425" b="0">
                <a:solidFill>
                  <a:srgbClr val="172820"/>
                </a:solidFill>
                <a:latin typeface="Arial"/>
                <a:ea typeface="Arial"/>
                <a:cs typeface="Arial"/>
              </a:defRPr>
            </a:pPr>
            <a:r>
              <a:rPr sz="1425" b="0">
                <a:solidFill>
                  <a:srgbClr val="172820"/>
                </a:solidFill>
                <a:latin typeface="Arial"/>
                <a:ea typeface="Arial"/>
                <a:cs typeface="Arial"/>
              </a:rPr>
              <a:t>Melihat konsultasi mendatang</a:t>
            </a:r>
          </a:p>
        </p:txBody>
      </p:sp>
      <p:sp>
        <p:nvSpPr>
          <p:cNvPr id="13" name="Rectangle: Rounded Corners 12">
            <a:extLst>
              <a:ext uri="{FF2B5EF4-FFF2-40B4-BE49-F238E27FC236}">
                <a16:creationId xmlns:a16="http://schemas.microsoft.com/office/drawing/2014/main" id="{B9FB781B-8E1E-4F61-B670-ED309FA05363}"/>
              </a:ext>
            </a:extLst>
          </p:cNvPr>
          <p:cNvSpPr>
            <a:spLocks noGrp="1"/>
          </p:cNvSpPr>
          <p:nvPr/>
        </p:nvSpPr>
        <p:spPr>
          <a:xfrm>
            <a:off x="4286250" y="4038600"/>
            <a:ext cx="152400" cy="152400"/>
          </a:xfrm>
          <a:prstGeom prst="roundRect">
            <a:avLst>
              <a:gd name="adj" fmla="val 50000"/>
            </a:avLst>
          </a:prstGeom>
          <a:solidFill>
            <a:srgbClr val="1F6F54"/>
          </a:solidFill>
          <a:ln w="0">
            <a:noFill/>
          </a:ln>
        </p:spPr>
      </p:sp>
      <p:sp>
        <p:nvSpPr>
          <p:cNvPr id="14" name="Rectangle 13">
            <a:extLst>
              <a:ext uri="{FF2B5EF4-FFF2-40B4-BE49-F238E27FC236}">
                <a16:creationId xmlns:a16="http://schemas.microsoft.com/office/drawing/2014/main" id="{2452C1C2-9C64-444D-B8C5-A509FF221D02}"/>
              </a:ext>
            </a:extLst>
          </p:cNvPr>
          <p:cNvSpPr>
            <a:spLocks noGrp="1"/>
          </p:cNvSpPr>
          <p:nvPr/>
        </p:nvSpPr>
        <p:spPr>
          <a:xfrm>
            <a:off x="4667250" y="3962400"/>
            <a:ext cx="4857750" cy="304800"/>
          </a:xfrm>
          <a:prstGeom prst="rect">
            <a:avLst/>
          </a:prstGeom>
          <a:noFill/>
          <a:ln w="0">
            <a:noFill/>
          </a:ln>
        </p:spPr>
        <p:txBody>
          <a:bodyPr anchor="t">
            <a:normAutofit fontScale="98246"/>
          </a:bodyPr>
          <a:lstStyle/>
          <a:p>
            <a:pPr algn="l">
              <a:buNone/>
              <a:defRPr sz="1425" b="0">
                <a:solidFill>
                  <a:srgbClr val="172820"/>
                </a:solidFill>
                <a:latin typeface="Arial"/>
                <a:ea typeface="Arial"/>
                <a:cs typeface="Arial"/>
              </a:defRPr>
            </a:pPr>
            <a:r>
              <a:rPr sz="1425" b="0">
                <a:solidFill>
                  <a:srgbClr val="172820"/>
                </a:solidFill>
                <a:latin typeface="Arial"/>
                <a:ea typeface="Arial"/>
                <a:cs typeface="Arial"/>
              </a:rPr>
              <a:t>Menjelajah dokter populer</a:t>
            </a:r>
          </a:p>
        </p:txBody>
      </p:sp>
      <p:sp>
        <p:nvSpPr>
          <p:cNvPr id="15" name="Rectangle: Rounded Corners 14">
            <a:extLst>
              <a:ext uri="{FF2B5EF4-FFF2-40B4-BE49-F238E27FC236}">
                <a16:creationId xmlns:a16="http://schemas.microsoft.com/office/drawing/2014/main" id="{9BD34353-CCCC-42A5-ABFC-8BA5757AA500}"/>
              </a:ext>
            </a:extLst>
          </p:cNvPr>
          <p:cNvSpPr>
            <a:spLocks noGrp="1"/>
          </p:cNvSpPr>
          <p:nvPr/>
        </p:nvSpPr>
        <p:spPr>
          <a:xfrm>
            <a:off x="4286250" y="4591050"/>
            <a:ext cx="152400" cy="152400"/>
          </a:xfrm>
          <a:prstGeom prst="roundRect">
            <a:avLst>
              <a:gd name="adj" fmla="val 50000"/>
            </a:avLst>
          </a:prstGeom>
          <a:solidFill>
            <a:srgbClr val="1F6F54"/>
          </a:solidFill>
          <a:ln w="0">
            <a:noFill/>
          </a:ln>
        </p:spPr>
      </p:sp>
      <p:sp>
        <p:nvSpPr>
          <p:cNvPr id="16" name="Rectangle 15">
            <a:extLst>
              <a:ext uri="{FF2B5EF4-FFF2-40B4-BE49-F238E27FC236}">
                <a16:creationId xmlns:a16="http://schemas.microsoft.com/office/drawing/2014/main" id="{38229D59-A92A-43BD-A108-245613B26F32}"/>
              </a:ext>
            </a:extLst>
          </p:cNvPr>
          <p:cNvSpPr>
            <a:spLocks noGrp="1"/>
          </p:cNvSpPr>
          <p:nvPr/>
        </p:nvSpPr>
        <p:spPr>
          <a:xfrm>
            <a:off x="4667250" y="4514850"/>
            <a:ext cx="4857750" cy="304800"/>
          </a:xfrm>
          <a:prstGeom prst="rect">
            <a:avLst/>
          </a:prstGeom>
          <a:noFill/>
          <a:ln w="0">
            <a:noFill/>
          </a:ln>
        </p:spPr>
        <p:txBody>
          <a:bodyPr anchor="t">
            <a:normAutofit fontScale="98246"/>
          </a:bodyPr>
          <a:lstStyle/>
          <a:p>
            <a:pPr algn="l">
              <a:buNone/>
              <a:defRPr sz="1425" b="0">
                <a:solidFill>
                  <a:srgbClr val="172820"/>
                </a:solidFill>
                <a:latin typeface="Arial"/>
                <a:ea typeface="Arial"/>
                <a:cs typeface="Arial"/>
              </a:defRPr>
            </a:pPr>
            <a:r>
              <a:rPr sz="1425" b="0">
                <a:solidFill>
                  <a:srgbClr val="172820"/>
                </a:solidFill>
                <a:latin typeface="Arial"/>
                <a:ea typeface="Arial"/>
                <a:cs typeface="Arial"/>
              </a:rPr>
              <a:t>Akses pesan dan profil dari navigasi bawah</a:t>
            </a:r>
          </a:p>
        </p:txBody>
      </p:sp>
      <p:sp>
        <p:nvSpPr>
          <p:cNvPr id="17" name="Rectangle: Rounded Corners 16">
            <a:extLst>
              <a:ext uri="{FF2B5EF4-FFF2-40B4-BE49-F238E27FC236}">
                <a16:creationId xmlns:a16="http://schemas.microsoft.com/office/drawing/2014/main" id="{8BA93E31-D09C-4EBD-A9D8-A7EDCAB93E64}"/>
              </a:ext>
            </a:extLst>
          </p:cNvPr>
          <p:cNvSpPr>
            <a:spLocks noGrp="1"/>
          </p:cNvSpPr>
          <p:nvPr/>
        </p:nvSpPr>
        <p:spPr>
          <a:xfrm>
            <a:off x="4286250" y="5410200"/>
            <a:ext cx="6191250" cy="552450"/>
          </a:xfrm>
          <a:prstGeom prst="roundRect">
            <a:avLst>
              <a:gd name="adj" fmla="val 20690"/>
            </a:avLst>
          </a:prstGeom>
          <a:solidFill>
            <a:srgbClr val="DFF2E9"/>
          </a:solidFill>
          <a:ln w="0">
            <a:noFill/>
          </a:ln>
        </p:spPr>
      </p:sp>
      <p:sp>
        <p:nvSpPr>
          <p:cNvPr id="18" name="Rectangle 17">
            <a:extLst>
              <a:ext uri="{FF2B5EF4-FFF2-40B4-BE49-F238E27FC236}">
                <a16:creationId xmlns:a16="http://schemas.microsoft.com/office/drawing/2014/main" id="{EE2D65E6-8C66-47B9-BA2E-2A0265360DF9}"/>
              </a:ext>
            </a:extLst>
          </p:cNvPr>
          <p:cNvSpPr>
            <a:spLocks noGrp="1"/>
          </p:cNvSpPr>
          <p:nvPr/>
        </p:nvSpPr>
        <p:spPr>
          <a:xfrm>
            <a:off x="4572000" y="5553075"/>
            <a:ext cx="5619750" cy="247650"/>
          </a:xfrm>
          <a:prstGeom prst="rect">
            <a:avLst/>
          </a:prstGeom>
          <a:noFill/>
          <a:ln w="0">
            <a:noFill/>
          </a:ln>
        </p:spPr>
        <p:txBody>
          <a:bodyPr anchor="t">
            <a:normAutofit fontScale="92917" lnSpcReduction="10000"/>
          </a:bodyPr>
          <a:lstStyle/>
          <a:p>
            <a:pPr algn="l">
              <a:buNone/>
              <a:defRPr sz="1200" b="1">
                <a:solidFill>
                  <a:srgbClr val="1F6F54"/>
                </a:solidFill>
                <a:latin typeface="Arial"/>
                <a:ea typeface="Arial"/>
                <a:cs typeface="Arial"/>
              </a:defRPr>
            </a:pPr>
            <a:r>
              <a:rPr sz="1200" b="1">
                <a:solidFill>
                  <a:srgbClr val="1F6F54"/>
                </a:solidFill>
                <a:latin typeface="Arial"/>
                <a:ea typeface="Arial"/>
                <a:cs typeface="Arial"/>
              </a:rPr>
              <a:t>Sumber tunggal untuk perbandingan: satu wireframe + satu detail description.</a:t>
            </a:r>
          </a:p>
        </p:txBody>
      </p:sp>
    </p:spTree>
    <p:extLst>
      <p:ext uri="{BB962C8B-B14F-4D97-AF65-F5344CB8AC3E}">
        <p14:creationId xmlns:p14="http://schemas.microsoft.com/office/powerpoint/2010/main" val="5185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3CA01188-AEAF-418C-BE88-A7F1CCE33F94}"/>
              </a:ext>
            </a:extLst>
          </p:cNvPr>
          <p:cNvSpPr>
            <a:spLocks noGrp="1"/>
          </p:cNvSpPr>
          <p:nvPr/>
        </p:nvSpPr>
        <p:spPr>
          <a:xfrm>
            <a:off x="685800" y="6477000"/>
            <a:ext cx="5715000" cy="190500"/>
          </a:xfrm>
          <a:prstGeom prst="rect">
            <a:avLst/>
          </a:prstGeom>
          <a:noFill/>
          <a:ln w="0">
            <a:noFill/>
          </a:ln>
        </p:spPr>
        <p:txBody>
          <a:bodyPr anchor="t">
            <a:normAutofit fontScale="78788" lnSpcReduction="10000"/>
          </a:bodyPr>
          <a:lstStyle/>
          <a:p>
            <a:pPr algn="l">
              <a:buNone/>
              <a:defRPr sz="825" b="0">
                <a:solidFill>
                  <a:srgbClr val="64736C"/>
                </a:solidFill>
                <a:latin typeface="Arial"/>
                <a:ea typeface="Arial"/>
                <a:cs typeface="Arial"/>
              </a:defRPr>
            </a:pPr>
            <a:r>
              <a:rPr sz="825" b="0">
                <a:solidFill>
                  <a:srgbClr val="64736C"/>
                </a:solidFill>
                <a:latin typeface="Arial"/>
                <a:ea typeface="Arial"/>
                <a:cs typeface="Arial"/>
              </a:rPr>
              <a:t>HTML-FMX · Healthcare wireframe case study</a:t>
            </a:r>
          </a:p>
        </p:txBody>
      </p:sp>
      <p:sp>
        <p:nvSpPr>
          <p:cNvPr id="2" name="Rectangle 1">
            <a:extLst>
              <a:ext uri="{FF2B5EF4-FFF2-40B4-BE49-F238E27FC236}">
                <a16:creationId xmlns:a16="http://schemas.microsoft.com/office/drawing/2014/main" id="{617208D6-0580-4F9A-9E90-707806F77B69}"/>
              </a:ext>
            </a:extLst>
          </p:cNvPr>
          <p:cNvSpPr>
            <a:spLocks noGrp="1"/>
          </p:cNvSpPr>
          <p:nvPr/>
        </p:nvSpPr>
        <p:spPr>
          <a:xfrm>
            <a:off x="11049000" y="6438900"/>
            <a:ext cx="457200" cy="190500"/>
          </a:xfrm>
          <a:prstGeom prst="rect">
            <a:avLst/>
          </a:prstGeom>
          <a:noFill/>
          <a:ln w="0">
            <a:noFill/>
          </a:ln>
        </p:spPr>
        <p:txBody>
          <a:bodyPr anchor="t">
            <a:normAutofit fontScale="78788" lnSpcReduction="10000"/>
          </a:bodyPr>
          <a:lstStyle/>
          <a:p>
            <a:pPr algn="r">
              <a:buNone/>
              <a:defRPr sz="825" b="0">
                <a:solidFill>
                  <a:srgbClr val="64736C"/>
                </a:solidFill>
                <a:latin typeface="Arial"/>
                <a:ea typeface="Arial"/>
                <a:cs typeface="Arial"/>
              </a:defRPr>
            </a:pPr>
            <a:r>
              <a:rPr sz="825" b="0">
                <a:solidFill>
                  <a:srgbClr val="64736C"/>
                </a:solidFill>
                <a:latin typeface="Arial"/>
                <a:ea typeface="Arial"/>
                <a:cs typeface="Arial"/>
              </a:rPr>
              <a:t>05</a:t>
            </a:r>
          </a:p>
        </p:txBody>
      </p:sp>
      <p:sp>
        <p:nvSpPr>
          <p:cNvPr id="3" name="Rectangle 2">
            <a:extLst>
              <a:ext uri="{FF2B5EF4-FFF2-40B4-BE49-F238E27FC236}">
                <a16:creationId xmlns:a16="http://schemas.microsoft.com/office/drawing/2014/main" id="{20A9893E-EBC2-40C3-9D14-A3228FECECBB}"/>
              </a:ext>
            </a:extLst>
          </p:cNvPr>
          <p:cNvSpPr>
            <a:spLocks noGrp="1"/>
          </p:cNvSpPr>
          <p:nvPr/>
        </p:nvSpPr>
        <p:spPr>
          <a:xfrm>
            <a:off x="685800" y="514350"/>
            <a:ext cx="10668000" cy="495300"/>
          </a:xfrm>
          <a:prstGeom prst="rect">
            <a:avLst/>
          </a:prstGeom>
          <a:noFill/>
          <a:ln w="0">
            <a:noFill/>
          </a:ln>
        </p:spPr>
        <p:txBody>
          <a:bodyPr anchor="t">
            <a:normAutofit/>
          </a:bodyPr>
          <a:lstStyle/>
          <a:p>
            <a:pPr algn="l">
              <a:buNone/>
              <a:defRPr sz="2400" b="1">
                <a:solidFill>
                  <a:srgbClr val="172820"/>
                </a:solidFill>
                <a:latin typeface="Arial"/>
                <a:ea typeface="Arial"/>
                <a:cs typeface="Arial"/>
              </a:defRPr>
            </a:pPr>
            <a:r>
              <a:rPr sz="2400" b="1">
                <a:solidFill>
                  <a:srgbClr val="172820"/>
                </a:solidFill>
                <a:latin typeface="Arial"/>
                <a:ea typeface="Arial"/>
                <a:cs typeface="Arial"/>
              </a:rPr>
              <a:t>Empat jalur generasi yang dibandingkan</a:t>
            </a:r>
          </a:p>
        </p:txBody>
      </p:sp>
      <p:sp>
        <p:nvSpPr>
          <p:cNvPr id="4" name="Rectangle 3">
            <a:extLst>
              <a:ext uri="{FF2B5EF4-FFF2-40B4-BE49-F238E27FC236}">
                <a16:creationId xmlns:a16="http://schemas.microsoft.com/office/drawing/2014/main" id="{B8D52C51-6EEB-4005-AC60-6C4DAF09915B}"/>
              </a:ext>
            </a:extLst>
          </p:cNvPr>
          <p:cNvSpPr>
            <a:spLocks noGrp="1"/>
          </p:cNvSpPr>
          <p:nvPr/>
        </p:nvSpPr>
        <p:spPr>
          <a:xfrm>
            <a:off x="685800" y="1066800"/>
            <a:ext cx="10287000" cy="323850"/>
          </a:xfrm>
          <a:prstGeom prst="rect">
            <a:avLst/>
          </a:prstGeom>
          <a:noFill/>
          <a:ln w="0">
            <a:noFill/>
          </a:ln>
        </p:spPr>
        <p:txBody>
          <a:bodyPr anchor="t">
            <a:normAutofit/>
          </a:bodyPr>
          <a:lstStyle/>
          <a:p>
            <a:pPr algn="l">
              <a:buNone/>
              <a:defRPr sz="1200" b="0">
                <a:solidFill>
                  <a:srgbClr val="64736C"/>
                </a:solidFill>
                <a:latin typeface="Arial"/>
                <a:ea typeface="Arial"/>
                <a:cs typeface="Arial"/>
              </a:defRPr>
            </a:pPr>
            <a:r>
              <a:rPr sz="1200" b="0">
                <a:solidFill>
                  <a:srgbClr val="64736C"/>
                </a:solidFill>
                <a:latin typeface="Arial"/>
                <a:ea typeface="Arial"/>
                <a:cs typeface="Arial"/>
              </a:rPr>
              <a:t>Keempat jalur memakai wireframe dan brief yang sama. Perbedaannya berada pada bentuk input yang diterima skill implementasi.</a:t>
            </a:r>
          </a:p>
        </p:txBody>
      </p:sp>
      <p:sp>
        <p:nvSpPr>
          <p:cNvPr id="5" name="Rectangle 4">
            <a:extLst>
              <a:ext uri="{FF2B5EF4-FFF2-40B4-BE49-F238E27FC236}">
                <a16:creationId xmlns:a16="http://schemas.microsoft.com/office/drawing/2014/main" id="{8E9030CE-79DD-4524-81C9-ADB8D90F2634}"/>
              </a:ext>
            </a:extLst>
          </p:cNvPr>
          <p:cNvSpPr>
            <a:spLocks noGrp="1"/>
          </p:cNvSpPr>
          <p:nvPr/>
        </p:nvSpPr>
        <p:spPr>
          <a:xfrm>
            <a:off x="685800" y="1638300"/>
            <a:ext cx="514350" cy="304800"/>
          </a:xfrm>
          <a:prstGeom prst="rect">
            <a:avLst/>
          </a:prstGeom>
          <a:noFill/>
          <a:ln w="0">
            <a:noFill/>
          </a:ln>
        </p:spPr>
        <p:txBody>
          <a:bodyPr anchor="t">
            <a:normAutofit fontScale="92348" lnSpcReduction="10000"/>
          </a:bodyPr>
          <a:lstStyle/>
          <a:p>
            <a:pPr algn="l">
              <a:buNone/>
              <a:defRPr sz="1650" b="1">
                <a:solidFill>
                  <a:srgbClr val="1F6F54"/>
                </a:solidFill>
                <a:latin typeface="Arial"/>
                <a:ea typeface="Arial"/>
                <a:cs typeface="Arial"/>
              </a:defRPr>
            </a:pPr>
            <a:r>
              <a:rPr sz="1650" b="1">
                <a:solidFill>
                  <a:srgbClr val="1F6F54"/>
                </a:solidFill>
                <a:latin typeface="Arial"/>
                <a:ea typeface="Arial"/>
                <a:cs typeface="Arial"/>
              </a:rPr>
              <a:t>01</a:t>
            </a:r>
          </a:p>
        </p:txBody>
      </p:sp>
      <p:sp>
        <p:nvSpPr>
          <p:cNvPr id="6" name="Rectangle 5">
            <a:extLst>
              <a:ext uri="{FF2B5EF4-FFF2-40B4-BE49-F238E27FC236}">
                <a16:creationId xmlns:a16="http://schemas.microsoft.com/office/drawing/2014/main" id="{A9F937D4-2A8E-4C68-A7F3-DDB3DC3E6DE1}"/>
              </a:ext>
            </a:extLst>
          </p:cNvPr>
          <p:cNvSpPr>
            <a:spLocks noGrp="1"/>
          </p:cNvSpPr>
          <p:nvPr/>
        </p:nvSpPr>
        <p:spPr>
          <a:xfrm>
            <a:off x="1466850" y="1638300"/>
            <a:ext cx="4762500" cy="304800"/>
          </a:xfrm>
          <a:prstGeom prst="rect">
            <a:avLst/>
          </a:prstGeom>
          <a:noFill/>
          <a:ln w="0">
            <a:noFill/>
          </a:ln>
        </p:spPr>
        <p:txBody>
          <a:bodyPr anchor="t">
            <a:normAutofit fontScale="96389" lnSpcReduction="10000"/>
          </a:bodyPr>
          <a:lstStyle/>
          <a:p>
            <a:pPr algn="l">
              <a:buNone/>
              <a:defRPr sz="1575" b="1">
                <a:solidFill>
                  <a:srgbClr val="172820"/>
                </a:solidFill>
                <a:latin typeface="Arial"/>
                <a:ea typeface="Arial"/>
                <a:cs typeface="Arial"/>
              </a:defRPr>
            </a:pPr>
            <a:r>
              <a:rPr sz="1575" b="1">
                <a:solidFill>
                  <a:srgbClr val="172820"/>
                </a:solidFill>
                <a:latin typeface="Arial"/>
                <a:ea typeface="Arial"/>
                <a:cs typeface="Arial"/>
              </a:rPr>
              <a:t>Google Stitch → HTML → html-to-fmx</a:t>
            </a:r>
          </a:p>
        </p:txBody>
      </p:sp>
      <p:sp>
        <p:nvSpPr>
          <p:cNvPr id="7" name="Rectangle 6">
            <a:extLst>
              <a:ext uri="{FF2B5EF4-FFF2-40B4-BE49-F238E27FC236}">
                <a16:creationId xmlns:a16="http://schemas.microsoft.com/office/drawing/2014/main" id="{862DCB02-6980-4E39-9FCB-E310A9E84A05}"/>
              </a:ext>
            </a:extLst>
          </p:cNvPr>
          <p:cNvSpPr>
            <a:spLocks noGrp="1"/>
          </p:cNvSpPr>
          <p:nvPr/>
        </p:nvSpPr>
        <p:spPr>
          <a:xfrm>
            <a:off x="1466850" y="2000250"/>
            <a:ext cx="7905750" cy="419100"/>
          </a:xfrm>
          <a:prstGeom prst="rect">
            <a:avLst/>
          </a:prstGeom>
          <a:noFill/>
          <a:ln w="0">
            <a:noFill/>
          </a:ln>
        </p:spPr>
        <p:txBody>
          <a:bodyPr anchor="t">
            <a:normAutofit/>
          </a:bodyPr>
          <a:lstStyle/>
          <a:p>
            <a:pPr algn="l">
              <a:buNone/>
              <a:defRPr sz="1125" b="0">
                <a:solidFill>
                  <a:srgbClr val="64736C"/>
                </a:solidFill>
                <a:latin typeface="Arial"/>
                <a:ea typeface="Arial"/>
                <a:cs typeface="Arial"/>
              </a:defRPr>
            </a:pPr>
            <a:r>
              <a:rPr sz="1125" b="0">
                <a:solidFill>
                  <a:srgbClr val="64736C"/>
                </a:solidFill>
                <a:latin typeface="Arial"/>
                <a:ea typeface="Arial"/>
                <a:cs typeface="Arial"/>
              </a:rPr>
              <a:t>MCP Google Stitch menghasilkan desain dan HTML, kemudian workflow HTML diterapkan ke FMX.</a:t>
            </a:r>
          </a:p>
        </p:txBody>
      </p:sp>
      <p:sp>
        <p:nvSpPr>
          <p:cNvPr id="8" name="Straight Connector 7">
            <a:extLst>
              <a:ext uri="{FF2B5EF4-FFF2-40B4-BE49-F238E27FC236}">
                <a16:creationId xmlns:a16="http://schemas.microsoft.com/office/drawing/2014/main" id="{C62EC6A8-F6FB-4738-813F-45A22FE6503C}"/>
              </a:ext>
            </a:extLst>
          </p:cNvPr>
          <p:cNvSpPr>
            <a:spLocks noGrp="1"/>
          </p:cNvSpPr>
          <p:nvPr/>
        </p:nvSpPr>
        <p:spPr>
          <a:xfrm>
            <a:off x="685800" y="2543175"/>
            <a:ext cx="9906000" cy="0"/>
          </a:xfrm>
          <a:prstGeom prst="line">
            <a:avLst/>
          </a:prstGeom>
          <a:noFill/>
          <a:ln w="11430">
            <a:solidFill>
              <a:srgbClr val="DCE5E0"/>
            </a:solidFill>
          </a:ln>
        </p:spPr>
      </p:sp>
      <p:sp>
        <p:nvSpPr>
          <p:cNvPr id="9" name="Rectangle 8">
            <a:extLst>
              <a:ext uri="{FF2B5EF4-FFF2-40B4-BE49-F238E27FC236}">
                <a16:creationId xmlns:a16="http://schemas.microsoft.com/office/drawing/2014/main" id="{ADFC65AB-1D4E-4256-8666-5196F71C9932}"/>
              </a:ext>
            </a:extLst>
          </p:cNvPr>
          <p:cNvSpPr>
            <a:spLocks noGrp="1"/>
          </p:cNvSpPr>
          <p:nvPr/>
        </p:nvSpPr>
        <p:spPr>
          <a:xfrm>
            <a:off x="685800" y="2705100"/>
            <a:ext cx="514350" cy="304800"/>
          </a:xfrm>
          <a:prstGeom prst="rect">
            <a:avLst/>
          </a:prstGeom>
          <a:noFill/>
          <a:ln w="0">
            <a:noFill/>
          </a:ln>
        </p:spPr>
        <p:txBody>
          <a:bodyPr anchor="t">
            <a:normAutofit fontScale="92348" lnSpcReduction="10000"/>
          </a:bodyPr>
          <a:lstStyle/>
          <a:p>
            <a:pPr algn="l">
              <a:buNone/>
              <a:defRPr sz="1650" b="1">
                <a:solidFill>
                  <a:srgbClr val="1F6F54"/>
                </a:solidFill>
                <a:latin typeface="Arial"/>
                <a:ea typeface="Arial"/>
                <a:cs typeface="Arial"/>
              </a:defRPr>
            </a:pPr>
            <a:r>
              <a:rPr sz="1650" b="1">
                <a:solidFill>
                  <a:srgbClr val="1F6F54"/>
                </a:solidFill>
                <a:latin typeface="Arial"/>
                <a:ea typeface="Arial"/>
                <a:cs typeface="Arial"/>
              </a:rPr>
              <a:t>02</a:t>
            </a:r>
          </a:p>
        </p:txBody>
      </p:sp>
      <p:sp>
        <p:nvSpPr>
          <p:cNvPr id="10" name="Rectangle 9">
            <a:extLst>
              <a:ext uri="{FF2B5EF4-FFF2-40B4-BE49-F238E27FC236}">
                <a16:creationId xmlns:a16="http://schemas.microsoft.com/office/drawing/2014/main" id="{C186DC08-D7BE-4D57-9D85-1676F388DE03}"/>
              </a:ext>
            </a:extLst>
          </p:cNvPr>
          <p:cNvSpPr>
            <a:spLocks noGrp="1"/>
          </p:cNvSpPr>
          <p:nvPr/>
        </p:nvSpPr>
        <p:spPr>
          <a:xfrm>
            <a:off x="1466850" y="2705100"/>
            <a:ext cx="4762500" cy="304800"/>
          </a:xfrm>
          <a:prstGeom prst="rect">
            <a:avLst/>
          </a:prstGeom>
          <a:noFill/>
          <a:ln w="0">
            <a:noFill/>
          </a:ln>
        </p:spPr>
        <p:txBody>
          <a:bodyPr anchor="t">
            <a:normAutofit fontScale="96389" lnSpcReduction="10000"/>
          </a:bodyPr>
          <a:lstStyle/>
          <a:p>
            <a:pPr algn="l">
              <a:buNone/>
              <a:defRPr sz="1575" b="1">
                <a:solidFill>
                  <a:srgbClr val="172820"/>
                </a:solidFill>
                <a:latin typeface="Arial"/>
                <a:ea typeface="Arial"/>
                <a:cs typeface="Arial"/>
              </a:defRPr>
            </a:pPr>
            <a:r>
              <a:rPr sz="1575" b="1">
                <a:solidFill>
                  <a:srgbClr val="172820"/>
                </a:solidFill>
                <a:latin typeface="Arial"/>
                <a:ea typeface="Arial"/>
                <a:cs typeface="Arial"/>
              </a:rPr>
              <a:t>create-fmx-ui langsung</a:t>
            </a:r>
          </a:p>
        </p:txBody>
      </p:sp>
      <p:sp>
        <p:nvSpPr>
          <p:cNvPr id="11" name="Rectangle 10">
            <a:extLst>
              <a:ext uri="{FF2B5EF4-FFF2-40B4-BE49-F238E27FC236}">
                <a16:creationId xmlns:a16="http://schemas.microsoft.com/office/drawing/2014/main" id="{1B5C8F12-B600-486A-80BC-549D078F94D4}"/>
              </a:ext>
            </a:extLst>
          </p:cNvPr>
          <p:cNvSpPr>
            <a:spLocks noGrp="1"/>
          </p:cNvSpPr>
          <p:nvPr/>
        </p:nvSpPr>
        <p:spPr>
          <a:xfrm>
            <a:off x="1466850" y="3067050"/>
            <a:ext cx="7905750" cy="419100"/>
          </a:xfrm>
          <a:prstGeom prst="rect">
            <a:avLst/>
          </a:prstGeom>
          <a:noFill/>
          <a:ln w="0">
            <a:noFill/>
          </a:ln>
        </p:spPr>
        <p:txBody>
          <a:bodyPr anchor="t">
            <a:normAutofit/>
          </a:bodyPr>
          <a:lstStyle/>
          <a:p>
            <a:pPr algn="l">
              <a:buNone/>
              <a:defRPr sz="1125" b="0">
                <a:solidFill>
                  <a:srgbClr val="64736C"/>
                </a:solidFill>
                <a:latin typeface="Arial"/>
                <a:ea typeface="Arial"/>
                <a:cs typeface="Arial"/>
              </a:defRPr>
            </a:pPr>
            <a:r>
              <a:rPr sz="1125" b="0">
                <a:solidFill>
                  <a:srgbClr val="64736C"/>
                </a:solidFill>
                <a:latin typeface="Arial"/>
                <a:ea typeface="Arial"/>
                <a:cs typeface="Arial"/>
              </a:rPr>
              <a:t>Agent membaca wireframe dan brief, lalu membangun UI native tanpa HTML perantara.</a:t>
            </a:r>
          </a:p>
        </p:txBody>
      </p:sp>
      <p:sp>
        <p:nvSpPr>
          <p:cNvPr id="12" name="Straight Connector 11">
            <a:extLst>
              <a:ext uri="{FF2B5EF4-FFF2-40B4-BE49-F238E27FC236}">
                <a16:creationId xmlns:a16="http://schemas.microsoft.com/office/drawing/2014/main" id="{CF069794-79EB-4BB5-87EB-029479E9471F}"/>
              </a:ext>
            </a:extLst>
          </p:cNvPr>
          <p:cNvSpPr>
            <a:spLocks noGrp="1"/>
          </p:cNvSpPr>
          <p:nvPr/>
        </p:nvSpPr>
        <p:spPr>
          <a:xfrm>
            <a:off x="685800" y="3609975"/>
            <a:ext cx="9906000" cy="0"/>
          </a:xfrm>
          <a:prstGeom prst="line">
            <a:avLst/>
          </a:prstGeom>
          <a:noFill/>
          <a:ln w="11430">
            <a:solidFill>
              <a:srgbClr val="DCE5E0"/>
            </a:solidFill>
          </a:ln>
        </p:spPr>
      </p:sp>
      <p:sp>
        <p:nvSpPr>
          <p:cNvPr id="13" name="Rectangle 12">
            <a:extLst>
              <a:ext uri="{FF2B5EF4-FFF2-40B4-BE49-F238E27FC236}">
                <a16:creationId xmlns:a16="http://schemas.microsoft.com/office/drawing/2014/main" id="{4D36F711-5917-45D3-88E8-53AA70C27F4A}"/>
              </a:ext>
            </a:extLst>
          </p:cNvPr>
          <p:cNvSpPr>
            <a:spLocks noGrp="1"/>
          </p:cNvSpPr>
          <p:nvPr/>
        </p:nvSpPr>
        <p:spPr>
          <a:xfrm>
            <a:off x="685800" y="3771900"/>
            <a:ext cx="514350" cy="304800"/>
          </a:xfrm>
          <a:prstGeom prst="rect">
            <a:avLst/>
          </a:prstGeom>
          <a:noFill/>
          <a:ln w="0">
            <a:noFill/>
          </a:ln>
        </p:spPr>
        <p:txBody>
          <a:bodyPr anchor="t">
            <a:normAutofit fontScale="92348" lnSpcReduction="10000"/>
          </a:bodyPr>
          <a:lstStyle/>
          <a:p>
            <a:pPr algn="l">
              <a:buNone/>
              <a:defRPr sz="1650" b="1">
                <a:solidFill>
                  <a:srgbClr val="1F6F54"/>
                </a:solidFill>
                <a:latin typeface="Arial"/>
                <a:ea typeface="Arial"/>
                <a:cs typeface="Arial"/>
              </a:defRPr>
            </a:pPr>
            <a:r>
              <a:rPr sz="1650" b="1">
                <a:solidFill>
                  <a:srgbClr val="1F6F54"/>
                </a:solidFill>
                <a:latin typeface="Arial"/>
                <a:ea typeface="Arial"/>
                <a:cs typeface="Arial"/>
              </a:rPr>
              <a:t>03</a:t>
            </a:r>
          </a:p>
        </p:txBody>
      </p:sp>
      <p:sp>
        <p:nvSpPr>
          <p:cNvPr id="14" name="Rectangle 13">
            <a:extLst>
              <a:ext uri="{FF2B5EF4-FFF2-40B4-BE49-F238E27FC236}">
                <a16:creationId xmlns:a16="http://schemas.microsoft.com/office/drawing/2014/main" id="{D3AA4C4C-720A-4FDC-A24A-C34998578819}"/>
              </a:ext>
            </a:extLst>
          </p:cNvPr>
          <p:cNvSpPr>
            <a:spLocks noGrp="1"/>
          </p:cNvSpPr>
          <p:nvPr/>
        </p:nvSpPr>
        <p:spPr>
          <a:xfrm>
            <a:off x="1466850" y="3771900"/>
            <a:ext cx="4762500" cy="304800"/>
          </a:xfrm>
          <a:prstGeom prst="rect">
            <a:avLst/>
          </a:prstGeom>
          <a:noFill/>
          <a:ln w="0">
            <a:noFill/>
          </a:ln>
        </p:spPr>
        <p:txBody>
          <a:bodyPr anchor="t">
            <a:normAutofit fontScale="96389" lnSpcReduction="10000"/>
          </a:bodyPr>
          <a:lstStyle/>
          <a:p>
            <a:pPr algn="l">
              <a:buNone/>
              <a:defRPr sz="1575" b="1">
                <a:solidFill>
                  <a:srgbClr val="172820"/>
                </a:solidFill>
                <a:latin typeface="Arial"/>
                <a:ea typeface="Arial"/>
                <a:cs typeface="Arial"/>
              </a:defRPr>
            </a:pPr>
            <a:r>
              <a:rPr sz="1575" b="1">
                <a:solidFill>
                  <a:srgbClr val="172820"/>
                </a:solidFill>
                <a:latin typeface="Arial"/>
                <a:ea typeface="Arial"/>
                <a:cs typeface="Arial"/>
              </a:rPr>
              <a:t>screenshot mapping → create-fmx-ui</a:t>
            </a:r>
          </a:p>
        </p:txBody>
      </p:sp>
      <p:sp>
        <p:nvSpPr>
          <p:cNvPr id="15" name="Rectangle 14">
            <a:extLst>
              <a:ext uri="{FF2B5EF4-FFF2-40B4-BE49-F238E27FC236}">
                <a16:creationId xmlns:a16="http://schemas.microsoft.com/office/drawing/2014/main" id="{A479FFBB-F0DD-4801-8DEF-DE910BBADA16}"/>
              </a:ext>
            </a:extLst>
          </p:cNvPr>
          <p:cNvSpPr>
            <a:spLocks noGrp="1"/>
          </p:cNvSpPr>
          <p:nvPr/>
        </p:nvSpPr>
        <p:spPr>
          <a:xfrm>
            <a:off x="1466850" y="4133850"/>
            <a:ext cx="7905750" cy="419100"/>
          </a:xfrm>
          <a:prstGeom prst="rect">
            <a:avLst/>
          </a:prstGeom>
          <a:noFill/>
          <a:ln w="0">
            <a:noFill/>
          </a:ln>
        </p:spPr>
        <p:txBody>
          <a:bodyPr anchor="t">
            <a:normAutofit/>
          </a:bodyPr>
          <a:lstStyle/>
          <a:p>
            <a:pPr algn="l">
              <a:buNone/>
              <a:defRPr sz="1125" b="0">
                <a:solidFill>
                  <a:srgbClr val="64736C"/>
                </a:solidFill>
                <a:latin typeface="Arial"/>
                <a:ea typeface="Arial"/>
                <a:cs typeface="Arial"/>
              </a:defRPr>
            </a:pPr>
            <a:r>
              <a:rPr sz="1125" b="0">
                <a:solidFill>
                  <a:srgbClr val="64736C"/>
                </a:solidFill>
                <a:latin typeface="Arial"/>
                <a:ea typeface="Arial"/>
                <a:cs typeface="Arial"/>
              </a:rPr>
              <a:t>Wireframe dipetakan dulu ke hierarchy, lalu peta itu menjadi kontrak implementasi FMX.</a:t>
            </a:r>
          </a:p>
        </p:txBody>
      </p:sp>
      <p:sp>
        <p:nvSpPr>
          <p:cNvPr id="16" name="Straight Connector 15">
            <a:extLst>
              <a:ext uri="{FF2B5EF4-FFF2-40B4-BE49-F238E27FC236}">
                <a16:creationId xmlns:a16="http://schemas.microsoft.com/office/drawing/2014/main" id="{DFAF62A7-DB5A-4466-B410-E7BB37C48254}"/>
              </a:ext>
            </a:extLst>
          </p:cNvPr>
          <p:cNvSpPr>
            <a:spLocks noGrp="1"/>
          </p:cNvSpPr>
          <p:nvPr/>
        </p:nvSpPr>
        <p:spPr>
          <a:xfrm>
            <a:off x="685800" y="4676775"/>
            <a:ext cx="9906000" cy="0"/>
          </a:xfrm>
          <a:prstGeom prst="line">
            <a:avLst/>
          </a:prstGeom>
          <a:noFill/>
          <a:ln w="11430">
            <a:solidFill>
              <a:srgbClr val="DCE5E0"/>
            </a:solidFill>
          </a:ln>
        </p:spPr>
      </p:sp>
      <p:sp>
        <p:nvSpPr>
          <p:cNvPr id="17" name="Rectangle 16">
            <a:extLst>
              <a:ext uri="{FF2B5EF4-FFF2-40B4-BE49-F238E27FC236}">
                <a16:creationId xmlns:a16="http://schemas.microsoft.com/office/drawing/2014/main" id="{1403CCB3-DE82-467B-9B21-31B98F5A6BD1}"/>
              </a:ext>
            </a:extLst>
          </p:cNvPr>
          <p:cNvSpPr>
            <a:spLocks noGrp="1"/>
          </p:cNvSpPr>
          <p:nvPr/>
        </p:nvSpPr>
        <p:spPr>
          <a:xfrm>
            <a:off x="685800" y="4838700"/>
            <a:ext cx="514350" cy="304800"/>
          </a:xfrm>
          <a:prstGeom prst="rect">
            <a:avLst/>
          </a:prstGeom>
          <a:noFill/>
          <a:ln w="0">
            <a:noFill/>
          </a:ln>
        </p:spPr>
        <p:txBody>
          <a:bodyPr anchor="t">
            <a:normAutofit fontScale="92348" lnSpcReduction="10000"/>
          </a:bodyPr>
          <a:lstStyle/>
          <a:p>
            <a:pPr algn="l">
              <a:buNone/>
              <a:defRPr sz="1650" b="1">
                <a:solidFill>
                  <a:srgbClr val="1F6F54"/>
                </a:solidFill>
                <a:latin typeface="Arial"/>
                <a:ea typeface="Arial"/>
                <a:cs typeface="Arial"/>
              </a:defRPr>
            </a:pPr>
            <a:r>
              <a:rPr sz="1650" b="1">
                <a:solidFill>
                  <a:srgbClr val="1F6F54"/>
                </a:solidFill>
                <a:latin typeface="Arial"/>
                <a:ea typeface="Arial"/>
                <a:cs typeface="Arial"/>
              </a:rPr>
              <a:t>04</a:t>
            </a:r>
          </a:p>
        </p:txBody>
      </p:sp>
      <p:sp>
        <p:nvSpPr>
          <p:cNvPr id="18" name="Rectangle 17">
            <a:extLst>
              <a:ext uri="{FF2B5EF4-FFF2-40B4-BE49-F238E27FC236}">
                <a16:creationId xmlns:a16="http://schemas.microsoft.com/office/drawing/2014/main" id="{E75E50E2-D748-4ECA-A773-1207C8A6A6A1}"/>
              </a:ext>
            </a:extLst>
          </p:cNvPr>
          <p:cNvSpPr>
            <a:spLocks noGrp="1"/>
          </p:cNvSpPr>
          <p:nvPr/>
        </p:nvSpPr>
        <p:spPr>
          <a:xfrm>
            <a:off x="1466850" y="4838700"/>
            <a:ext cx="4762500" cy="304800"/>
          </a:xfrm>
          <a:prstGeom prst="rect">
            <a:avLst/>
          </a:prstGeom>
          <a:noFill/>
          <a:ln w="0">
            <a:noFill/>
          </a:ln>
        </p:spPr>
        <p:txBody>
          <a:bodyPr anchor="t">
            <a:normAutofit fontScale="96389" lnSpcReduction="10000"/>
          </a:bodyPr>
          <a:lstStyle/>
          <a:p>
            <a:pPr algn="l">
              <a:buNone/>
              <a:defRPr sz="1575" b="1">
                <a:solidFill>
                  <a:srgbClr val="172820"/>
                </a:solidFill>
                <a:latin typeface="Arial"/>
                <a:ea typeface="Arial"/>
                <a:cs typeface="Arial"/>
              </a:defRPr>
            </a:pPr>
            <a:r>
              <a:rPr sz="1575" b="1">
                <a:solidFill>
                  <a:srgbClr val="172820"/>
                </a:solidFill>
                <a:latin typeface="Arial"/>
                <a:ea typeface="Arial"/>
                <a:cs typeface="Arial"/>
              </a:rPr>
              <a:t>Agent → HTML → html-to-fmx</a:t>
            </a:r>
          </a:p>
        </p:txBody>
      </p:sp>
      <p:sp>
        <p:nvSpPr>
          <p:cNvPr id="19" name="Rectangle 18">
            <a:extLst>
              <a:ext uri="{FF2B5EF4-FFF2-40B4-BE49-F238E27FC236}">
                <a16:creationId xmlns:a16="http://schemas.microsoft.com/office/drawing/2014/main" id="{DA4B40DE-9510-4F0F-8D79-4155D35ADF1D}"/>
              </a:ext>
            </a:extLst>
          </p:cNvPr>
          <p:cNvSpPr>
            <a:spLocks noGrp="1"/>
          </p:cNvSpPr>
          <p:nvPr/>
        </p:nvSpPr>
        <p:spPr>
          <a:xfrm>
            <a:off x="1466850" y="5200650"/>
            <a:ext cx="7905750" cy="419100"/>
          </a:xfrm>
          <a:prstGeom prst="rect">
            <a:avLst/>
          </a:prstGeom>
          <a:noFill/>
          <a:ln w="0">
            <a:noFill/>
          </a:ln>
        </p:spPr>
        <p:txBody>
          <a:bodyPr anchor="t">
            <a:normAutofit/>
          </a:bodyPr>
          <a:lstStyle/>
          <a:p>
            <a:pPr algn="l">
              <a:buNone/>
              <a:defRPr sz="1125" b="0">
                <a:solidFill>
                  <a:srgbClr val="64736C"/>
                </a:solidFill>
                <a:latin typeface="Arial"/>
                <a:ea typeface="Arial"/>
                <a:cs typeface="Arial"/>
              </a:defRPr>
            </a:pPr>
            <a:r>
              <a:rPr sz="1125" b="0">
                <a:solidFill>
                  <a:srgbClr val="64736C"/>
                </a:solidFill>
                <a:latin typeface="Arial"/>
                <a:ea typeface="Arial"/>
                <a:cs typeface="Arial"/>
              </a:rPr>
              <a:t>Agent menulis HTML dari wireframe, kemudian workflow HTML menerjemahkannya ke FMX.</a:t>
            </a:r>
          </a:p>
        </p:txBody>
      </p:sp>
      <p:sp>
        <p:nvSpPr>
          <p:cNvPr id="20" name="Straight Connector 19">
            <a:extLst>
              <a:ext uri="{FF2B5EF4-FFF2-40B4-BE49-F238E27FC236}">
                <a16:creationId xmlns:a16="http://schemas.microsoft.com/office/drawing/2014/main" id="{E8F936FF-C313-41C2-9FDB-3C08A9A8C215}"/>
              </a:ext>
            </a:extLst>
          </p:cNvPr>
          <p:cNvSpPr>
            <a:spLocks noGrp="1"/>
          </p:cNvSpPr>
          <p:nvPr/>
        </p:nvSpPr>
        <p:spPr>
          <a:xfrm>
            <a:off x="685800" y="5743575"/>
            <a:ext cx="9906000" cy="0"/>
          </a:xfrm>
          <a:prstGeom prst="line">
            <a:avLst/>
          </a:prstGeom>
          <a:noFill/>
          <a:ln w="11430">
            <a:solidFill>
              <a:srgbClr val="DCE5E0"/>
            </a:solidFill>
          </a:ln>
        </p:spPr>
      </p:sp>
      <p:sp>
        <p:nvSpPr>
          <p:cNvPr id="21" name="Rectangle 20">
            <a:extLst>
              <a:ext uri="{FF2B5EF4-FFF2-40B4-BE49-F238E27FC236}">
                <a16:creationId xmlns:a16="http://schemas.microsoft.com/office/drawing/2014/main" id="{2908869A-E8C6-46D7-936F-A3BAC152165E}"/>
              </a:ext>
            </a:extLst>
          </p:cNvPr>
          <p:cNvSpPr>
            <a:spLocks noGrp="1"/>
          </p:cNvSpPr>
          <p:nvPr/>
        </p:nvSpPr>
        <p:spPr>
          <a:xfrm>
            <a:off x="685800" y="6057900"/>
            <a:ext cx="4095750" cy="190500"/>
          </a:xfrm>
          <a:prstGeom prst="rect">
            <a:avLst/>
          </a:prstGeom>
          <a:noFill/>
          <a:ln w="0">
            <a:noFill/>
          </a:ln>
        </p:spPr>
        <p:txBody>
          <a:bodyPr anchor="t">
            <a:normAutofit fontScale="61905" lnSpcReduction="10000"/>
          </a:bodyPr>
          <a:lstStyle/>
          <a:p>
            <a:pPr algn="l">
              <a:buNone/>
              <a:defRPr sz="1050" b="1">
                <a:solidFill>
                  <a:srgbClr val="64736C"/>
                </a:solidFill>
                <a:latin typeface="Arial"/>
                <a:ea typeface="Arial"/>
                <a:cs typeface="Arial"/>
              </a:defRPr>
            </a:pPr>
            <a:r>
              <a:rPr sz="1050" b="1">
                <a:solidFill>
                  <a:srgbClr val="64736C"/>
                </a:solidFill>
                <a:latin typeface="Arial"/>
                <a:ea typeface="Arial"/>
                <a:cs typeface="Arial"/>
              </a:rPr>
              <a:t>Model agent: GPT-6.1 Sol High</a:t>
            </a:r>
          </a:p>
        </p:txBody>
      </p:sp>
    </p:spTree>
    <p:extLst>
      <p:ext uri="{BB962C8B-B14F-4D97-AF65-F5344CB8AC3E}">
        <p14:creationId xmlns:p14="http://schemas.microsoft.com/office/powerpoint/2010/main" val="13967032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Persiapan dan deskripsi wireframe">
            <a:extLst>
              <a:ext uri="{FF2B5EF4-FFF2-40B4-BE49-F238E27FC236}">
                <a16:creationId xmlns:a16="http://schemas.microsoft.com/office/drawing/2014/main" id="{B0210CBB-547B-4169-AB14-FD5D76863815}"/>
              </a:ext>
            </a:extLst>
          </p:cNvPr>
          <p:cNvSpPr>
            <a:spLocks noGrp="1"/>
          </p:cNvSpPr>
          <p:nvPr/>
        </p:nvSpPr>
        <p:spPr>
          <a:xfrm>
            <a:off x="609600" y="381000"/>
            <a:ext cx="10934700" cy="548640"/>
          </a:xfrm>
          <a:prstGeom prst="rect">
            <a:avLst/>
          </a:prstGeom>
          <a:noFill/>
          <a:ln w="0">
            <a:noFill/>
          </a:ln>
        </p:spPr>
        <p:txBody>
          <a:bodyPr anchor="t">
            <a:noAutofit/>
          </a:bodyPr>
          <a:lstStyle/>
          <a:p>
            <a:pPr>
              <a:defRPr sz="2880" b="1">
                <a:solidFill>
                  <a:srgbClr val="172820"/>
                </a:solidFill>
                <a:latin typeface="Arial"/>
                <a:ea typeface="Arial"/>
                <a:cs typeface="Arial"/>
              </a:defRPr>
            </a:pPr>
            <a:r>
              <a:rPr sz="2880" b="1">
                <a:solidFill>
                  <a:srgbClr val="172820"/>
                </a:solidFill>
                <a:latin typeface="Arial"/>
                <a:ea typeface="Arial"/>
                <a:cs typeface="Arial"/>
              </a:rPr>
              <a:t>Persiapan dan deskripsi wireframe</a:t>
            </a:r>
          </a:p>
        </p:txBody>
      </p:sp>
      <p:sp>
        <p:nvSpPr>
          <p:cNvPr id="2" name="Gunakan brief yang sama pada keempat metode">
            <a:extLst>
              <a:ext uri="{FF2B5EF4-FFF2-40B4-BE49-F238E27FC236}">
                <a16:creationId xmlns:a16="http://schemas.microsoft.com/office/drawing/2014/main" id="{FB21E8B0-918E-4B04-B797-D0AF22574125}"/>
              </a:ext>
            </a:extLst>
          </p:cNvPr>
          <p:cNvSpPr>
            <a:spLocks noGrp="1"/>
          </p:cNvSpPr>
          <p:nvPr/>
        </p:nvSpPr>
        <p:spPr>
          <a:xfrm>
            <a:off x="609600" y="990600"/>
            <a:ext cx="10744200" cy="441960"/>
          </a:xfrm>
          <a:prstGeom prst="rect">
            <a:avLst/>
          </a:prstGeom>
          <a:noFill/>
          <a:ln w="0">
            <a:noFill/>
          </a:ln>
        </p:spPr>
        <p:txBody>
          <a:bodyPr anchor="t">
            <a:noAutofit/>
          </a:bodyPr>
          <a:lstStyle/>
          <a:p>
            <a:pPr>
              <a:defRPr sz="1500" b="0">
                <a:solidFill>
                  <a:srgbClr val="64736C"/>
                </a:solidFill>
                <a:latin typeface="Arial"/>
                <a:ea typeface="Arial"/>
                <a:cs typeface="Arial"/>
              </a:defRPr>
            </a:pPr>
            <a:r>
              <a:rPr sz="1500" b="0">
                <a:solidFill>
                  <a:srgbClr val="64736C"/>
                </a:solidFill>
                <a:latin typeface="Arial"/>
                <a:ea typeface="Arial"/>
                <a:cs typeface="Arial"/>
              </a:rPr>
              <a:t>Gunakan brief yang sama pada keempat metode</a:t>
            </a:r>
          </a:p>
        </p:txBody>
      </p:sp>
      <p:sp>
        <p:nvSpPr>
          <p:cNvPr id="3" name="HTML-FMX · Healthcare wireframe case study">
            <a:extLst>
              <a:ext uri="{FF2B5EF4-FFF2-40B4-BE49-F238E27FC236}">
                <a16:creationId xmlns:a16="http://schemas.microsoft.com/office/drawing/2014/main" id="{A129F99C-C18F-47D6-BC58-6130A70FB5B9}"/>
              </a:ext>
            </a:extLst>
          </p:cNvPr>
          <p:cNvSpPr>
            <a:spLocks noGrp="1"/>
          </p:cNvSpPr>
          <p:nvPr/>
        </p:nvSpPr>
        <p:spPr>
          <a:xfrm>
            <a:off x="609600" y="6537960"/>
            <a:ext cx="6858000" cy="167640"/>
          </a:xfrm>
          <a:prstGeom prst="rect">
            <a:avLst/>
          </a:prstGeom>
          <a:noFill/>
          <a:ln w="0">
            <a:noFill/>
          </a:ln>
        </p:spPr>
        <p:txBody>
          <a:bodyPr anchor="t">
            <a:noAutofit/>
          </a:bodyPr>
          <a:lstStyle/>
          <a:p>
            <a:pPr>
              <a:defRPr sz="960" b="0">
                <a:solidFill>
                  <a:srgbClr val="64736C"/>
                </a:solidFill>
                <a:latin typeface="Arial"/>
                <a:ea typeface="Arial"/>
                <a:cs typeface="Arial"/>
              </a:defRPr>
            </a:pPr>
            <a:r>
              <a:rPr sz="960" b="0">
                <a:solidFill>
                  <a:srgbClr val="64736C"/>
                </a:solidFill>
                <a:latin typeface="Arial"/>
                <a:ea typeface="Arial"/>
                <a:cs typeface="Arial"/>
              </a:rPr>
              <a:t>HTML-FMX · Healthcare wireframe case study</a:t>
            </a:r>
          </a:p>
        </p:txBody>
      </p:sp>
      <p:sp>
        <p:nvSpPr>
          <p:cNvPr id="4" name="06">
            <a:extLst>
              <a:ext uri="{FF2B5EF4-FFF2-40B4-BE49-F238E27FC236}">
                <a16:creationId xmlns:a16="http://schemas.microsoft.com/office/drawing/2014/main" id="{FF97CDBD-CFBC-4190-8869-DE89EBE016FD}"/>
              </a:ext>
            </a:extLst>
          </p:cNvPr>
          <p:cNvSpPr>
            <a:spLocks noGrp="1"/>
          </p:cNvSpPr>
          <p:nvPr/>
        </p:nvSpPr>
        <p:spPr>
          <a:xfrm>
            <a:off x="11201400" y="6515100"/>
            <a:ext cx="419100" cy="182880"/>
          </a:xfrm>
          <a:prstGeom prst="rect">
            <a:avLst/>
          </a:prstGeom>
          <a:noFill/>
          <a:ln w="0">
            <a:noFill/>
          </a:ln>
        </p:spPr>
        <p:txBody>
          <a:bodyPr anchor="t">
            <a:noAutofit/>
          </a:bodyPr>
          <a:lstStyle/>
          <a:p>
            <a:pPr>
              <a:defRPr sz="1080" b="0">
                <a:solidFill>
                  <a:srgbClr val="64736C"/>
                </a:solidFill>
                <a:latin typeface="Arial"/>
                <a:ea typeface="Arial"/>
                <a:cs typeface="Arial"/>
              </a:defRPr>
            </a:pPr>
            <a:r>
              <a:rPr sz="1080" b="0">
                <a:solidFill>
                  <a:srgbClr val="64736C"/>
                </a:solidFill>
                <a:latin typeface="Arial"/>
                <a:ea typeface="Arial"/>
                <a:cs typeface="Arial"/>
              </a:rPr>
              <a:t>06</a:t>
            </a:r>
          </a:p>
        </p:txBody>
      </p:sp>
      <p:sp>
        <p:nvSpPr>
          <p:cNvPr id="5" name="Brief Healthcare Appointment App">
            <a:extLst>
              <a:ext uri="{FF2B5EF4-FFF2-40B4-BE49-F238E27FC236}">
                <a16:creationId xmlns:a16="http://schemas.microsoft.com/office/drawing/2014/main" id="{DC59F899-94AC-43E4-849B-ACCCC989CED3}"/>
              </a:ext>
            </a:extLst>
          </p:cNvPr>
          <p:cNvSpPr>
            <a:spLocks noGrp="1"/>
          </p:cNvSpPr>
          <p:nvPr/>
        </p:nvSpPr>
        <p:spPr>
          <a:xfrm>
            <a:off x="609600" y="1714500"/>
            <a:ext cx="6705600" cy="381000"/>
          </a:xfrm>
          <a:prstGeom prst="rect">
            <a:avLst/>
          </a:prstGeom>
          <a:noFill/>
          <a:ln w="0">
            <a:noFill/>
          </a:ln>
        </p:spPr>
        <p:txBody>
          <a:bodyPr anchor="t">
            <a:noAutofit/>
          </a:bodyPr>
          <a:lstStyle/>
          <a:p>
            <a:pPr>
              <a:defRPr sz="2040" b="1">
                <a:solidFill>
                  <a:srgbClr val="1F6F54"/>
                </a:solidFill>
                <a:latin typeface="Arial"/>
                <a:ea typeface="Arial"/>
                <a:cs typeface="Arial"/>
              </a:defRPr>
            </a:pPr>
            <a:r>
              <a:rPr sz="2040" b="1">
                <a:solidFill>
                  <a:srgbClr val="1F6F54"/>
                </a:solidFill>
                <a:latin typeface="Arial"/>
                <a:ea typeface="Arial"/>
                <a:cs typeface="Arial"/>
              </a:rPr>
              <a:t>Brief Healthcare Appointment App</a:t>
            </a:r>
          </a:p>
        </p:txBody>
      </p:sp>
      <p:sp>
        <p:nvSpPr>
          <p:cNvPr id="6" name="Buat UI aplikasi mobile healthcare untuk pasien. Aplikasi me">
            <a:extLst>
              <a:ext uri="{FF2B5EF4-FFF2-40B4-BE49-F238E27FC236}">
                <a16:creationId xmlns:a16="http://schemas.microsoft.com/office/drawing/2014/main" id="{789924EC-CCC2-4DFB-9630-72DFD7D0A4D1}"/>
              </a:ext>
            </a:extLst>
          </p:cNvPr>
          <p:cNvSpPr>
            <a:spLocks noGrp="1"/>
          </p:cNvSpPr>
          <p:nvPr/>
        </p:nvSpPr>
        <p:spPr>
          <a:xfrm>
            <a:off x="609600" y="2286000"/>
            <a:ext cx="6667500" cy="2933700"/>
          </a:xfrm>
          <a:prstGeom prst="rect">
            <a:avLst/>
          </a:prstGeom>
          <a:noFill/>
          <a:ln w="0">
            <a:noFill/>
          </a:ln>
        </p:spPr>
        <p:txBody>
          <a:bodyPr anchor="t">
            <a:noAutofit/>
          </a:bodyPr>
          <a:lstStyle/>
          <a:p>
            <a:pPr>
              <a:defRPr sz="1680" b="0">
                <a:solidFill>
                  <a:srgbClr val="172820"/>
                </a:solidFill>
                <a:latin typeface="Arial"/>
                <a:ea typeface="Arial"/>
                <a:cs typeface="Arial"/>
              </a:defRPr>
            </a:pPr>
            <a:r>
              <a:rPr sz="1680" b="0">
                <a:solidFill>
                  <a:srgbClr val="172820"/>
                </a:solidFill>
                <a:latin typeface="Arial"/>
                <a:ea typeface="Arial"/>
                <a:cs typeface="Arial"/>
              </a:rPr>
              <a:t>Buat UI aplikasi mobile healthcare untuk pasien. Aplikasi membantu pasien mencari dokter, melihat jadwal konsultasi mendatang, memilih dokter sesuai kebutuhan kesehatan, serta berkomunikasi dengan penyedia layanan.</a:t>
            </a:r>
          </a:p>
          <a:p>
            <a:endParaRPr sz="1680" b="0">
              <a:solidFill>
                <a:srgbClr val="172820"/>
              </a:solidFill>
              <a:latin typeface="Arial"/>
              <a:ea typeface="Arial"/>
              <a:cs typeface="Arial"/>
            </a:endParaRPr>
          </a:p>
          <a:p>
            <a:pPr>
              <a:defRPr sz="1680" b="0">
                <a:solidFill>
                  <a:srgbClr val="172820"/>
                </a:solidFill>
                <a:latin typeface="Arial"/>
                <a:ea typeface="Arial"/>
                <a:cs typeface="Arial"/>
              </a:defRPr>
            </a:pPr>
            <a:r>
              <a:rPr sz="1680" b="0">
                <a:solidFill>
                  <a:srgbClr val="172820"/>
                </a:solidFill>
                <a:latin typeface="Arial"/>
                <a:ea typeface="Arial"/>
                <a:cs typeface="Arial"/>
              </a:rPr>
              <a:t>Ikuti susunan wireframe: pencarian dokter atau keluhan, kategori kesehatan, upcoming appointment, daftar dokter populer, dan navigasi bawah ke pesan serta profil. Gunakan tampilan modern dan sederhana.</a:t>
            </a:r>
          </a:p>
        </p:txBody>
      </p:sp>
      <p:sp>
        <p:nvSpPr>
          <p:cNvPr id="7" name="Sebelum menjalankan prompt">
            <a:extLst>
              <a:ext uri="{FF2B5EF4-FFF2-40B4-BE49-F238E27FC236}">
                <a16:creationId xmlns:a16="http://schemas.microsoft.com/office/drawing/2014/main" id="{43391FF8-6E81-45A2-B281-9754B91811D0}"/>
              </a:ext>
            </a:extLst>
          </p:cNvPr>
          <p:cNvSpPr>
            <a:spLocks noGrp="1"/>
          </p:cNvSpPr>
          <p:nvPr/>
        </p:nvSpPr>
        <p:spPr>
          <a:xfrm>
            <a:off x="7772400" y="1714500"/>
            <a:ext cx="3733800" cy="670560"/>
          </a:xfrm>
          <a:prstGeom prst="rect">
            <a:avLst/>
          </a:prstGeom>
          <a:noFill/>
          <a:ln w="0">
            <a:noFill/>
          </a:ln>
        </p:spPr>
        <p:txBody>
          <a:bodyPr anchor="t">
            <a:noAutofit/>
          </a:bodyPr>
          <a:lstStyle/>
          <a:p>
            <a:pPr>
              <a:defRPr sz="2040" b="1">
                <a:solidFill>
                  <a:srgbClr val="1F6F54"/>
                </a:solidFill>
                <a:latin typeface="Arial"/>
                <a:ea typeface="Arial"/>
                <a:cs typeface="Arial"/>
              </a:defRPr>
            </a:pPr>
            <a:r>
              <a:rPr sz="2040" b="1">
                <a:solidFill>
                  <a:srgbClr val="1F6F54"/>
                </a:solidFill>
                <a:latin typeface="Arial"/>
                <a:ea typeface="Arial"/>
                <a:cs typeface="Arial"/>
              </a:rPr>
              <a:t>Sebelum menjalankan prompt</a:t>
            </a:r>
          </a:p>
        </p:txBody>
      </p:sp>
      <p:sp>
        <p:nvSpPr>
          <p:cNvPr id="8" name="1. Buka proyek Delphi FMX dan siapkan skill.&#10;2. Berikan wire">
            <a:extLst>
              <a:ext uri="{FF2B5EF4-FFF2-40B4-BE49-F238E27FC236}">
                <a16:creationId xmlns:a16="http://schemas.microsoft.com/office/drawing/2014/main" id="{E1E0C70E-F54D-4BF3-B2B4-1D4992475963}"/>
              </a:ext>
            </a:extLst>
          </p:cNvPr>
          <p:cNvSpPr>
            <a:spLocks noGrp="1"/>
          </p:cNvSpPr>
          <p:nvPr/>
        </p:nvSpPr>
        <p:spPr>
          <a:xfrm>
            <a:off x="7772400" y="2514600"/>
            <a:ext cx="3733800" cy="2971800"/>
          </a:xfrm>
          <a:prstGeom prst="rect">
            <a:avLst/>
          </a:prstGeom>
          <a:noFill/>
          <a:ln w="0">
            <a:noFill/>
          </a:ln>
        </p:spPr>
        <p:txBody>
          <a:bodyPr anchor="t">
            <a:noAutofit/>
          </a:bodyPr>
          <a:lstStyle/>
          <a:p>
            <a:pPr>
              <a:defRPr sz="1680" b="0">
                <a:solidFill>
                  <a:srgbClr val="172820"/>
                </a:solidFill>
                <a:latin typeface="Arial"/>
                <a:ea typeface="Arial"/>
                <a:cs typeface="Arial"/>
              </a:defRPr>
            </a:pPr>
            <a:r>
              <a:rPr sz="1680" b="0">
                <a:solidFill>
                  <a:srgbClr val="172820"/>
                </a:solidFill>
                <a:latin typeface="Arial"/>
                <a:ea typeface="Arial"/>
                <a:cs typeface="Arial"/>
              </a:rPr>
              <a:t>1. Buka proyek Delphi FMX dan siapkan skill.</a:t>
            </a:r>
          </a:p>
          <a:p>
            <a:pPr>
              <a:defRPr sz="1680" b="0">
                <a:solidFill>
                  <a:srgbClr val="172820"/>
                </a:solidFill>
                <a:latin typeface="Arial"/>
                <a:ea typeface="Arial"/>
                <a:cs typeface="Arial"/>
              </a:defRPr>
            </a:pPr>
            <a:r>
              <a:rPr sz="1680" b="0">
                <a:solidFill>
                  <a:srgbClr val="172820"/>
                </a:solidFill>
                <a:latin typeface="Arial"/>
                <a:ea typeface="Arial"/>
                <a:cs typeface="Arial"/>
              </a:rPr>
              <a:t>2. Berikan wireframe.png dan brief ini ke agent.</a:t>
            </a:r>
          </a:p>
          <a:p>
            <a:pPr>
              <a:defRPr sz="1680" b="0">
                <a:solidFill>
                  <a:srgbClr val="172820"/>
                </a:solidFill>
                <a:latin typeface="Arial"/>
                <a:ea typeface="Arial"/>
                <a:cs typeface="Arial"/>
              </a:defRPr>
            </a:pPr>
            <a:r>
              <a:rPr sz="1680" b="0">
                <a:solidFill>
                  <a:srgbClr val="172820"/>
                </a:solidFill>
                <a:latin typeface="Arial"/>
                <a:ea typeface="Arial"/>
                <a:cs typeface="Arial"/>
              </a:rPr>
              <a:t>3. Pilih GPT-6.1 Sol dengan reasoning High.</a:t>
            </a:r>
          </a:p>
          <a:p>
            <a:pPr>
              <a:defRPr sz="1680" b="0">
                <a:solidFill>
                  <a:srgbClr val="172820"/>
                </a:solidFill>
                <a:latin typeface="Arial"/>
                <a:ea typeface="Arial"/>
                <a:cs typeface="Arial"/>
              </a:defRPr>
            </a:pPr>
            <a:r>
              <a:rPr sz="1680" b="0">
                <a:solidFill>
                  <a:srgbClr val="172820"/>
                </a:solidFill>
                <a:latin typeface="Arial"/>
                <a:ea typeface="Arial"/>
                <a:cs typeface="Arial"/>
              </a:rPr>
              <a:t>4. Pilih satu metode, lalu lanjutkan prompt data dummy.</a:t>
            </a:r>
          </a:p>
        </p:txBody>
      </p:sp>
      <p:sp>
        <p:nvSpPr>
          <p:cNvPr id="9" name="Wireframe: docs/result/VERSION.2.0.0/wireframe.png">
            <a:extLst>
              <a:ext uri="{FF2B5EF4-FFF2-40B4-BE49-F238E27FC236}">
                <a16:creationId xmlns:a16="http://schemas.microsoft.com/office/drawing/2014/main" id="{79D0340F-5DDB-4AC7-9CC7-2C1C2ABBAA2E}"/>
              </a:ext>
            </a:extLst>
          </p:cNvPr>
          <p:cNvSpPr>
            <a:spLocks noGrp="1"/>
          </p:cNvSpPr>
          <p:nvPr/>
        </p:nvSpPr>
        <p:spPr>
          <a:xfrm>
            <a:off x="609600" y="5699760"/>
            <a:ext cx="10858500" cy="320040"/>
          </a:xfrm>
          <a:prstGeom prst="rect">
            <a:avLst/>
          </a:prstGeom>
          <a:noFill/>
          <a:ln w="0">
            <a:noFill/>
          </a:ln>
        </p:spPr>
        <p:txBody>
          <a:bodyPr anchor="t">
            <a:noAutofit/>
          </a:bodyPr>
          <a:lstStyle/>
          <a:p>
            <a:pPr>
              <a:defRPr sz="1500" b="0">
                <a:solidFill>
                  <a:srgbClr val="64736C"/>
                </a:solidFill>
                <a:latin typeface="Arial"/>
                <a:ea typeface="Arial"/>
                <a:cs typeface="Arial"/>
              </a:defRPr>
            </a:pPr>
            <a:r>
              <a:rPr sz="1500" b="0">
                <a:solidFill>
                  <a:srgbClr val="64736C"/>
                </a:solidFill>
                <a:latin typeface="Arial"/>
                <a:ea typeface="Arial"/>
                <a:cs typeface="Arial"/>
              </a:rPr>
              <a:t>Wireframe: docs/result/VERSION.2.0.0/wireframe.png</a:t>
            </a:r>
          </a:p>
        </p:txBody>
      </p:sp>
      <p:sp>
        <p:nvSpPr>
          <p:cNvPr id="10" name="Prompt panduan dirapikan dari brief dan alur percobaan autho">
            <a:extLst>
              <a:ext uri="{FF2B5EF4-FFF2-40B4-BE49-F238E27FC236}">
                <a16:creationId xmlns:a16="http://schemas.microsoft.com/office/drawing/2014/main" id="{94B2BFE3-D1C6-4141-9073-9A9310474704}"/>
              </a:ext>
            </a:extLst>
          </p:cNvPr>
          <p:cNvSpPr>
            <a:spLocks noGrp="1"/>
          </p:cNvSpPr>
          <p:nvPr/>
        </p:nvSpPr>
        <p:spPr>
          <a:xfrm>
            <a:off x="609600" y="6057900"/>
            <a:ext cx="10858500" cy="365760"/>
          </a:xfrm>
          <a:prstGeom prst="rect">
            <a:avLst/>
          </a:prstGeom>
          <a:noFill/>
          <a:ln w="0">
            <a:noFill/>
          </a:ln>
        </p:spPr>
        <p:txBody>
          <a:bodyPr anchor="t">
            <a:noAutofit/>
          </a:bodyPr>
          <a:lstStyle/>
          <a:p>
            <a:pPr>
              <a:defRPr sz="1500" b="1">
                <a:solidFill>
                  <a:srgbClr val="1F6F54"/>
                </a:solidFill>
                <a:latin typeface="Arial"/>
                <a:ea typeface="Arial"/>
                <a:cs typeface="Arial"/>
              </a:defRPr>
            </a:pPr>
            <a:r>
              <a:rPr sz="1500" b="1">
                <a:solidFill>
                  <a:srgbClr val="1F6F54"/>
                </a:solidFill>
                <a:latin typeface="Arial"/>
                <a:ea typeface="Arial"/>
                <a:cs typeface="Arial"/>
              </a:rPr>
              <a:t>Prompt panduan dirapikan dari brief dan alur percobaan author.</a:t>
            </a:r>
          </a:p>
        </p:txBody>
      </p:sp>
    </p:spTree>
    <p:extLst>
      <p:ext uri="{BB962C8B-B14F-4D97-AF65-F5344CB8AC3E}">
        <p14:creationId xmlns:p14="http://schemas.microsoft.com/office/powerpoint/2010/main" val="1638450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Prompt Metode 1: Google Stitch dan HTML">
            <a:extLst>
              <a:ext uri="{FF2B5EF4-FFF2-40B4-BE49-F238E27FC236}">
                <a16:creationId xmlns:a16="http://schemas.microsoft.com/office/drawing/2014/main" id="{C436D111-AD22-4508-BEDF-5C0A1A2894A2}"/>
              </a:ext>
            </a:extLst>
          </p:cNvPr>
          <p:cNvSpPr>
            <a:spLocks noGrp="1"/>
          </p:cNvSpPr>
          <p:nvPr/>
        </p:nvSpPr>
        <p:spPr>
          <a:xfrm>
            <a:off x="609600" y="381000"/>
            <a:ext cx="10934700" cy="548640"/>
          </a:xfrm>
          <a:prstGeom prst="rect">
            <a:avLst/>
          </a:prstGeom>
          <a:noFill/>
          <a:ln w="0">
            <a:noFill/>
          </a:ln>
        </p:spPr>
        <p:txBody>
          <a:bodyPr anchor="t">
            <a:noAutofit/>
          </a:bodyPr>
          <a:lstStyle/>
          <a:p>
            <a:pPr>
              <a:defRPr sz="2880" b="1">
                <a:solidFill>
                  <a:srgbClr val="172820"/>
                </a:solidFill>
                <a:latin typeface="Arial"/>
                <a:ea typeface="Arial"/>
                <a:cs typeface="Arial"/>
              </a:defRPr>
            </a:pPr>
            <a:r>
              <a:rPr sz="2880" b="1">
                <a:solidFill>
                  <a:srgbClr val="172820"/>
                </a:solidFill>
                <a:latin typeface="Arial"/>
                <a:ea typeface="Arial"/>
                <a:cs typeface="Arial"/>
              </a:rPr>
              <a:t>Prompt Metode 1: Google Stitch dan HTML</a:t>
            </a:r>
          </a:p>
        </p:txBody>
      </p:sp>
      <p:sp>
        <p:nvSpPr>
          <p:cNvPr id="2" name="Gunakan wireframe dan brief pada slide persiapan sebagai kon">
            <a:extLst>
              <a:ext uri="{FF2B5EF4-FFF2-40B4-BE49-F238E27FC236}">
                <a16:creationId xmlns:a16="http://schemas.microsoft.com/office/drawing/2014/main" id="{6BF4FA0C-B40F-4DF6-BD6D-A88BF46D2A38}"/>
              </a:ext>
            </a:extLst>
          </p:cNvPr>
          <p:cNvSpPr>
            <a:spLocks noGrp="1"/>
          </p:cNvSpPr>
          <p:nvPr/>
        </p:nvSpPr>
        <p:spPr>
          <a:xfrm>
            <a:off x="609600" y="990600"/>
            <a:ext cx="10744200" cy="441960"/>
          </a:xfrm>
          <a:prstGeom prst="rect">
            <a:avLst/>
          </a:prstGeom>
          <a:noFill/>
          <a:ln w="0">
            <a:noFill/>
          </a:ln>
        </p:spPr>
        <p:txBody>
          <a:bodyPr anchor="t">
            <a:noAutofit/>
          </a:bodyPr>
          <a:lstStyle/>
          <a:p>
            <a:pPr>
              <a:defRPr sz="1500" b="0">
                <a:solidFill>
                  <a:srgbClr val="64736C"/>
                </a:solidFill>
                <a:latin typeface="Arial"/>
                <a:ea typeface="Arial"/>
                <a:cs typeface="Arial"/>
              </a:defRPr>
            </a:pPr>
            <a:r>
              <a:rPr sz="1500" b="0">
                <a:solidFill>
                  <a:srgbClr val="64736C"/>
                </a:solidFill>
                <a:latin typeface="Arial"/>
                <a:ea typeface="Arial"/>
                <a:cs typeface="Arial"/>
              </a:rPr>
              <a:t>Gunakan wireframe dan brief pada slide persiapan sebagai konteks prompt</a:t>
            </a:r>
          </a:p>
        </p:txBody>
      </p:sp>
      <p:sp>
        <p:nvSpPr>
          <p:cNvPr id="3" name="HTML-FMX · Healthcare wireframe case study">
            <a:extLst>
              <a:ext uri="{FF2B5EF4-FFF2-40B4-BE49-F238E27FC236}">
                <a16:creationId xmlns:a16="http://schemas.microsoft.com/office/drawing/2014/main" id="{73125667-7D09-42F4-89FE-6A3BA904E5C0}"/>
              </a:ext>
            </a:extLst>
          </p:cNvPr>
          <p:cNvSpPr>
            <a:spLocks noGrp="1"/>
          </p:cNvSpPr>
          <p:nvPr/>
        </p:nvSpPr>
        <p:spPr>
          <a:xfrm>
            <a:off x="609600" y="6537960"/>
            <a:ext cx="6858000" cy="167640"/>
          </a:xfrm>
          <a:prstGeom prst="rect">
            <a:avLst/>
          </a:prstGeom>
          <a:noFill/>
          <a:ln w="0">
            <a:noFill/>
          </a:ln>
        </p:spPr>
        <p:txBody>
          <a:bodyPr anchor="t">
            <a:noAutofit/>
          </a:bodyPr>
          <a:lstStyle/>
          <a:p>
            <a:pPr>
              <a:defRPr sz="960" b="0">
                <a:solidFill>
                  <a:srgbClr val="64736C"/>
                </a:solidFill>
                <a:latin typeface="Arial"/>
                <a:ea typeface="Arial"/>
                <a:cs typeface="Arial"/>
              </a:defRPr>
            </a:pPr>
            <a:r>
              <a:rPr sz="960" b="0">
                <a:solidFill>
                  <a:srgbClr val="64736C"/>
                </a:solidFill>
                <a:latin typeface="Arial"/>
                <a:ea typeface="Arial"/>
                <a:cs typeface="Arial"/>
              </a:rPr>
              <a:t>HTML-FMX · Healthcare wireframe case study</a:t>
            </a:r>
          </a:p>
        </p:txBody>
      </p:sp>
      <p:sp>
        <p:nvSpPr>
          <p:cNvPr id="4" name="07">
            <a:extLst>
              <a:ext uri="{FF2B5EF4-FFF2-40B4-BE49-F238E27FC236}">
                <a16:creationId xmlns:a16="http://schemas.microsoft.com/office/drawing/2014/main" id="{48FDDC4C-A1E4-4808-BEA7-3E96E6B7E7A6}"/>
              </a:ext>
            </a:extLst>
          </p:cNvPr>
          <p:cNvSpPr>
            <a:spLocks noGrp="1"/>
          </p:cNvSpPr>
          <p:nvPr/>
        </p:nvSpPr>
        <p:spPr>
          <a:xfrm>
            <a:off x="11201400" y="6515100"/>
            <a:ext cx="419100" cy="182880"/>
          </a:xfrm>
          <a:prstGeom prst="rect">
            <a:avLst/>
          </a:prstGeom>
          <a:noFill/>
          <a:ln w="0">
            <a:noFill/>
          </a:ln>
        </p:spPr>
        <p:txBody>
          <a:bodyPr anchor="t">
            <a:noAutofit/>
          </a:bodyPr>
          <a:lstStyle/>
          <a:p>
            <a:pPr>
              <a:defRPr sz="1080" b="0">
                <a:solidFill>
                  <a:srgbClr val="64736C"/>
                </a:solidFill>
                <a:latin typeface="Arial"/>
                <a:ea typeface="Arial"/>
                <a:cs typeface="Arial"/>
              </a:defRPr>
            </a:pPr>
            <a:r>
              <a:rPr sz="1080" b="0">
                <a:solidFill>
                  <a:srgbClr val="64736C"/>
                </a:solidFill>
                <a:latin typeface="Arial"/>
                <a:ea typeface="Arial"/>
                <a:cs typeface="Arial"/>
              </a:rPr>
              <a:t>07</a:t>
            </a:r>
          </a:p>
        </p:txBody>
      </p:sp>
      <p:sp>
        <p:nvSpPr>
          <p:cNvPr id="5" name="1. Buat desain melalui MCP Google Stitch">
            <a:extLst>
              <a:ext uri="{FF2B5EF4-FFF2-40B4-BE49-F238E27FC236}">
                <a16:creationId xmlns:a16="http://schemas.microsoft.com/office/drawing/2014/main" id="{7F6BFC96-94B5-402C-A67A-4BE316BB9D8F}"/>
              </a:ext>
            </a:extLst>
          </p:cNvPr>
          <p:cNvSpPr>
            <a:spLocks noGrp="1"/>
          </p:cNvSpPr>
          <p:nvPr/>
        </p:nvSpPr>
        <p:spPr>
          <a:xfrm>
            <a:off x="609600" y="1714500"/>
            <a:ext cx="5067300" cy="853440"/>
          </a:xfrm>
          <a:prstGeom prst="rect">
            <a:avLst/>
          </a:prstGeom>
          <a:noFill/>
          <a:ln w="0">
            <a:noFill/>
          </a:ln>
        </p:spPr>
        <p:txBody>
          <a:bodyPr anchor="t">
            <a:noAutofit/>
          </a:bodyPr>
          <a:lstStyle/>
          <a:p>
            <a:pPr>
              <a:defRPr sz="2040" b="1">
                <a:solidFill>
                  <a:srgbClr val="1F6F54"/>
                </a:solidFill>
                <a:latin typeface="Arial"/>
                <a:ea typeface="Arial"/>
                <a:cs typeface="Arial"/>
              </a:defRPr>
            </a:pPr>
            <a:r>
              <a:rPr sz="2040" b="1">
                <a:solidFill>
                  <a:srgbClr val="1F6F54"/>
                </a:solidFill>
                <a:latin typeface="Arial"/>
                <a:ea typeface="Arial"/>
                <a:cs typeface="Arial"/>
              </a:rPr>
              <a:t>1. Buat desain melalui MCP Google Stitch</a:t>
            </a:r>
          </a:p>
        </p:txBody>
      </p:sp>
      <p:sp>
        <p:nvSpPr>
          <p:cNvPr id="6" name="Gunakan MCP Google Stitch untuk membuat UI Healthcare Appoin">
            <a:extLst>
              <a:ext uri="{FF2B5EF4-FFF2-40B4-BE49-F238E27FC236}">
                <a16:creationId xmlns:a16="http://schemas.microsoft.com/office/drawing/2014/main" id="{378BAE7B-E07B-495B-84AB-17406D2D9BF3}"/>
              </a:ext>
            </a:extLst>
          </p:cNvPr>
          <p:cNvSpPr>
            <a:spLocks noGrp="1"/>
          </p:cNvSpPr>
          <p:nvPr/>
        </p:nvSpPr>
        <p:spPr>
          <a:xfrm>
            <a:off x="609600" y="2743200"/>
            <a:ext cx="5067300" cy="2682240"/>
          </a:xfrm>
          <a:prstGeom prst="rect">
            <a:avLst/>
          </a:prstGeom>
          <a:noFill/>
          <a:ln w="0">
            <a:noFill/>
          </a:ln>
        </p:spPr>
        <p:txBody>
          <a:bodyPr anchor="t">
            <a:noAutofit/>
          </a:bodyPr>
          <a:lstStyle/>
          <a:p>
            <a:pPr>
              <a:defRPr sz="1740" b="0">
                <a:solidFill>
                  <a:srgbClr val="172820"/>
                </a:solidFill>
                <a:latin typeface="Arial"/>
                <a:ea typeface="Arial"/>
                <a:cs typeface="Arial"/>
              </a:defRPr>
            </a:pPr>
            <a:r>
              <a:rPr sz="1740" b="0">
                <a:solidFill>
                  <a:srgbClr val="172820"/>
                </a:solidFill>
                <a:latin typeface="Arial"/>
                <a:ea typeface="Arial"/>
                <a:cs typeface="Arial"/>
              </a:rPr>
              <a:t>Gunakan MCP Google Stitch untuk membuat UI Healthcare Appointment App dari wireframe dan brief ini. Pertahankan susunan area utama. Ikuti aturan warna project/DESIGN.md, lalu lengkapi aset visual yang relevan.</a:t>
            </a:r>
          </a:p>
        </p:txBody>
      </p:sp>
      <p:sp>
        <p:nvSpPr>
          <p:cNvPr id="7" name="2. Ekspor HTML, lalu konversi ke FMX">
            <a:extLst>
              <a:ext uri="{FF2B5EF4-FFF2-40B4-BE49-F238E27FC236}">
                <a16:creationId xmlns:a16="http://schemas.microsoft.com/office/drawing/2014/main" id="{FB8AFD80-308D-415C-AF5B-1BEDC755DFE6}"/>
              </a:ext>
            </a:extLst>
          </p:cNvPr>
          <p:cNvSpPr>
            <a:spLocks noGrp="1"/>
          </p:cNvSpPr>
          <p:nvPr/>
        </p:nvSpPr>
        <p:spPr>
          <a:xfrm>
            <a:off x="6477000" y="1714500"/>
            <a:ext cx="5029200" cy="853440"/>
          </a:xfrm>
          <a:prstGeom prst="rect">
            <a:avLst/>
          </a:prstGeom>
          <a:noFill/>
          <a:ln w="0">
            <a:noFill/>
          </a:ln>
        </p:spPr>
        <p:txBody>
          <a:bodyPr anchor="t">
            <a:noAutofit/>
          </a:bodyPr>
          <a:lstStyle/>
          <a:p>
            <a:pPr>
              <a:defRPr sz="2040" b="1">
                <a:solidFill>
                  <a:srgbClr val="1F6F54"/>
                </a:solidFill>
                <a:latin typeface="Arial"/>
                <a:ea typeface="Arial"/>
                <a:cs typeface="Arial"/>
              </a:defRPr>
            </a:pPr>
            <a:r>
              <a:rPr sz="2040" b="1">
                <a:solidFill>
                  <a:srgbClr val="1F6F54"/>
                </a:solidFill>
                <a:latin typeface="Arial"/>
                <a:ea typeface="Arial"/>
                <a:cs typeface="Arial"/>
              </a:rPr>
              <a:t>2. Ekspor HTML, lalu konversi ke FMX</a:t>
            </a:r>
          </a:p>
        </p:txBody>
      </p:sp>
      <p:sp>
        <p:nvSpPr>
          <p:cNvPr id="8" name="Ekspor desain tadi sebagai HTML/CSS. Gunakan skill html-to-f">
            <a:extLst>
              <a:ext uri="{FF2B5EF4-FFF2-40B4-BE49-F238E27FC236}">
                <a16:creationId xmlns:a16="http://schemas.microsoft.com/office/drawing/2014/main" id="{02F38969-784E-4633-8CAD-ECEF1372E8DB}"/>
              </a:ext>
            </a:extLst>
          </p:cNvPr>
          <p:cNvSpPr>
            <a:spLocks noGrp="1"/>
          </p:cNvSpPr>
          <p:nvPr/>
        </p:nvSpPr>
        <p:spPr>
          <a:xfrm>
            <a:off x="6477000" y="2743200"/>
            <a:ext cx="5029200" cy="2682240"/>
          </a:xfrm>
          <a:prstGeom prst="rect">
            <a:avLst/>
          </a:prstGeom>
          <a:noFill/>
          <a:ln w="0">
            <a:noFill/>
          </a:ln>
        </p:spPr>
        <p:txBody>
          <a:bodyPr anchor="t">
            <a:noAutofit/>
          </a:bodyPr>
          <a:lstStyle/>
          <a:p>
            <a:pPr>
              <a:defRPr sz="1740" b="0">
                <a:solidFill>
                  <a:srgbClr val="172820"/>
                </a:solidFill>
                <a:latin typeface="Arial"/>
                <a:ea typeface="Arial"/>
                <a:cs typeface="Arial"/>
              </a:defRPr>
            </a:pPr>
            <a:r>
              <a:rPr sz="1740" b="0">
                <a:solidFill>
                  <a:srgbClr val="172820"/>
                </a:solidFill>
                <a:latin typeface="Arial"/>
                <a:ea typeface="Arial"/>
                <a:cs typeface="Arial"/>
              </a:rPr>
              <a:t>Ekspor desain tadi sebagai HTML/CSS. Gunakan skill html-to-fmx untuk mengonversinya ke UI native Delphi FMX. Pertahankan visual sumber. Buat page dan reusable doctor card sebagai pasangan .fmx dan .pas yang dapat diedit di Designer.</a:t>
            </a:r>
          </a:p>
        </p:txBody>
      </p:sp>
      <p:sp>
        <p:nvSpPr>
          <p:cNvPr id="9" name="Urutan kerja: desain Stitch, ekspor HTML/CSS, konversi FMX, ">
            <a:extLst>
              <a:ext uri="{FF2B5EF4-FFF2-40B4-BE49-F238E27FC236}">
                <a16:creationId xmlns:a16="http://schemas.microsoft.com/office/drawing/2014/main" id="{0BE16510-D4F9-4884-8748-E10425370365}"/>
              </a:ext>
            </a:extLst>
          </p:cNvPr>
          <p:cNvSpPr>
            <a:spLocks noGrp="1"/>
          </p:cNvSpPr>
          <p:nvPr/>
        </p:nvSpPr>
        <p:spPr>
          <a:xfrm>
            <a:off x="609600" y="5753100"/>
            <a:ext cx="10858500" cy="647700"/>
          </a:xfrm>
          <a:prstGeom prst="rect">
            <a:avLst/>
          </a:prstGeom>
          <a:noFill/>
          <a:ln w="0">
            <a:noFill/>
          </a:ln>
        </p:spPr>
        <p:txBody>
          <a:bodyPr anchor="t">
            <a:noAutofit/>
          </a:bodyPr>
          <a:lstStyle/>
          <a:p>
            <a:pPr>
              <a:defRPr sz="1620" b="0">
                <a:solidFill>
                  <a:srgbClr val="64736C"/>
                </a:solidFill>
                <a:latin typeface="Arial"/>
                <a:ea typeface="Arial"/>
                <a:cs typeface="Arial"/>
              </a:defRPr>
            </a:pPr>
            <a:r>
              <a:rPr sz="1620" b="0">
                <a:solidFill>
                  <a:srgbClr val="64736C"/>
                </a:solidFill>
                <a:latin typeface="Arial"/>
                <a:ea typeface="Arial"/>
                <a:cs typeface="Arial"/>
              </a:rPr>
              <a:t>Urutan kerja: desain Stitch, ekspor HTML/CSS, konversi FMX, lalu isi data dummy.</a:t>
            </a:r>
          </a:p>
        </p:txBody>
      </p:sp>
    </p:spTree>
    <p:extLst>
      <p:ext uri="{BB962C8B-B14F-4D97-AF65-F5344CB8AC3E}">
        <p14:creationId xmlns:p14="http://schemas.microsoft.com/office/powerpoint/2010/main" val="16401623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Prompt Metode 2: Create UI langsung">
            <a:extLst>
              <a:ext uri="{FF2B5EF4-FFF2-40B4-BE49-F238E27FC236}">
                <a16:creationId xmlns:a16="http://schemas.microsoft.com/office/drawing/2014/main" id="{5159C80F-D1A4-4F69-9C81-61D0C8D06278}"/>
              </a:ext>
            </a:extLst>
          </p:cNvPr>
          <p:cNvSpPr>
            <a:spLocks noGrp="1"/>
          </p:cNvSpPr>
          <p:nvPr/>
        </p:nvSpPr>
        <p:spPr>
          <a:xfrm>
            <a:off x="609600" y="381000"/>
            <a:ext cx="10934700" cy="548640"/>
          </a:xfrm>
          <a:prstGeom prst="rect">
            <a:avLst/>
          </a:prstGeom>
          <a:noFill/>
          <a:ln w="0">
            <a:noFill/>
          </a:ln>
        </p:spPr>
        <p:txBody>
          <a:bodyPr anchor="t">
            <a:noAutofit/>
          </a:bodyPr>
          <a:lstStyle/>
          <a:p>
            <a:pPr>
              <a:defRPr sz="2880" b="1">
                <a:solidFill>
                  <a:srgbClr val="172820"/>
                </a:solidFill>
                <a:latin typeface="Arial"/>
                <a:ea typeface="Arial"/>
                <a:cs typeface="Arial"/>
              </a:defRPr>
            </a:pPr>
            <a:r>
              <a:rPr sz="2880" b="1">
                <a:solidFill>
                  <a:srgbClr val="172820"/>
                </a:solidFill>
                <a:latin typeface="Arial"/>
                <a:ea typeface="Arial"/>
                <a:cs typeface="Arial"/>
              </a:rPr>
              <a:t>Prompt Metode 2: Create UI langsung</a:t>
            </a:r>
          </a:p>
        </p:txBody>
      </p:sp>
      <p:sp>
        <p:nvSpPr>
          <p:cNvPr id="2" name="Gunakan wireframe dan brief pada slide persiapan sebagai kon">
            <a:extLst>
              <a:ext uri="{FF2B5EF4-FFF2-40B4-BE49-F238E27FC236}">
                <a16:creationId xmlns:a16="http://schemas.microsoft.com/office/drawing/2014/main" id="{951DDE0D-74B4-4E6F-9982-711F2E4813DE}"/>
              </a:ext>
            </a:extLst>
          </p:cNvPr>
          <p:cNvSpPr>
            <a:spLocks noGrp="1"/>
          </p:cNvSpPr>
          <p:nvPr/>
        </p:nvSpPr>
        <p:spPr>
          <a:xfrm>
            <a:off x="609600" y="990600"/>
            <a:ext cx="10744200" cy="441960"/>
          </a:xfrm>
          <a:prstGeom prst="rect">
            <a:avLst/>
          </a:prstGeom>
          <a:noFill/>
          <a:ln w="0">
            <a:noFill/>
          </a:ln>
        </p:spPr>
        <p:txBody>
          <a:bodyPr anchor="t">
            <a:noAutofit/>
          </a:bodyPr>
          <a:lstStyle/>
          <a:p>
            <a:pPr>
              <a:defRPr sz="1500" b="0">
                <a:solidFill>
                  <a:srgbClr val="64736C"/>
                </a:solidFill>
                <a:latin typeface="Arial"/>
                <a:ea typeface="Arial"/>
                <a:cs typeface="Arial"/>
              </a:defRPr>
            </a:pPr>
            <a:r>
              <a:rPr sz="1500" b="0">
                <a:solidFill>
                  <a:srgbClr val="64736C"/>
                </a:solidFill>
                <a:latin typeface="Arial"/>
                <a:ea typeface="Arial"/>
                <a:cs typeface="Arial"/>
              </a:rPr>
              <a:t>Gunakan wireframe dan brief pada slide persiapan sebagai konteks prompt</a:t>
            </a:r>
          </a:p>
        </p:txBody>
      </p:sp>
      <p:sp>
        <p:nvSpPr>
          <p:cNvPr id="3" name="HTML-FMX · Healthcare wireframe case study">
            <a:extLst>
              <a:ext uri="{FF2B5EF4-FFF2-40B4-BE49-F238E27FC236}">
                <a16:creationId xmlns:a16="http://schemas.microsoft.com/office/drawing/2014/main" id="{C676ACDB-4177-4301-B8D7-4E150BD027DC}"/>
              </a:ext>
            </a:extLst>
          </p:cNvPr>
          <p:cNvSpPr>
            <a:spLocks noGrp="1"/>
          </p:cNvSpPr>
          <p:nvPr/>
        </p:nvSpPr>
        <p:spPr>
          <a:xfrm>
            <a:off x="609600" y="6537960"/>
            <a:ext cx="6858000" cy="167640"/>
          </a:xfrm>
          <a:prstGeom prst="rect">
            <a:avLst/>
          </a:prstGeom>
          <a:noFill/>
          <a:ln w="0">
            <a:noFill/>
          </a:ln>
        </p:spPr>
        <p:txBody>
          <a:bodyPr anchor="t">
            <a:noAutofit/>
          </a:bodyPr>
          <a:lstStyle/>
          <a:p>
            <a:pPr>
              <a:defRPr sz="960" b="0">
                <a:solidFill>
                  <a:srgbClr val="64736C"/>
                </a:solidFill>
                <a:latin typeface="Arial"/>
                <a:ea typeface="Arial"/>
                <a:cs typeface="Arial"/>
              </a:defRPr>
            </a:pPr>
            <a:r>
              <a:rPr sz="960" b="0">
                <a:solidFill>
                  <a:srgbClr val="64736C"/>
                </a:solidFill>
                <a:latin typeface="Arial"/>
                <a:ea typeface="Arial"/>
                <a:cs typeface="Arial"/>
              </a:rPr>
              <a:t>HTML-FMX · Healthcare wireframe case study</a:t>
            </a:r>
          </a:p>
        </p:txBody>
      </p:sp>
      <p:sp>
        <p:nvSpPr>
          <p:cNvPr id="4" name="08">
            <a:extLst>
              <a:ext uri="{FF2B5EF4-FFF2-40B4-BE49-F238E27FC236}">
                <a16:creationId xmlns:a16="http://schemas.microsoft.com/office/drawing/2014/main" id="{C0D06BD0-C638-4C09-9DBE-1DD3550DAB2D}"/>
              </a:ext>
            </a:extLst>
          </p:cNvPr>
          <p:cNvSpPr>
            <a:spLocks noGrp="1"/>
          </p:cNvSpPr>
          <p:nvPr/>
        </p:nvSpPr>
        <p:spPr>
          <a:xfrm>
            <a:off x="11201400" y="6515100"/>
            <a:ext cx="419100" cy="182880"/>
          </a:xfrm>
          <a:prstGeom prst="rect">
            <a:avLst/>
          </a:prstGeom>
          <a:noFill/>
          <a:ln w="0">
            <a:noFill/>
          </a:ln>
        </p:spPr>
        <p:txBody>
          <a:bodyPr anchor="t">
            <a:noAutofit/>
          </a:bodyPr>
          <a:lstStyle/>
          <a:p>
            <a:pPr>
              <a:defRPr sz="1080" b="0">
                <a:solidFill>
                  <a:srgbClr val="64736C"/>
                </a:solidFill>
                <a:latin typeface="Arial"/>
                <a:ea typeface="Arial"/>
                <a:cs typeface="Arial"/>
              </a:defRPr>
            </a:pPr>
            <a:r>
              <a:rPr sz="1080" b="0">
                <a:solidFill>
                  <a:srgbClr val="64736C"/>
                </a:solidFill>
                <a:latin typeface="Arial"/>
                <a:ea typeface="Arial"/>
                <a:cs typeface="Arial"/>
              </a:rPr>
              <a:t>08</a:t>
            </a:r>
          </a:p>
        </p:txBody>
      </p:sp>
      <p:sp>
        <p:nvSpPr>
          <p:cNvPr id="5" name="Satu prompt untuk implementasi">
            <a:extLst>
              <a:ext uri="{FF2B5EF4-FFF2-40B4-BE49-F238E27FC236}">
                <a16:creationId xmlns:a16="http://schemas.microsoft.com/office/drawing/2014/main" id="{53F6DE7F-3536-4148-BCA3-BCF5921E3A33}"/>
              </a:ext>
            </a:extLst>
          </p:cNvPr>
          <p:cNvSpPr>
            <a:spLocks noGrp="1"/>
          </p:cNvSpPr>
          <p:nvPr/>
        </p:nvSpPr>
        <p:spPr>
          <a:xfrm>
            <a:off x="609600" y="1714500"/>
            <a:ext cx="6972300" cy="701040"/>
          </a:xfrm>
          <a:prstGeom prst="rect">
            <a:avLst/>
          </a:prstGeom>
          <a:noFill/>
          <a:ln w="0">
            <a:noFill/>
          </a:ln>
        </p:spPr>
        <p:txBody>
          <a:bodyPr anchor="t">
            <a:noAutofit/>
          </a:bodyPr>
          <a:lstStyle/>
          <a:p>
            <a:pPr>
              <a:defRPr sz="2040" b="1">
                <a:solidFill>
                  <a:srgbClr val="1F6F54"/>
                </a:solidFill>
                <a:latin typeface="Arial"/>
                <a:ea typeface="Arial"/>
                <a:cs typeface="Arial"/>
              </a:defRPr>
            </a:pPr>
            <a:r>
              <a:rPr sz="2040" b="1">
                <a:solidFill>
                  <a:srgbClr val="1F6F54"/>
                </a:solidFill>
                <a:latin typeface="Arial"/>
                <a:ea typeface="Arial"/>
                <a:cs typeface="Arial"/>
              </a:rPr>
              <a:t>Satu prompt untuk implementasi</a:t>
            </a:r>
          </a:p>
        </p:txBody>
      </p:sp>
      <p:sp>
        <p:nvSpPr>
          <p:cNvPr id="6" name="Gunakan skill create-fmx-ui untuk membuat halaman Healthcare">
            <a:extLst>
              <a:ext uri="{FF2B5EF4-FFF2-40B4-BE49-F238E27FC236}">
                <a16:creationId xmlns:a16="http://schemas.microsoft.com/office/drawing/2014/main" id="{987951A7-A777-4BB9-AD3B-BFD73AC9B6E4}"/>
              </a:ext>
            </a:extLst>
          </p:cNvPr>
          <p:cNvSpPr>
            <a:spLocks noGrp="1"/>
          </p:cNvSpPr>
          <p:nvPr/>
        </p:nvSpPr>
        <p:spPr>
          <a:xfrm>
            <a:off x="609600" y="2552700"/>
            <a:ext cx="6896100" cy="2743200"/>
          </a:xfrm>
          <a:prstGeom prst="rect">
            <a:avLst/>
          </a:prstGeom>
          <a:noFill/>
          <a:ln w="0">
            <a:noFill/>
          </a:ln>
        </p:spPr>
        <p:txBody>
          <a:bodyPr anchor="t">
            <a:noAutofit/>
          </a:bodyPr>
          <a:lstStyle/>
          <a:p>
            <a:pPr>
              <a:defRPr sz="1740" b="0">
                <a:solidFill>
                  <a:srgbClr val="172820"/>
                </a:solidFill>
                <a:latin typeface="Arial"/>
                <a:ea typeface="Arial"/>
                <a:cs typeface="Arial"/>
              </a:defRPr>
            </a:pPr>
            <a:r>
              <a:rPr sz="1740" b="0">
                <a:solidFill>
                  <a:srgbClr val="172820"/>
                </a:solidFill>
                <a:latin typeface="Arial"/>
                <a:ea typeface="Arial"/>
                <a:cs typeface="Arial"/>
              </a:rPr>
              <a:t>Gunakan skill create-fmx-ui untuk membuat halaman Healthcare Appointment App langsung dari wireframe.png dan brief ini. Ikuti susunan wireframe dan aturan warna project/DESIGN.md.</a:t>
            </a:r>
          </a:p>
          <a:p>
            <a:endParaRPr sz="1740" b="0">
              <a:solidFill>
                <a:srgbClr val="172820"/>
              </a:solidFill>
              <a:latin typeface="Arial"/>
              <a:ea typeface="Arial"/>
              <a:cs typeface="Arial"/>
            </a:endParaRPr>
          </a:p>
          <a:p>
            <a:pPr>
              <a:defRPr sz="1740" b="0">
                <a:solidFill>
                  <a:srgbClr val="172820"/>
                </a:solidFill>
                <a:latin typeface="Arial"/>
                <a:ea typeface="Arial"/>
                <a:cs typeface="Arial"/>
              </a:defRPr>
            </a:pPr>
            <a:r>
              <a:rPr sz="1740" b="0">
                <a:solidFill>
                  <a:srgbClr val="172820"/>
                </a:solidFill>
                <a:latin typeface="Arial"/>
                <a:ea typeface="Arial"/>
                <a:cs typeface="Arial"/>
              </a:rPr>
              <a:t>Simpan struktur tetap sebagai pasangan .fmx dan .pas yang dapat diedit di Designer. Buat doctor card reusable untuk daftar dokter dan siapkan binding agar page dapat memakai card tersebut. Ikuti struktur proyek serta StyleBook yang ada.</a:t>
            </a:r>
          </a:p>
        </p:txBody>
      </p:sp>
      <p:sp>
        <p:nvSpPr>
          <p:cNvPr id="7" name="Hasil yang diharapkan">
            <a:extLst>
              <a:ext uri="{FF2B5EF4-FFF2-40B4-BE49-F238E27FC236}">
                <a16:creationId xmlns:a16="http://schemas.microsoft.com/office/drawing/2014/main" id="{66DFDF4E-4D1C-4DEA-B013-D7D22BDE9072}"/>
              </a:ext>
            </a:extLst>
          </p:cNvPr>
          <p:cNvSpPr>
            <a:spLocks noGrp="1"/>
          </p:cNvSpPr>
          <p:nvPr/>
        </p:nvSpPr>
        <p:spPr>
          <a:xfrm>
            <a:off x="8001000" y="1714500"/>
            <a:ext cx="3543300" cy="701040"/>
          </a:xfrm>
          <a:prstGeom prst="rect">
            <a:avLst/>
          </a:prstGeom>
          <a:noFill/>
          <a:ln w="0">
            <a:noFill/>
          </a:ln>
        </p:spPr>
        <p:txBody>
          <a:bodyPr anchor="t">
            <a:noAutofit/>
          </a:bodyPr>
          <a:lstStyle/>
          <a:p>
            <a:pPr>
              <a:defRPr sz="2040" b="1">
                <a:solidFill>
                  <a:srgbClr val="1F6F54"/>
                </a:solidFill>
                <a:latin typeface="Arial"/>
                <a:ea typeface="Arial"/>
                <a:cs typeface="Arial"/>
              </a:defRPr>
            </a:pPr>
            <a:r>
              <a:rPr sz="2040" b="1">
                <a:solidFill>
                  <a:srgbClr val="1F6F54"/>
                </a:solidFill>
                <a:latin typeface="Arial"/>
                <a:ea typeface="Arial"/>
                <a:cs typeface="Arial"/>
              </a:rPr>
              <a:t>Hasil yang diharapkan</a:t>
            </a:r>
          </a:p>
        </p:txBody>
      </p:sp>
      <p:sp>
        <p:nvSpPr>
          <p:cNvPr id="8" name="Page native .fmx + .pas&#10;Doctor card reusable&#10;Binding data un">
            <a:extLst>
              <a:ext uri="{FF2B5EF4-FFF2-40B4-BE49-F238E27FC236}">
                <a16:creationId xmlns:a16="http://schemas.microsoft.com/office/drawing/2014/main" id="{1FD10232-2D9C-454B-B051-AE385113EDD1}"/>
              </a:ext>
            </a:extLst>
          </p:cNvPr>
          <p:cNvSpPr>
            <a:spLocks noGrp="1"/>
          </p:cNvSpPr>
          <p:nvPr/>
        </p:nvSpPr>
        <p:spPr>
          <a:xfrm>
            <a:off x="8001000" y="2552700"/>
            <a:ext cx="3543300" cy="2667000"/>
          </a:xfrm>
          <a:prstGeom prst="rect">
            <a:avLst/>
          </a:prstGeom>
          <a:noFill/>
          <a:ln w="0">
            <a:noFill/>
          </a:ln>
        </p:spPr>
        <p:txBody>
          <a:bodyPr anchor="t">
            <a:noAutofit/>
          </a:bodyPr>
          <a:lstStyle/>
          <a:p>
            <a:pPr>
              <a:defRPr sz="1680" b="0">
                <a:solidFill>
                  <a:srgbClr val="172820"/>
                </a:solidFill>
                <a:latin typeface="Arial"/>
                <a:ea typeface="Arial"/>
                <a:cs typeface="Arial"/>
              </a:defRPr>
            </a:pPr>
            <a:r>
              <a:rPr sz="1680" b="0">
                <a:solidFill>
                  <a:srgbClr val="172820"/>
                </a:solidFill>
                <a:latin typeface="Arial"/>
                <a:ea typeface="Arial"/>
                <a:cs typeface="Arial"/>
              </a:rPr>
              <a:t>Page native .fmx + .pas</a:t>
            </a:r>
          </a:p>
          <a:p>
            <a:pPr>
              <a:defRPr sz="1680" b="0">
                <a:solidFill>
                  <a:srgbClr val="172820"/>
                </a:solidFill>
                <a:latin typeface="Arial"/>
                <a:ea typeface="Arial"/>
                <a:cs typeface="Arial"/>
              </a:defRPr>
            </a:pPr>
            <a:r>
              <a:rPr sz="1680" b="0">
                <a:solidFill>
                  <a:srgbClr val="172820"/>
                </a:solidFill>
                <a:latin typeface="Arial"/>
                <a:ea typeface="Arial"/>
                <a:cs typeface="Arial"/>
              </a:rPr>
              <a:t>Doctor card reusable</a:t>
            </a:r>
          </a:p>
          <a:p>
            <a:pPr>
              <a:defRPr sz="1680" b="0">
                <a:solidFill>
                  <a:srgbClr val="172820"/>
                </a:solidFill>
                <a:latin typeface="Arial"/>
                <a:ea typeface="Arial"/>
                <a:cs typeface="Arial"/>
              </a:defRPr>
            </a:pPr>
            <a:r>
              <a:rPr sz="1680" b="0">
                <a:solidFill>
                  <a:srgbClr val="172820"/>
                </a:solidFill>
                <a:latin typeface="Arial"/>
                <a:ea typeface="Arial"/>
                <a:cs typeface="Arial"/>
              </a:rPr>
              <a:t>Binding data untuk page dan card</a:t>
            </a:r>
          </a:p>
          <a:p>
            <a:pPr>
              <a:defRPr sz="1680" b="0">
                <a:solidFill>
                  <a:srgbClr val="172820"/>
                </a:solidFill>
                <a:latin typeface="Arial"/>
                <a:ea typeface="Arial"/>
                <a:cs typeface="Arial"/>
              </a:defRPr>
            </a:pPr>
            <a:r>
              <a:rPr sz="1680" b="0">
                <a:solidFill>
                  <a:srgbClr val="172820"/>
                </a:solidFill>
                <a:latin typeface="Arial"/>
                <a:ea typeface="Arial"/>
                <a:cs typeface="Arial"/>
              </a:rPr>
              <a:t>Hierarki yang mengikuti wireframe</a:t>
            </a:r>
          </a:p>
          <a:p>
            <a:pPr>
              <a:defRPr sz="1680" b="0">
                <a:solidFill>
                  <a:srgbClr val="172820"/>
                </a:solidFill>
                <a:latin typeface="Arial"/>
                <a:ea typeface="Arial"/>
                <a:cs typeface="Arial"/>
              </a:defRPr>
            </a:pPr>
            <a:r>
              <a:rPr sz="1680" b="0">
                <a:solidFill>
                  <a:srgbClr val="172820"/>
                </a:solidFill>
                <a:latin typeface="Arial"/>
                <a:ea typeface="Arial"/>
                <a:cs typeface="Arial"/>
              </a:rPr>
              <a:t>Warna sesuai DESIGN.md</a:t>
            </a:r>
          </a:p>
        </p:txBody>
      </p:sp>
      <p:sp>
        <p:nvSpPr>
          <p:cNvPr id="9" name="Mapping gambar tetap berjalan di dalam create-fmx-ui. Metode">
            <a:extLst>
              <a:ext uri="{FF2B5EF4-FFF2-40B4-BE49-F238E27FC236}">
                <a16:creationId xmlns:a16="http://schemas.microsoft.com/office/drawing/2014/main" id="{B6F326B4-9236-4E67-98D6-111C0E450A86}"/>
              </a:ext>
            </a:extLst>
          </p:cNvPr>
          <p:cNvSpPr>
            <a:spLocks noGrp="1"/>
          </p:cNvSpPr>
          <p:nvPr/>
        </p:nvSpPr>
        <p:spPr>
          <a:xfrm>
            <a:off x="609600" y="5753100"/>
            <a:ext cx="10858500" cy="647700"/>
          </a:xfrm>
          <a:prstGeom prst="rect">
            <a:avLst/>
          </a:prstGeom>
          <a:noFill/>
          <a:ln w="0">
            <a:noFill/>
          </a:ln>
        </p:spPr>
        <p:txBody>
          <a:bodyPr anchor="t">
            <a:noAutofit/>
          </a:bodyPr>
          <a:lstStyle/>
          <a:p>
            <a:pPr>
              <a:defRPr sz="1620" b="0">
                <a:solidFill>
                  <a:srgbClr val="64736C"/>
                </a:solidFill>
                <a:latin typeface="Arial"/>
                <a:ea typeface="Arial"/>
                <a:cs typeface="Arial"/>
              </a:defRPr>
            </a:pPr>
            <a:r>
              <a:rPr sz="1620" b="0">
                <a:solidFill>
                  <a:srgbClr val="64736C"/>
                </a:solidFill>
                <a:latin typeface="Arial"/>
                <a:ea typeface="Arial"/>
                <a:cs typeface="Arial"/>
              </a:rPr>
              <a:t>Mapping gambar tetap berjalan di dalam create-fmx-ui. Metode ini memakai satu alur pembuatan UI.</a:t>
            </a:r>
          </a:p>
        </p:txBody>
      </p:sp>
    </p:spTree>
    <p:extLst>
      <p:ext uri="{BB962C8B-B14F-4D97-AF65-F5344CB8AC3E}">
        <p14:creationId xmlns:p14="http://schemas.microsoft.com/office/powerpoint/2010/main" val="1694351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Prompt Metode 3: Mapping terpisah">
            <a:extLst>
              <a:ext uri="{FF2B5EF4-FFF2-40B4-BE49-F238E27FC236}">
                <a16:creationId xmlns:a16="http://schemas.microsoft.com/office/drawing/2014/main" id="{1B637C92-E1ED-4D9C-98F2-4DCA8256CFE3}"/>
              </a:ext>
            </a:extLst>
          </p:cNvPr>
          <p:cNvSpPr>
            <a:spLocks noGrp="1"/>
          </p:cNvSpPr>
          <p:nvPr/>
        </p:nvSpPr>
        <p:spPr>
          <a:xfrm>
            <a:off x="609600" y="381000"/>
            <a:ext cx="10934700" cy="548640"/>
          </a:xfrm>
          <a:prstGeom prst="rect">
            <a:avLst/>
          </a:prstGeom>
          <a:noFill/>
          <a:ln w="0">
            <a:noFill/>
          </a:ln>
        </p:spPr>
        <p:txBody>
          <a:bodyPr anchor="t">
            <a:noAutofit/>
          </a:bodyPr>
          <a:lstStyle/>
          <a:p>
            <a:pPr>
              <a:defRPr sz="2880" b="1">
                <a:solidFill>
                  <a:srgbClr val="172820"/>
                </a:solidFill>
                <a:latin typeface="Arial"/>
                <a:ea typeface="Arial"/>
                <a:cs typeface="Arial"/>
              </a:defRPr>
            </a:pPr>
            <a:r>
              <a:rPr sz="2880" b="1">
                <a:solidFill>
                  <a:srgbClr val="172820"/>
                </a:solidFill>
                <a:latin typeface="Arial"/>
                <a:ea typeface="Arial"/>
                <a:cs typeface="Arial"/>
              </a:rPr>
              <a:t>Prompt Metode 3: Mapping terpisah</a:t>
            </a:r>
          </a:p>
        </p:txBody>
      </p:sp>
      <p:sp>
        <p:nvSpPr>
          <p:cNvPr id="2" name="Gunakan wireframe dan brief pada slide persiapan sebagai kon">
            <a:extLst>
              <a:ext uri="{FF2B5EF4-FFF2-40B4-BE49-F238E27FC236}">
                <a16:creationId xmlns:a16="http://schemas.microsoft.com/office/drawing/2014/main" id="{F1F0B0BC-57FC-4CA0-96E6-2EDC3E6B6324}"/>
              </a:ext>
            </a:extLst>
          </p:cNvPr>
          <p:cNvSpPr>
            <a:spLocks noGrp="1"/>
          </p:cNvSpPr>
          <p:nvPr/>
        </p:nvSpPr>
        <p:spPr>
          <a:xfrm>
            <a:off x="609600" y="990600"/>
            <a:ext cx="10744200" cy="441960"/>
          </a:xfrm>
          <a:prstGeom prst="rect">
            <a:avLst/>
          </a:prstGeom>
          <a:noFill/>
          <a:ln w="0">
            <a:noFill/>
          </a:ln>
        </p:spPr>
        <p:txBody>
          <a:bodyPr anchor="t">
            <a:noAutofit/>
          </a:bodyPr>
          <a:lstStyle/>
          <a:p>
            <a:pPr>
              <a:defRPr sz="1500" b="0">
                <a:solidFill>
                  <a:srgbClr val="64736C"/>
                </a:solidFill>
                <a:latin typeface="Arial"/>
                <a:ea typeface="Arial"/>
                <a:cs typeface="Arial"/>
              </a:defRPr>
            </a:pPr>
            <a:r>
              <a:rPr sz="1500" b="0">
                <a:solidFill>
                  <a:srgbClr val="64736C"/>
                </a:solidFill>
                <a:latin typeface="Arial"/>
                <a:ea typeface="Arial"/>
                <a:cs typeface="Arial"/>
              </a:rPr>
              <a:t>Gunakan wireframe dan brief pada slide persiapan sebagai konteks prompt</a:t>
            </a:r>
          </a:p>
        </p:txBody>
      </p:sp>
      <p:sp>
        <p:nvSpPr>
          <p:cNvPr id="3" name="HTML-FMX · Healthcare wireframe case study">
            <a:extLst>
              <a:ext uri="{FF2B5EF4-FFF2-40B4-BE49-F238E27FC236}">
                <a16:creationId xmlns:a16="http://schemas.microsoft.com/office/drawing/2014/main" id="{31D4744E-821F-49F6-9390-0AE7A3CEC4EB}"/>
              </a:ext>
            </a:extLst>
          </p:cNvPr>
          <p:cNvSpPr>
            <a:spLocks noGrp="1"/>
          </p:cNvSpPr>
          <p:nvPr/>
        </p:nvSpPr>
        <p:spPr>
          <a:xfrm>
            <a:off x="609600" y="6537960"/>
            <a:ext cx="6858000" cy="167640"/>
          </a:xfrm>
          <a:prstGeom prst="rect">
            <a:avLst/>
          </a:prstGeom>
          <a:noFill/>
          <a:ln w="0">
            <a:noFill/>
          </a:ln>
        </p:spPr>
        <p:txBody>
          <a:bodyPr anchor="t">
            <a:noAutofit/>
          </a:bodyPr>
          <a:lstStyle/>
          <a:p>
            <a:pPr>
              <a:defRPr sz="960" b="0">
                <a:solidFill>
                  <a:srgbClr val="64736C"/>
                </a:solidFill>
                <a:latin typeface="Arial"/>
                <a:ea typeface="Arial"/>
                <a:cs typeface="Arial"/>
              </a:defRPr>
            </a:pPr>
            <a:r>
              <a:rPr sz="960" b="0">
                <a:solidFill>
                  <a:srgbClr val="64736C"/>
                </a:solidFill>
                <a:latin typeface="Arial"/>
                <a:ea typeface="Arial"/>
                <a:cs typeface="Arial"/>
              </a:rPr>
              <a:t>HTML-FMX · Healthcare wireframe case study</a:t>
            </a:r>
          </a:p>
        </p:txBody>
      </p:sp>
      <p:sp>
        <p:nvSpPr>
          <p:cNvPr id="4" name="09">
            <a:extLst>
              <a:ext uri="{FF2B5EF4-FFF2-40B4-BE49-F238E27FC236}">
                <a16:creationId xmlns:a16="http://schemas.microsoft.com/office/drawing/2014/main" id="{43D8BCC6-4B9C-4AC5-B1AD-B712452409AA}"/>
              </a:ext>
            </a:extLst>
          </p:cNvPr>
          <p:cNvSpPr>
            <a:spLocks noGrp="1"/>
          </p:cNvSpPr>
          <p:nvPr/>
        </p:nvSpPr>
        <p:spPr>
          <a:xfrm>
            <a:off x="11201400" y="6515100"/>
            <a:ext cx="419100" cy="182880"/>
          </a:xfrm>
          <a:prstGeom prst="rect">
            <a:avLst/>
          </a:prstGeom>
          <a:noFill/>
          <a:ln w="0">
            <a:noFill/>
          </a:ln>
        </p:spPr>
        <p:txBody>
          <a:bodyPr anchor="t">
            <a:noAutofit/>
          </a:bodyPr>
          <a:lstStyle/>
          <a:p>
            <a:pPr>
              <a:defRPr sz="1080" b="0">
                <a:solidFill>
                  <a:srgbClr val="64736C"/>
                </a:solidFill>
                <a:latin typeface="Arial"/>
                <a:ea typeface="Arial"/>
                <a:cs typeface="Arial"/>
              </a:defRPr>
            </a:pPr>
            <a:r>
              <a:rPr sz="1080" b="0">
                <a:solidFill>
                  <a:srgbClr val="64736C"/>
                </a:solidFill>
                <a:latin typeface="Arial"/>
                <a:ea typeface="Arial"/>
                <a:cs typeface="Arial"/>
              </a:rPr>
              <a:t>09</a:t>
            </a:r>
          </a:p>
        </p:txBody>
      </p:sp>
      <p:sp>
        <p:nvSpPr>
          <p:cNvPr id="5" name="1. Jalankan screenshot-to-fmx-mapping">
            <a:extLst>
              <a:ext uri="{FF2B5EF4-FFF2-40B4-BE49-F238E27FC236}">
                <a16:creationId xmlns:a16="http://schemas.microsoft.com/office/drawing/2014/main" id="{B01E24CF-FEC1-47AE-9279-12E985694402}"/>
              </a:ext>
            </a:extLst>
          </p:cNvPr>
          <p:cNvSpPr>
            <a:spLocks noGrp="1"/>
          </p:cNvSpPr>
          <p:nvPr/>
        </p:nvSpPr>
        <p:spPr>
          <a:xfrm>
            <a:off x="609600" y="1714500"/>
            <a:ext cx="5067300" cy="853440"/>
          </a:xfrm>
          <a:prstGeom prst="rect">
            <a:avLst/>
          </a:prstGeom>
          <a:noFill/>
          <a:ln w="0">
            <a:noFill/>
          </a:ln>
        </p:spPr>
        <p:txBody>
          <a:bodyPr anchor="t">
            <a:noAutofit/>
          </a:bodyPr>
          <a:lstStyle/>
          <a:p>
            <a:pPr>
              <a:defRPr sz="2040" b="1">
                <a:solidFill>
                  <a:srgbClr val="1F6F54"/>
                </a:solidFill>
                <a:latin typeface="Arial"/>
                <a:ea typeface="Arial"/>
                <a:cs typeface="Arial"/>
              </a:defRPr>
            </a:pPr>
            <a:r>
              <a:rPr sz="2040" b="1">
                <a:solidFill>
                  <a:srgbClr val="1F6F54"/>
                </a:solidFill>
                <a:latin typeface="Arial"/>
                <a:ea typeface="Arial"/>
                <a:cs typeface="Arial"/>
              </a:rPr>
              <a:t>1. Jalankan screenshot-to-fmx-mapping</a:t>
            </a:r>
          </a:p>
        </p:txBody>
      </p:sp>
      <p:sp>
        <p:nvSpPr>
          <p:cNvPr id="6" name="Gunakan skill screenshot-to-fmx-mapping untuk memetakan wire">
            <a:extLst>
              <a:ext uri="{FF2B5EF4-FFF2-40B4-BE49-F238E27FC236}">
                <a16:creationId xmlns:a16="http://schemas.microsoft.com/office/drawing/2014/main" id="{EE43DD2C-A4E2-4FF4-A077-340EB46D8B9E}"/>
              </a:ext>
            </a:extLst>
          </p:cNvPr>
          <p:cNvSpPr>
            <a:spLocks noGrp="1"/>
          </p:cNvSpPr>
          <p:nvPr/>
        </p:nvSpPr>
        <p:spPr>
          <a:xfrm>
            <a:off x="609600" y="2743200"/>
            <a:ext cx="5067300" cy="2682240"/>
          </a:xfrm>
          <a:prstGeom prst="rect">
            <a:avLst/>
          </a:prstGeom>
          <a:noFill/>
          <a:ln w="0">
            <a:noFill/>
          </a:ln>
        </p:spPr>
        <p:txBody>
          <a:bodyPr anchor="t">
            <a:noAutofit/>
          </a:bodyPr>
          <a:lstStyle/>
          <a:p>
            <a:pPr>
              <a:defRPr sz="1740" b="0">
                <a:solidFill>
                  <a:srgbClr val="172820"/>
                </a:solidFill>
                <a:latin typeface="Arial"/>
                <a:ea typeface="Arial"/>
                <a:cs typeface="Arial"/>
              </a:defRPr>
            </a:pPr>
            <a:r>
              <a:rPr sz="1740" b="0">
                <a:solidFill>
                  <a:srgbClr val="172820"/>
                </a:solidFill>
                <a:latin typeface="Arial"/>
                <a:ea typeface="Arial"/>
                <a:cs typeface="Arial"/>
              </a:rPr>
              <a:t>Gunakan skill screenshot-to-fmx-mapping untuk memetakan wireframe dan brief ke hierarki komponen FMX. Pisahkan area tetap, area scroll, navigasi bawah, dan daftar dokter dengan card reusable. Simpan hasilnya sebagai dokumen mapping.</a:t>
            </a:r>
          </a:p>
        </p:txBody>
      </p:sp>
      <p:sp>
        <p:nvSpPr>
          <p:cNvPr id="7" name="2. Implementasikan mapping dengan create-fmx-ui">
            <a:extLst>
              <a:ext uri="{FF2B5EF4-FFF2-40B4-BE49-F238E27FC236}">
                <a16:creationId xmlns:a16="http://schemas.microsoft.com/office/drawing/2014/main" id="{C536CF3A-81BC-4D6F-AC80-67512DE5E2B3}"/>
              </a:ext>
            </a:extLst>
          </p:cNvPr>
          <p:cNvSpPr>
            <a:spLocks noGrp="1"/>
          </p:cNvSpPr>
          <p:nvPr/>
        </p:nvSpPr>
        <p:spPr>
          <a:xfrm>
            <a:off x="6477000" y="1714500"/>
            <a:ext cx="5029200" cy="853440"/>
          </a:xfrm>
          <a:prstGeom prst="rect">
            <a:avLst/>
          </a:prstGeom>
          <a:noFill/>
          <a:ln w="0">
            <a:noFill/>
          </a:ln>
        </p:spPr>
        <p:txBody>
          <a:bodyPr anchor="t">
            <a:noAutofit/>
          </a:bodyPr>
          <a:lstStyle/>
          <a:p>
            <a:pPr>
              <a:defRPr sz="2040" b="1">
                <a:solidFill>
                  <a:srgbClr val="1F6F54"/>
                </a:solidFill>
                <a:latin typeface="Arial"/>
                <a:ea typeface="Arial"/>
                <a:cs typeface="Arial"/>
              </a:defRPr>
            </a:pPr>
            <a:r>
              <a:rPr sz="2040" b="1">
                <a:solidFill>
                  <a:srgbClr val="1F6F54"/>
                </a:solidFill>
                <a:latin typeface="Arial"/>
                <a:ea typeface="Arial"/>
                <a:cs typeface="Arial"/>
              </a:rPr>
              <a:t>2. Implementasikan mapping dengan create-fmx-ui</a:t>
            </a:r>
          </a:p>
        </p:txBody>
      </p:sp>
      <p:sp>
        <p:nvSpPr>
          <p:cNvPr id="8" name="Gunakan skill create-fmx-ui untuk membangun UI berdasarkan m">
            <a:extLst>
              <a:ext uri="{FF2B5EF4-FFF2-40B4-BE49-F238E27FC236}">
                <a16:creationId xmlns:a16="http://schemas.microsoft.com/office/drawing/2014/main" id="{9CBC40DB-2DBD-45E2-BF41-5FEDE30718E7}"/>
              </a:ext>
            </a:extLst>
          </p:cNvPr>
          <p:cNvSpPr>
            <a:spLocks noGrp="1"/>
          </p:cNvSpPr>
          <p:nvPr/>
        </p:nvSpPr>
        <p:spPr>
          <a:xfrm>
            <a:off x="6477000" y="2743200"/>
            <a:ext cx="5029200" cy="2682240"/>
          </a:xfrm>
          <a:prstGeom prst="rect">
            <a:avLst/>
          </a:prstGeom>
          <a:noFill/>
          <a:ln w="0">
            <a:noFill/>
          </a:ln>
        </p:spPr>
        <p:txBody>
          <a:bodyPr anchor="t">
            <a:noAutofit/>
          </a:bodyPr>
          <a:lstStyle/>
          <a:p>
            <a:pPr>
              <a:defRPr sz="1740" b="0">
                <a:solidFill>
                  <a:srgbClr val="172820"/>
                </a:solidFill>
                <a:latin typeface="Arial"/>
                <a:ea typeface="Arial"/>
                <a:cs typeface="Arial"/>
              </a:defRPr>
            </a:pPr>
            <a:r>
              <a:rPr sz="1740" b="0">
                <a:solidFill>
                  <a:srgbClr val="172820"/>
                </a:solidFill>
                <a:latin typeface="Arial"/>
                <a:ea typeface="Arial"/>
                <a:cs typeface="Arial"/>
              </a:rPr>
              <a:t>Gunakan skill create-fmx-ui untuk membangun UI berdasarkan mapping tadi. Ikuti aturan warna project/DESIGN.md. Buat pasangan .fmx dan .pas yang dapat diedit di Designer, lalu siapkan binding page dan doctor card.</a:t>
            </a:r>
          </a:p>
        </p:txBody>
      </p:sp>
      <p:sp>
        <p:nvSpPr>
          <p:cNvPr id="9" name="Urutan kerja: dokumen mapping dahulu, implementasi berdasark">
            <a:extLst>
              <a:ext uri="{FF2B5EF4-FFF2-40B4-BE49-F238E27FC236}">
                <a16:creationId xmlns:a16="http://schemas.microsoft.com/office/drawing/2014/main" id="{B052C35E-8B87-47A0-AF69-F699FF8476DD}"/>
              </a:ext>
            </a:extLst>
          </p:cNvPr>
          <p:cNvSpPr>
            <a:spLocks noGrp="1"/>
          </p:cNvSpPr>
          <p:nvPr/>
        </p:nvSpPr>
        <p:spPr>
          <a:xfrm>
            <a:off x="609600" y="5753100"/>
            <a:ext cx="10858500" cy="647700"/>
          </a:xfrm>
          <a:prstGeom prst="rect">
            <a:avLst/>
          </a:prstGeom>
          <a:noFill/>
          <a:ln w="0">
            <a:noFill/>
          </a:ln>
        </p:spPr>
        <p:txBody>
          <a:bodyPr anchor="t">
            <a:noAutofit/>
          </a:bodyPr>
          <a:lstStyle/>
          <a:p>
            <a:pPr>
              <a:defRPr sz="1620" b="0">
                <a:solidFill>
                  <a:srgbClr val="64736C"/>
                </a:solidFill>
                <a:latin typeface="Arial"/>
                <a:ea typeface="Arial"/>
                <a:cs typeface="Arial"/>
              </a:defRPr>
            </a:pPr>
            <a:r>
              <a:rPr sz="1620" b="0">
                <a:solidFill>
                  <a:srgbClr val="64736C"/>
                </a:solidFill>
                <a:latin typeface="Arial"/>
                <a:ea typeface="Arial"/>
                <a:cs typeface="Arial"/>
              </a:rPr>
              <a:t>Urutan kerja: dokumen mapping dahulu, implementasi berdasarkan mapping, lalu isi data dummy.</a:t>
            </a:r>
          </a:p>
        </p:txBody>
      </p:sp>
    </p:spTree>
    <p:extLst>
      <p:ext uri="{BB962C8B-B14F-4D97-AF65-F5344CB8AC3E}">
        <p14:creationId xmlns:p14="http://schemas.microsoft.com/office/powerpoint/2010/main" val="20620469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Prompt Metode 4: HTML buatan agent">
            <a:extLst>
              <a:ext uri="{FF2B5EF4-FFF2-40B4-BE49-F238E27FC236}">
                <a16:creationId xmlns:a16="http://schemas.microsoft.com/office/drawing/2014/main" id="{B44DF6DA-BCD4-487F-ADA8-CD5E514BDC05}"/>
              </a:ext>
            </a:extLst>
          </p:cNvPr>
          <p:cNvSpPr>
            <a:spLocks noGrp="1"/>
          </p:cNvSpPr>
          <p:nvPr/>
        </p:nvSpPr>
        <p:spPr>
          <a:xfrm>
            <a:off x="609600" y="381000"/>
            <a:ext cx="10934700" cy="548640"/>
          </a:xfrm>
          <a:prstGeom prst="rect">
            <a:avLst/>
          </a:prstGeom>
          <a:noFill/>
          <a:ln w="0">
            <a:noFill/>
          </a:ln>
        </p:spPr>
        <p:txBody>
          <a:bodyPr anchor="t">
            <a:noAutofit/>
          </a:bodyPr>
          <a:lstStyle/>
          <a:p>
            <a:pPr>
              <a:defRPr sz="2880" b="1">
                <a:solidFill>
                  <a:srgbClr val="172820"/>
                </a:solidFill>
                <a:latin typeface="Arial"/>
                <a:ea typeface="Arial"/>
                <a:cs typeface="Arial"/>
              </a:defRPr>
            </a:pPr>
            <a:r>
              <a:rPr sz="2880" b="1">
                <a:solidFill>
                  <a:srgbClr val="172820"/>
                </a:solidFill>
                <a:latin typeface="Arial"/>
                <a:ea typeface="Arial"/>
                <a:cs typeface="Arial"/>
              </a:rPr>
              <a:t>Prompt Metode 4: HTML buatan agent</a:t>
            </a:r>
          </a:p>
        </p:txBody>
      </p:sp>
      <p:sp>
        <p:nvSpPr>
          <p:cNvPr id="2" name="Gunakan wireframe dan brief pada slide persiapan sebagai kon">
            <a:extLst>
              <a:ext uri="{FF2B5EF4-FFF2-40B4-BE49-F238E27FC236}">
                <a16:creationId xmlns:a16="http://schemas.microsoft.com/office/drawing/2014/main" id="{ED40C34D-C19A-41D0-8934-029275C83991}"/>
              </a:ext>
            </a:extLst>
          </p:cNvPr>
          <p:cNvSpPr>
            <a:spLocks noGrp="1"/>
          </p:cNvSpPr>
          <p:nvPr/>
        </p:nvSpPr>
        <p:spPr>
          <a:xfrm>
            <a:off x="609600" y="990600"/>
            <a:ext cx="10744200" cy="441960"/>
          </a:xfrm>
          <a:prstGeom prst="rect">
            <a:avLst/>
          </a:prstGeom>
          <a:noFill/>
          <a:ln w="0">
            <a:noFill/>
          </a:ln>
        </p:spPr>
        <p:txBody>
          <a:bodyPr anchor="t">
            <a:noAutofit/>
          </a:bodyPr>
          <a:lstStyle/>
          <a:p>
            <a:pPr>
              <a:defRPr sz="1500" b="0">
                <a:solidFill>
                  <a:srgbClr val="64736C"/>
                </a:solidFill>
                <a:latin typeface="Arial"/>
                <a:ea typeface="Arial"/>
                <a:cs typeface="Arial"/>
              </a:defRPr>
            </a:pPr>
            <a:r>
              <a:rPr sz="1500" b="0">
                <a:solidFill>
                  <a:srgbClr val="64736C"/>
                </a:solidFill>
                <a:latin typeface="Arial"/>
                <a:ea typeface="Arial"/>
                <a:cs typeface="Arial"/>
              </a:rPr>
              <a:t>Gunakan wireframe dan brief pada slide persiapan sebagai konteks prompt</a:t>
            </a:r>
          </a:p>
        </p:txBody>
      </p:sp>
      <p:sp>
        <p:nvSpPr>
          <p:cNvPr id="3" name="HTML-FMX · Healthcare wireframe case study">
            <a:extLst>
              <a:ext uri="{FF2B5EF4-FFF2-40B4-BE49-F238E27FC236}">
                <a16:creationId xmlns:a16="http://schemas.microsoft.com/office/drawing/2014/main" id="{699B6772-2F44-407A-B64D-95D42AC94CD4}"/>
              </a:ext>
            </a:extLst>
          </p:cNvPr>
          <p:cNvSpPr>
            <a:spLocks noGrp="1"/>
          </p:cNvSpPr>
          <p:nvPr/>
        </p:nvSpPr>
        <p:spPr>
          <a:xfrm>
            <a:off x="609600" y="6537960"/>
            <a:ext cx="6858000" cy="167640"/>
          </a:xfrm>
          <a:prstGeom prst="rect">
            <a:avLst/>
          </a:prstGeom>
          <a:noFill/>
          <a:ln w="0">
            <a:noFill/>
          </a:ln>
        </p:spPr>
        <p:txBody>
          <a:bodyPr anchor="t">
            <a:noAutofit/>
          </a:bodyPr>
          <a:lstStyle/>
          <a:p>
            <a:pPr>
              <a:defRPr sz="960" b="0">
                <a:solidFill>
                  <a:srgbClr val="64736C"/>
                </a:solidFill>
                <a:latin typeface="Arial"/>
                <a:ea typeface="Arial"/>
                <a:cs typeface="Arial"/>
              </a:defRPr>
            </a:pPr>
            <a:r>
              <a:rPr sz="960" b="0">
                <a:solidFill>
                  <a:srgbClr val="64736C"/>
                </a:solidFill>
                <a:latin typeface="Arial"/>
                <a:ea typeface="Arial"/>
                <a:cs typeface="Arial"/>
              </a:rPr>
              <a:t>HTML-FMX · Healthcare wireframe case study</a:t>
            </a:r>
          </a:p>
        </p:txBody>
      </p:sp>
      <p:sp>
        <p:nvSpPr>
          <p:cNvPr id="4" name="10">
            <a:extLst>
              <a:ext uri="{FF2B5EF4-FFF2-40B4-BE49-F238E27FC236}">
                <a16:creationId xmlns:a16="http://schemas.microsoft.com/office/drawing/2014/main" id="{1DF968AB-6165-4BA8-B74F-7CA568D7D761}"/>
              </a:ext>
            </a:extLst>
          </p:cNvPr>
          <p:cNvSpPr>
            <a:spLocks noGrp="1"/>
          </p:cNvSpPr>
          <p:nvPr/>
        </p:nvSpPr>
        <p:spPr>
          <a:xfrm>
            <a:off x="11201400" y="6515100"/>
            <a:ext cx="419100" cy="182880"/>
          </a:xfrm>
          <a:prstGeom prst="rect">
            <a:avLst/>
          </a:prstGeom>
          <a:noFill/>
          <a:ln w="0">
            <a:noFill/>
          </a:ln>
        </p:spPr>
        <p:txBody>
          <a:bodyPr anchor="t">
            <a:noAutofit/>
          </a:bodyPr>
          <a:lstStyle/>
          <a:p>
            <a:pPr>
              <a:defRPr sz="1080" b="0">
                <a:solidFill>
                  <a:srgbClr val="64736C"/>
                </a:solidFill>
                <a:latin typeface="Arial"/>
                <a:ea typeface="Arial"/>
                <a:cs typeface="Arial"/>
              </a:defRPr>
            </a:pPr>
            <a:r>
              <a:rPr sz="1080" b="0">
                <a:solidFill>
                  <a:srgbClr val="64736C"/>
                </a:solidFill>
                <a:latin typeface="Arial"/>
                <a:ea typeface="Arial"/>
                <a:cs typeface="Arial"/>
              </a:rPr>
              <a:t>10</a:t>
            </a:r>
          </a:p>
        </p:txBody>
      </p:sp>
      <p:sp>
        <p:nvSpPr>
          <p:cNvPr id="5" name="1. Minta agent membuat HTML/CSS">
            <a:extLst>
              <a:ext uri="{FF2B5EF4-FFF2-40B4-BE49-F238E27FC236}">
                <a16:creationId xmlns:a16="http://schemas.microsoft.com/office/drawing/2014/main" id="{C91F2E8E-73B6-4BB3-A20E-30DCA4AD51C4}"/>
              </a:ext>
            </a:extLst>
          </p:cNvPr>
          <p:cNvSpPr>
            <a:spLocks noGrp="1"/>
          </p:cNvSpPr>
          <p:nvPr/>
        </p:nvSpPr>
        <p:spPr>
          <a:xfrm>
            <a:off x="609600" y="1714500"/>
            <a:ext cx="5067300" cy="853440"/>
          </a:xfrm>
          <a:prstGeom prst="rect">
            <a:avLst/>
          </a:prstGeom>
          <a:noFill/>
          <a:ln w="0">
            <a:noFill/>
          </a:ln>
        </p:spPr>
        <p:txBody>
          <a:bodyPr anchor="t">
            <a:noAutofit/>
          </a:bodyPr>
          <a:lstStyle/>
          <a:p>
            <a:pPr>
              <a:defRPr sz="2040" b="1">
                <a:solidFill>
                  <a:srgbClr val="1F6F54"/>
                </a:solidFill>
                <a:latin typeface="Arial"/>
                <a:ea typeface="Arial"/>
                <a:cs typeface="Arial"/>
              </a:defRPr>
            </a:pPr>
            <a:r>
              <a:rPr sz="2040" b="1">
                <a:solidFill>
                  <a:srgbClr val="1F6F54"/>
                </a:solidFill>
                <a:latin typeface="Arial"/>
                <a:ea typeface="Arial"/>
                <a:cs typeface="Arial"/>
              </a:rPr>
              <a:t>1. Minta agent membuat HTML/CSS</a:t>
            </a:r>
          </a:p>
        </p:txBody>
      </p:sp>
      <p:sp>
        <p:nvSpPr>
          <p:cNvPr id="6" name="Ubah wireframe dan brief Healthcare Appointment App menjadi ">
            <a:extLst>
              <a:ext uri="{FF2B5EF4-FFF2-40B4-BE49-F238E27FC236}">
                <a16:creationId xmlns:a16="http://schemas.microsoft.com/office/drawing/2014/main" id="{A47A4F6D-2558-4C17-B1C0-D7F572997839}"/>
              </a:ext>
            </a:extLst>
          </p:cNvPr>
          <p:cNvSpPr>
            <a:spLocks noGrp="1"/>
          </p:cNvSpPr>
          <p:nvPr/>
        </p:nvSpPr>
        <p:spPr>
          <a:xfrm>
            <a:off x="609600" y="2743200"/>
            <a:ext cx="5067300" cy="2682240"/>
          </a:xfrm>
          <a:prstGeom prst="rect">
            <a:avLst/>
          </a:prstGeom>
          <a:noFill/>
          <a:ln w="0">
            <a:noFill/>
          </a:ln>
        </p:spPr>
        <p:txBody>
          <a:bodyPr anchor="t">
            <a:noAutofit/>
          </a:bodyPr>
          <a:lstStyle/>
          <a:p>
            <a:pPr>
              <a:defRPr sz="1740" b="0">
                <a:solidFill>
                  <a:srgbClr val="172820"/>
                </a:solidFill>
                <a:latin typeface="Arial"/>
                <a:ea typeface="Arial"/>
                <a:cs typeface="Arial"/>
              </a:defRPr>
            </a:pPr>
            <a:r>
              <a:rPr sz="1740" b="0">
                <a:solidFill>
                  <a:srgbClr val="172820"/>
                </a:solidFill>
                <a:latin typeface="Arial"/>
                <a:ea typeface="Arial"/>
                <a:cs typeface="Arial"/>
              </a:rPr>
              <a:t>Ubah wireframe dan brief Healthcare Appointment App menjadi halaman HTML/CSS mobile. Pertahankan susunan area utama dan buat tampilan modern serta sederhana. Lengkapi aset yang diperlukan, lalu simpan sumber HTML/CSS.</a:t>
            </a:r>
          </a:p>
        </p:txBody>
      </p:sp>
      <p:sp>
        <p:nvSpPr>
          <p:cNvPr id="7" name="2. Konversi HTML/CSS dengan html-to-fmx">
            <a:extLst>
              <a:ext uri="{FF2B5EF4-FFF2-40B4-BE49-F238E27FC236}">
                <a16:creationId xmlns:a16="http://schemas.microsoft.com/office/drawing/2014/main" id="{6CF13756-D86F-4DE2-AC83-19C5C5C301EC}"/>
              </a:ext>
            </a:extLst>
          </p:cNvPr>
          <p:cNvSpPr>
            <a:spLocks noGrp="1"/>
          </p:cNvSpPr>
          <p:nvPr/>
        </p:nvSpPr>
        <p:spPr>
          <a:xfrm>
            <a:off x="6477000" y="1714500"/>
            <a:ext cx="5029200" cy="853440"/>
          </a:xfrm>
          <a:prstGeom prst="rect">
            <a:avLst/>
          </a:prstGeom>
          <a:noFill/>
          <a:ln w="0">
            <a:noFill/>
          </a:ln>
        </p:spPr>
        <p:txBody>
          <a:bodyPr anchor="t">
            <a:noAutofit/>
          </a:bodyPr>
          <a:lstStyle/>
          <a:p>
            <a:pPr>
              <a:defRPr sz="2040" b="1">
                <a:solidFill>
                  <a:srgbClr val="1F6F54"/>
                </a:solidFill>
                <a:latin typeface="Arial"/>
                <a:ea typeface="Arial"/>
                <a:cs typeface="Arial"/>
              </a:defRPr>
            </a:pPr>
            <a:r>
              <a:rPr sz="2040" b="1">
                <a:solidFill>
                  <a:srgbClr val="1F6F54"/>
                </a:solidFill>
                <a:latin typeface="Arial"/>
                <a:ea typeface="Arial"/>
                <a:cs typeface="Arial"/>
              </a:rPr>
              <a:t>2. Konversi HTML/CSS dengan html-to-fmx</a:t>
            </a:r>
          </a:p>
        </p:txBody>
      </p:sp>
      <p:sp>
        <p:nvSpPr>
          <p:cNvPr id="8" name="Gunakan skill html-to-fmx untuk mengonversi HTML/CSS tadi ke">
            <a:extLst>
              <a:ext uri="{FF2B5EF4-FFF2-40B4-BE49-F238E27FC236}">
                <a16:creationId xmlns:a16="http://schemas.microsoft.com/office/drawing/2014/main" id="{2C7BAF84-F80B-41F6-BDEF-A518A043D6D2}"/>
              </a:ext>
            </a:extLst>
          </p:cNvPr>
          <p:cNvSpPr>
            <a:spLocks noGrp="1"/>
          </p:cNvSpPr>
          <p:nvPr/>
        </p:nvSpPr>
        <p:spPr>
          <a:xfrm>
            <a:off x="6477000" y="2743200"/>
            <a:ext cx="5029200" cy="2682240"/>
          </a:xfrm>
          <a:prstGeom prst="rect">
            <a:avLst/>
          </a:prstGeom>
          <a:noFill/>
          <a:ln w="0">
            <a:noFill/>
          </a:ln>
        </p:spPr>
        <p:txBody>
          <a:bodyPr anchor="t">
            <a:noAutofit/>
          </a:bodyPr>
          <a:lstStyle/>
          <a:p>
            <a:pPr>
              <a:defRPr sz="1740" b="0">
                <a:solidFill>
                  <a:srgbClr val="172820"/>
                </a:solidFill>
                <a:latin typeface="Arial"/>
                <a:ea typeface="Arial"/>
                <a:cs typeface="Arial"/>
              </a:defRPr>
            </a:pPr>
            <a:r>
              <a:rPr sz="1740" b="0">
                <a:solidFill>
                  <a:srgbClr val="172820"/>
                </a:solidFill>
                <a:latin typeface="Arial"/>
                <a:ea typeface="Arial"/>
                <a:cs typeface="Arial"/>
              </a:rPr>
              <a:t>Gunakan skill html-to-fmx untuk mengonversi HTML/CSS tadi ke UI native Delphi FMX. Pertahankan visual sumber. Buat page dan reusable doctor card sebagai pasangan .fmx dan .pas yang dapat diedit di Designer.</a:t>
            </a:r>
          </a:p>
        </p:txBody>
      </p:sp>
      <p:sp>
        <p:nvSpPr>
          <p:cNvPr id="9" name="Prompt tahap HTML ini tidak menyebut DESIGN.md, sesuai konte">
            <a:extLst>
              <a:ext uri="{FF2B5EF4-FFF2-40B4-BE49-F238E27FC236}">
                <a16:creationId xmlns:a16="http://schemas.microsoft.com/office/drawing/2014/main" id="{D55B2692-D52B-4FF1-8DBA-E0C4532F9FF2}"/>
              </a:ext>
            </a:extLst>
          </p:cNvPr>
          <p:cNvSpPr>
            <a:spLocks noGrp="1"/>
          </p:cNvSpPr>
          <p:nvPr/>
        </p:nvSpPr>
        <p:spPr>
          <a:xfrm>
            <a:off x="609600" y="5753100"/>
            <a:ext cx="10858500" cy="647700"/>
          </a:xfrm>
          <a:prstGeom prst="rect">
            <a:avLst/>
          </a:prstGeom>
          <a:noFill/>
          <a:ln w="0">
            <a:noFill/>
          </a:ln>
        </p:spPr>
        <p:txBody>
          <a:bodyPr anchor="t">
            <a:noAutofit/>
          </a:bodyPr>
          <a:lstStyle/>
          <a:p>
            <a:pPr>
              <a:defRPr sz="1620" b="0">
                <a:solidFill>
                  <a:srgbClr val="64736C"/>
                </a:solidFill>
                <a:latin typeface="Arial"/>
                <a:ea typeface="Arial"/>
                <a:cs typeface="Arial"/>
              </a:defRPr>
            </a:pPr>
            <a:r>
              <a:rPr sz="1620" b="0">
                <a:solidFill>
                  <a:srgbClr val="64736C"/>
                </a:solidFill>
                <a:latin typeface="Arial"/>
                <a:ea typeface="Arial"/>
                <a:cs typeface="Arial"/>
              </a:rPr>
              <a:t>Prompt tahap HTML ini tidak menyebut DESIGN.md, sesuai konteks percobaan Metode 4.</a:t>
            </a:r>
          </a:p>
        </p:txBody>
      </p:sp>
    </p:spTree>
    <p:extLst>
      <p:ext uri="{BB962C8B-B14F-4D97-AF65-F5344CB8AC3E}">
        <p14:creationId xmlns:p14="http://schemas.microsoft.com/office/powerpoint/2010/main" val="4520613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Data dummy, review, dan perbaikan prompt">
            <a:extLst>
              <a:ext uri="{FF2B5EF4-FFF2-40B4-BE49-F238E27FC236}">
                <a16:creationId xmlns:a16="http://schemas.microsoft.com/office/drawing/2014/main" id="{9DF8487B-785D-4868-923E-07F9AB687F47}"/>
              </a:ext>
            </a:extLst>
          </p:cNvPr>
          <p:cNvSpPr>
            <a:spLocks noGrp="1"/>
          </p:cNvSpPr>
          <p:nvPr/>
        </p:nvSpPr>
        <p:spPr>
          <a:xfrm>
            <a:off x="609600" y="381000"/>
            <a:ext cx="10934700" cy="548640"/>
          </a:xfrm>
          <a:prstGeom prst="rect">
            <a:avLst/>
          </a:prstGeom>
          <a:noFill/>
          <a:ln w="0">
            <a:noFill/>
          </a:ln>
        </p:spPr>
        <p:txBody>
          <a:bodyPr anchor="t">
            <a:noAutofit/>
          </a:bodyPr>
          <a:lstStyle/>
          <a:p>
            <a:pPr>
              <a:defRPr sz="2880" b="1">
                <a:solidFill>
                  <a:srgbClr val="172820"/>
                </a:solidFill>
                <a:latin typeface="Arial"/>
                <a:ea typeface="Arial"/>
                <a:cs typeface="Arial"/>
              </a:defRPr>
            </a:pPr>
            <a:r>
              <a:rPr sz="2880" b="1">
                <a:solidFill>
                  <a:srgbClr val="172820"/>
                </a:solidFill>
                <a:latin typeface="Arial"/>
                <a:ea typeface="Arial"/>
                <a:cs typeface="Arial"/>
              </a:rPr>
              <a:t>Data dummy, review, dan perbaikan prompt</a:t>
            </a:r>
          </a:p>
        </p:txBody>
      </p:sp>
      <p:sp>
        <p:nvSpPr>
          <p:cNvPr id="2" name="Lanjutkan setelah page dan reusable card selesai dibuat">
            <a:extLst>
              <a:ext uri="{FF2B5EF4-FFF2-40B4-BE49-F238E27FC236}">
                <a16:creationId xmlns:a16="http://schemas.microsoft.com/office/drawing/2014/main" id="{01DEB5E3-6C42-4974-8339-59693A920C1C}"/>
              </a:ext>
            </a:extLst>
          </p:cNvPr>
          <p:cNvSpPr>
            <a:spLocks noGrp="1"/>
          </p:cNvSpPr>
          <p:nvPr/>
        </p:nvSpPr>
        <p:spPr>
          <a:xfrm>
            <a:off x="609600" y="990600"/>
            <a:ext cx="10744200" cy="441960"/>
          </a:xfrm>
          <a:prstGeom prst="rect">
            <a:avLst/>
          </a:prstGeom>
          <a:noFill/>
          <a:ln w="0">
            <a:noFill/>
          </a:ln>
        </p:spPr>
        <p:txBody>
          <a:bodyPr anchor="t">
            <a:noAutofit/>
          </a:bodyPr>
          <a:lstStyle/>
          <a:p>
            <a:pPr>
              <a:defRPr sz="1500" b="0">
                <a:solidFill>
                  <a:srgbClr val="64736C"/>
                </a:solidFill>
                <a:latin typeface="Arial"/>
                <a:ea typeface="Arial"/>
                <a:cs typeface="Arial"/>
              </a:defRPr>
            </a:pPr>
            <a:r>
              <a:rPr sz="1500" b="0">
                <a:solidFill>
                  <a:srgbClr val="64736C"/>
                </a:solidFill>
                <a:latin typeface="Arial"/>
                <a:ea typeface="Arial"/>
                <a:cs typeface="Arial"/>
              </a:rPr>
              <a:t>Lanjutkan setelah page dan reusable card selesai dibuat</a:t>
            </a:r>
          </a:p>
        </p:txBody>
      </p:sp>
      <p:sp>
        <p:nvSpPr>
          <p:cNvPr id="3" name="HTML-FMX · Healthcare wireframe case study">
            <a:extLst>
              <a:ext uri="{FF2B5EF4-FFF2-40B4-BE49-F238E27FC236}">
                <a16:creationId xmlns:a16="http://schemas.microsoft.com/office/drawing/2014/main" id="{A6120EF0-4AD7-47F6-871F-A79135D64B20}"/>
              </a:ext>
            </a:extLst>
          </p:cNvPr>
          <p:cNvSpPr>
            <a:spLocks noGrp="1"/>
          </p:cNvSpPr>
          <p:nvPr/>
        </p:nvSpPr>
        <p:spPr>
          <a:xfrm>
            <a:off x="609600" y="6537960"/>
            <a:ext cx="6858000" cy="167640"/>
          </a:xfrm>
          <a:prstGeom prst="rect">
            <a:avLst/>
          </a:prstGeom>
          <a:noFill/>
          <a:ln w="0">
            <a:noFill/>
          </a:ln>
        </p:spPr>
        <p:txBody>
          <a:bodyPr anchor="t">
            <a:noAutofit/>
          </a:bodyPr>
          <a:lstStyle/>
          <a:p>
            <a:pPr>
              <a:defRPr sz="960" b="0">
                <a:solidFill>
                  <a:srgbClr val="64736C"/>
                </a:solidFill>
                <a:latin typeface="Arial"/>
                <a:ea typeface="Arial"/>
                <a:cs typeface="Arial"/>
              </a:defRPr>
            </a:pPr>
            <a:r>
              <a:rPr sz="960" b="0">
                <a:solidFill>
                  <a:srgbClr val="64736C"/>
                </a:solidFill>
                <a:latin typeface="Arial"/>
                <a:ea typeface="Arial"/>
                <a:cs typeface="Arial"/>
              </a:rPr>
              <a:t>HTML-FMX · Healthcare wireframe case study</a:t>
            </a:r>
          </a:p>
        </p:txBody>
      </p:sp>
      <p:sp>
        <p:nvSpPr>
          <p:cNvPr id="4" name="11">
            <a:extLst>
              <a:ext uri="{FF2B5EF4-FFF2-40B4-BE49-F238E27FC236}">
                <a16:creationId xmlns:a16="http://schemas.microsoft.com/office/drawing/2014/main" id="{27332288-60A9-4FD6-82DC-052FA0760DC9}"/>
              </a:ext>
            </a:extLst>
          </p:cNvPr>
          <p:cNvSpPr>
            <a:spLocks noGrp="1"/>
          </p:cNvSpPr>
          <p:nvPr/>
        </p:nvSpPr>
        <p:spPr>
          <a:xfrm>
            <a:off x="11201400" y="6515100"/>
            <a:ext cx="419100" cy="182880"/>
          </a:xfrm>
          <a:prstGeom prst="rect">
            <a:avLst/>
          </a:prstGeom>
          <a:noFill/>
          <a:ln w="0">
            <a:noFill/>
          </a:ln>
        </p:spPr>
        <p:txBody>
          <a:bodyPr anchor="t">
            <a:noAutofit/>
          </a:bodyPr>
          <a:lstStyle/>
          <a:p>
            <a:pPr>
              <a:defRPr sz="1080" b="0">
                <a:solidFill>
                  <a:srgbClr val="64736C"/>
                </a:solidFill>
                <a:latin typeface="Arial"/>
                <a:ea typeface="Arial"/>
                <a:cs typeface="Arial"/>
              </a:defRPr>
            </a:pPr>
            <a:r>
              <a:rPr sz="1080" b="0">
                <a:solidFill>
                  <a:srgbClr val="64736C"/>
                </a:solidFill>
                <a:latin typeface="Arial"/>
                <a:ea typeface="Arial"/>
                <a:cs typeface="Arial"/>
              </a:rPr>
              <a:t>11</a:t>
            </a:r>
          </a:p>
        </p:txBody>
      </p:sp>
      <p:sp>
        <p:nvSpPr>
          <p:cNvPr id="5" name="Prompt lanjutan untuk data dummy">
            <a:extLst>
              <a:ext uri="{FF2B5EF4-FFF2-40B4-BE49-F238E27FC236}">
                <a16:creationId xmlns:a16="http://schemas.microsoft.com/office/drawing/2014/main" id="{07B7254B-00CB-4CA9-BDBD-FAC678971AE8}"/>
              </a:ext>
            </a:extLst>
          </p:cNvPr>
          <p:cNvSpPr>
            <a:spLocks noGrp="1"/>
          </p:cNvSpPr>
          <p:nvPr/>
        </p:nvSpPr>
        <p:spPr>
          <a:xfrm>
            <a:off x="609600" y="1714500"/>
            <a:ext cx="5638800" cy="701040"/>
          </a:xfrm>
          <a:prstGeom prst="rect">
            <a:avLst/>
          </a:prstGeom>
          <a:noFill/>
          <a:ln w="0">
            <a:noFill/>
          </a:ln>
        </p:spPr>
        <p:txBody>
          <a:bodyPr anchor="t">
            <a:noAutofit/>
          </a:bodyPr>
          <a:lstStyle/>
          <a:p>
            <a:pPr>
              <a:defRPr sz="2040" b="1">
                <a:solidFill>
                  <a:srgbClr val="1F6F54"/>
                </a:solidFill>
                <a:latin typeface="Arial"/>
                <a:ea typeface="Arial"/>
                <a:cs typeface="Arial"/>
              </a:defRPr>
            </a:pPr>
            <a:r>
              <a:rPr sz="2040" b="1">
                <a:solidFill>
                  <a:srgbClr val="1F6F54"/>
                </a:solidFill>
                <a:latin typeface="Arial"/>
                <a:ea typeface="Arial"/>
                <a:cs typeface="Arial"/>
              </a:rPr>
              <a:t>Prompt lanjutan untuk data dummy</a:t>
            </a:r>
          </a:p>
        </p:txBody>
      </p:sp>
      <p:sp>
        <p:nvSpPr>
          <p:cNvPr id="6" name="Tambahkan data dummy fiktif menggunakan card yang sudah dibu">
            <a:extLst>
              <a:ext uri="{FF2B5EF4-FFF2-40B4-BE49-F238E27FC236}">
                <a16:creationId xmlns:a16="http://schemas.microsoft.com/office/drawing/2014/main" id="{737F6148-18CB-437C-A6DE-3D6D01DCF588}"/>
              </a:ext>
            </a:extLst>
          </p:cNvPr>
          <p:cNvSpPr>
            <a:spLocks noGrp="1"/>
          </p:cNvSpPr>
          <p:nvPr/>
        </p:nvSpPr>
        <p:spPr>
          <a:xfrm>
            <a:off x="609600" y="2552700"/>
            <a:ext cx="5372100" cy="2834640"/>
          </a:xfrm>
          <a:prstGeom prst="rect">
            <a:avLst/>
          </a:prstGeom>
          <a:noFill/>
          <a:ln w="0">
            <a:noFill/>
          </a:ln>
        </p:spPr>
        <p:txBody>
          <a:bodyPr anchor="t">
            <a:noAutofit/>
          </a:bodyPr>
          <a:lstStyle/>
          <a:p>
            <a:pPr>
              <a:defRPr sz="1740" b="0">
                <a:solidFill>
                  <a:srgbClr val="172820"/>
                </a:solidFill>
                <a:latin typeface="Arial"/>
                <a:ea typeface="Arial"/>
                <a:cs typeface="Arial"/>
              </a:defRPr>
            </a:pPr>
            <a:r>
              <a:rPr sz="1740" b="0">
                <a:solidFill>
                  <a:srgbClr val="172820"/>
                </a:solidFill>
                <a:latin typeface="Arial"/>
                <a:ea typeface="Arial"/>
                <a:cs typeface="Arial"/>
              </a:rPr>
              <a:t>Tambahkan data dummy fiktif menggunakan card yang sudah dibuat. Implementasikan card tersebut pada page UI: buat item daftar, pasang instance card, dan isi datanya melalui binding yang tersedia. Muat data demo sekali saat halaman dibuat. Pertahankan binding data berikutnya, termasuk hasil kosong.</a:t>
            </a:r>
          </a:p>
        </p:txBody>
      </p:sp>
      <p:sp>
        <p:nvSpPr>
          <p:cNvPr id="7" name="Langkah setelah data terisi">
            <a:extLst>
              <a:ext uri="{FF2B5EF4-FFF2-40B4-BE49-F238E27FC236}">
                <a16:creationId xmlns:a16="http://schemas.microsoft.com/office/drawing/2014/main" id="{3706BD2A-9311-41D2-8BA4-32FA784B2C4C}"/>
              </a:ext>
            </a:extLst>
          </p:cNvPr>
          <p:cNvSpPr>
            <a:spLocks noGrp="1"/>
          </p:cNvSpPr>
          <p:nvPr/>
        </p:nvSpPr>
        <p:spPr>
          <a:xfrm>
            <a:off x="6591300" y="1714500"/>
            <a:ext cx="4876800" cy="419100"/>
          </a:xfrm>
          <a:prstGeom prst="rect">
            <a:avLst/>
          </a:prstGeom>
          <a:noFill/>
          <a:ln w="0">
            <a:noFill/>
          </a:ln>
        </p:spPr>
        <p:txBody>
          <a:bodyPr anchor="t">
            <a:noAutofit/>
          </a:bodyPr>
          <a:lstStyle/>
          <a:p>
            <a:pPr>
              <a:defRPr sz="2040" b="1">
                <a:solidFill>
                  <a:srgbClr val="1F6F54"/>
                </a:solidFill>
                <a:latin typeface="Arial"/>
                <a:ea typeface="Arial"/>
                <a:cs typeface="Arial"/>
              </a:defRPr>
            </a:pPr>
            <a:r>
              <a:rPr sz="2040" b="1">
                <a:solidFill>
                  <a:srgbClr val="1F6F54"/>
                </a:solidFill>
                <a:latin typeface="Arial"/>
                <a:ea typeface="Arial"/>
                <a:cs typeface="Arial"/>
              </a:rPr>
              <a:t>Langkah setelah data terisi</a:t>
            </a:r>
          </a:p>
        </p:txBody>
      </p:sp>
      <p:sp>
        <p:nvSpPr>
          <p:cNvPr id="8" name="Buka page di RAD Studio Designer, lalu jalankan aplikasi. Pe">
            <a:extLst>
              <a:ext uri="{FF2B5EF4-FFF2-40B4-BE49-F238E27FC236}">
                <a16:creationId xmlns:a16="http://schemas.microsoft.com/office/drawing/2014/main" id="{D1716350-4F6B-4B29-9BD4-4DB39AB2A95F}"/>
              </a:ext>
            </a:extLst>
          </p:cNvPr>
          <p:cNvSpPr>
            <a:spLocks noGrp="1"/>
          </p:cNvSpPr>
          <p:nvPr/>
        </p:nvSpPr>
        <p:spPr>
          <a:xfrm>
            <a:off x="6591300" y="2286000"/>
            <a:ext cx="4876800" cy="1790700"/>
          </a:xfrm>
          <a:prstGeom prst="rect">
            <a:avLst/>
          </a:prstGeom>
          <a:noFill/>
          <a:ln w="0">
            <a:noFill/>
          </a:ln>
        </p:spPr>
        <p:txBody>
          <a:bodyPr anchor="t">
            <a:noAutofit/>
          </a:bodyPr>
          <a:lstStyle/>
          <a:p>
            <a:pPr>
              <a:defRPr sz="1680" b="0">
                <a:solidFill>
                  <a:srgbClr val="172820"/>
                </a:solidFill>
                <a:latin typeface="Arial"/>
                <a:ea typeface="Arial"/>
                <a:cs typeface="Arial"/>
              </a:defRPr>
            </a:pPr>
            <a:r>
              <a:rPr sz="1680" b="0">
                <a:solidFill>
                  <a:srgbClr val="172820"/>
                </a:solidFill>
                <a:latin typeface="Arial"/>
                <a:ea typeface="Arial"/>
                <a:cs typeface="Arial"/>
              </a:rPr>
              <a:t>Buka page di RAD Studio Designer, lalu jalankan aplikasi. Periksa hierarki, tampilan card, area scroll, dan navigasi bawah. Bandingkan hasil dengan wireframe serta warna DESIGN.md. Catat pemeriksaan yang benar-benar dijalankan.</a:t>
            </a:r>
          </a:p>
        </p:txBody>
      </p:sp>
      <p:sp>
        <p:nvSpPr>
          <p:cNvPr id="9" name="Saran perbaikan untuk prompt Metode 4">
            <a:extLst>
              <a:ext uri="{FF2B5EF4-FFF2-40B4-BE49-F238E27FC236}">
                <a16:creationId xmlns:a16="http://schemas.microsoft.com/office/drawing/2014/main" id="{C93DE06E-72CC-49CA-BF2A-4E4276230C0C}"/>
              </a:ext>
            </a:extLst>
          </p:cNvPr>
          <p:cNvSpPr>
            <a:spLocks noGrp="1"/>
          </p:cNvSpPr>
          <p:nvPr/>
        </p:nvSpPr>
        <p:spPr>
          <a:xfrm>
            <a:off x="6591300" y="4282440"/>
            <a:ext cx="4876800" cy="716280"/>
          </a:xfrm>
          <a:prstGeom prst="rect">
            <a:avLst/>
          </a:prstGeom>
          <a:noFill/>
          <a:ln w="0">
            <a:noFill/>
          </a:ln>
        </p:spPr>
        <p:txBody>
          <a:bodyPr anchor="t">
            <a:noAutofit/>
          </a:bodyPr>
          <a:lstStyle/>
          <a:p>
            <a:pPr>
              <a:defRPr sz="1920" b="1">
                <a:solidFill>
                  <a:srgbClr val="1F6F54"/>
                </a:solidFill>
                <a:latin typeface="Arial"/>
                <a:ea typeface="Arial"/>
                <a:cs typeface="Arial"/>
              </a:defRPr>
            </a:pPr>
            <a:r>
              <a:rPr sz="1920" b="1">
                <a:solidFill>
                  <a:srgbClr val="1F6F54"/>
                </a:solidFill>
                <a:latin typeface="Arial"/>
                <a:ea typeface="Arial"/>
                <a:cs typeface="Arial"/>
              </a:rPr>
              <a:t>Saran perbaikan untuk prompt Metode 4</a:t>
            </a:r>
          </a:p>
        </p:txBody>
      </p:sp>
      <p:sp>
        <p:nvSpPr>
          <p:cNvPr id="10" name="Sebelum membuat HTML/CSS, baca project/DESIGN.md dan gunakan">
            <a:extLst>
              <a:ext uri="{FF2B5EF4-FFF2-40B4-BE49-F238E27FC236}">
                <a16:creationId xmlns:a16="http://schemas.microsoft.com/office/drawing/2014/main" id="{88C945C8-4626-49DE-8609-70C13D366A52}"/>
              </a:ext>
            </a:extLst>
          </p:cNvPr>
          <p:cNvSpPr>
            <a:spLocks noGrp="1"/>
          </p:cNvSpPr>
          <p:nvPr/>
        </p:nvSpPr>
        <p:spPr>
          <a:xfrm>
            <a:off x="6591300" y="5029200"/>
            <a:ext cx="4876800" cy="1028700"/>
          </a:xfrm>
          <a:prstGeom prst="rect">
            <a:avLst/>
          </a:prstGeom>
          <a:noFill/>
          <a:ln w="0">
            <a:noFill/>
          </a:ln>
        </p:spPr>
        <p:txBody>
          <a:bodyPr anchor="t">
            <a:noAutofit/>
          </a:bodyPr>
          <a:lstStyle/>
          <a:p>
            <a:pPr>
              <a:defRPr sz="1620" b="0">
                <a:solidFill>
                  <a:srgbClr val="172820"/>
                </a:solidFill>
                <a:latin typeface="Arial"/>
                <a:ea typeface="Arial"/>
                <a:cs typeface="Arial"/>
              </a:defRPr>
            </a:pPr>
            <a:r>
              <a:rPr sz="1620" b="0">
                <a:solidFill>
                  <a:srgbClr val="172820"/>
                </a:solidFill>
                <a:latin typeface="Arial"/>
                <a:ea typeface="Arial"/>
                <a:cs typeface="Arial"/>
              </a:rPr>
              <a:t>Sebelum membuat HTML/CSS, baca project/DESIGN.md dan gunakan token warnanya. Pertahankan aturan warna tersebut saat konversi ke FMX.</a:t>
            </a:r>
          </a:p>
        </p:txBody>
      </p:sp>
      <p:sp>
        <p:nvSpPr>
          <p:cNvPr id="11" name="Tambahan instruksi DESIGN.md ini adalah saran untuk percobaa">
            <a:extLst>
              <a:ext uri="{FF2B5EF4-FFF2-40B4-BE49-F238E27FC236}">
                <a16:creationId xmlns:a16="http://schemas.microsoft.com/office/drawing/2014/main" id="{463ACB7D-EB4D-49D6-BA32-0122569AFB12}"/>
              </a:ext>
            </a:extLst>
          </p:cNvPr>
          <p:cNvSpPr>
            <a:spLocks noGrp="1"/>
          </p:cNvSpPr>
          <p:nvPr/>
        </p:nvSpPr>
        <p:spPr>
          <a:xfrm>
            <a:off x="609600" y="6126480"/>
            <a:ext cx="10858500" cy="320040"/>
          </a:xfrm>
          <a:prstGeom prst="rect">
            <a:avLst/>
          </a:prstGeom>
          <a:noFill/>
          <a:ln w="0">
            <a:noFill/>
          </a:ln>
        </p:spPr>
        <p:txBody>
          <a:bodyPr anchor="t">
            <a:noAutofit/>
          </a:bodyPr>
          <a:lstStyle/>
          <a:p>
            <a:pPr>
              <a:defRPr sz="1500" b="0">
                <a:solidFill>
                  <a:srgbClr val="64736C"/>
                </a:solidFill>
                <a:latin typeface="Arial"/>
                <a:ea typeface="Arial"/>
                <a:cs typeface="Arial"/>
              </a:defRPr>
            </a:pPr>
            <a:r>
              <a:rPr sz="1500" b="0">
                <a:solidFill>
                  <a:srgbClr val="64736C"/>
                </a:solidFill>
                <a:latin typeface="Arial"/>
                <a:ea typeface="Arial"/>
                <a:cs typeface="Arial"/>
              </a:rPr>
              <a:t>Tambahan instruksi DESIGN.md ini adalah saran untuk percobaan berikutnya.</a:t>
            </a:r>
          </a:p>
        </p:txBody>
      </p:sp>
    </p:spTree>
    <p:extLst>
      <p:ext uri="{BB962C8B-B14F-4D97-AF65-F5344CB8AC3E}">
        <p14:creationId xmlns:p14="http://schemas.microsoft.com/office/powerpoint/2010/main" val="12311580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53377D2D-339A-4103-800D-93D0DCA46FF1}"/>
              </a:ext>
            </a:extLst>
          </p:cNvPr>
          <p:cNvSpPr>
            <a:spLocks noGrp="1"/>
          </p:cNvSpPr>
          <p:nvPr/>
        </p:nvSpPr>
        <p:spPr>
          <a:xfrm>
            <a:off x="685800" y="6477000"/>
            <a:ext cx="5715000" cy="190500"/>
          </a:xfrm>
          <a:prstGeom prst="rect">
            <a:avLst/>
          </a:prstGeom>
          <a:noFill/>
          <a:ln w="0">
            <a:noFill/>
          </a:ln>
        </p:spPr>
        <p:txBody>
          <a:bodyPr anchor="t">
            <a:normAutofit fontScale="78788" lnSpcReduction="10000"/>
          </a:bodyPr>
          <a:lstStyle/>
          <a:p>
            <a:pPr algn="l">
              <a:buNone/>
              <a:defRPr sz="825" b="0">
                <a:solidFill>
                  <a:srgbClr val="64736C"/>
                </a:solidFill>
                <a:latin typeface="Arial"/>
                <a:ea typeface="Arial"/>
                <a:cs typeface="Arial"/>
              </a:defRPr>
            </a:pPr>
            <a:r>
              <a:rPr sz="825" b="0">
                <a:solidFill>
                  <a:srgbClr val="64736C"/>
                </a:solidFill>
                <a:latin typeface="Arial"/>
                <a:ea typeface="Arial"/>
                <a:cs typeface="Arial"/>
              </a:rPr>
              <a:t>HTML-FMX · Healthcare wireframe case study</a:t>
            </a:r>
          </a:p>
        </p:txBody>
      </p:sp>
      <p:sp>
        <p:nvSpPr>
          <p:cNvPr id="2" name="Rectangle 1">
            <a:extLst>
              <a:ext uri="{FF2B5EF4-FFF2-40B4-BE49-F238E27FC236}">
                <a16:creationId xmlns:a16="http://schemas.microsoft.com/office/drawing/2014/main" id="{6F1CA6D4-FB58-41A7-996E-5DA3D4FF742F}"/>
              </a:ext>
            </a:extLst>
          </p:cNvPr>
          <p:cNvSpPr>
            <a:spLocks noGrp="1"/>
          </p:cNvSpPr>
          <p:nvPr/>
        </p:nvSpPr>
        <p:spPr>
          <a:xfrm>
            <a:off x="11049000" y="6438900"/>
            <a:ext cx="457200" cy="190500"/>
          </a:xfrm>
          <a:prstGeom prst="rect">
            <a:avLst/>
          </a:prstGeom>
          <a:noFill/>
          <a:ln w="0">
            <a:noFill/>
          </a:ln>
        </p:spPr>
        <p:txBody>
          <a:bodyPr anchor="t">
            <a:normAutofit fontScale="78788" lnSpcReduction="10000"/>
          </a:bodyPr>
          <a:lstStyle/>
          <a:p>
            <a:pPr algn="r">
              <a:buNone/>
              <a:defRPr sz="825" b="0">
                <a:solidFill>
                  <a:srgbClr val="64736C"/>
                </a:solidFill>
                <a:latin typeface="Arial"/>
                <a:ea typeface="Arial"/>
                <a:cs typeface="Arial"/>
              </a:defRPr>
            </a:pPr>
            <a:r>
              <a:rPr sz="825" b="0">
                <a:solidFill>
                  <a:srgbClr val="64736C"/>
                </a:solidFill>
                <a:latin typeface="Arial"/>
                <a:ea typeface="Arial"/>
                <a:cs typeface="Arial"/>
              </a:rPr>
              <a:t>12</a:t>
            </a:r>
          </a:p>
        </p:txBody>
      </p:sp>
      <p:sp>
        <p:nvSpPr>
          <p:cNvPr id="3" name="Rectangle 2">
            <a:extLst>
              <a:ext uri="{FF2B5EF4-FFF2-40B4-BE49-F238E27FC236}">
                <a16:creationId xmlns:a16="http://schemas.microsoft.com/office/drawing/2014/main" id="{6044A05B-A610-4A13-BC2C-6949EC2F37EF}"/>
              </a:ext>
            </a:extLst>
          </p:cNvPr>
          <p:cNvSpPr>
            <a:spLocks noGrp="1"/>
          </p:cNvSpPr>
          <p:nvPr/>
        </p:nvSpPr>
        <p:spPr>
          <a:xfrm>
            <a:off x="685800" y="514350"/>
            <a:ext cx="10668000" cy="495300"/>
          </a:xfrm>
          <a:prstGeom prst="rect">
            <a:avLst/>
          </a:prstGeom>
          <a:noFill/>
          <a:ln w="0">
            <a:noFill/>
          </a:ln>
        </p:spPr>
        <p:txBody>
          <a:bodyPr anchor="t">
            <a:normAutofit/>
          </a:bodyPr>
          <a:lstStyle/>
          <a:p>
            <a:pPr algn="l">
              <a:buNone/>
              <a:defRPr sz="2400" b="1">
                <a:solidFill>
                  <a:srgbClr val="172820"/>
                </a:solidFill>
                <a:latin typeface="Arial"/>
                <a:ea typeface="Arial"/>
                <a:cs typeface="Arial"/>
              </a:defRPr>
            </a:pPr>
            <a:r>
              <a:rPr sz="2400" b="1">
                <a:solidFill>
                  <a:srgbClr val="172820"/>
                </a:solidFill>
                <a:latin typeface="Arial"/>
                <a:ea typeface="Arial"/>
                <a:cs typeface="Arial"/>
              </a:rPr>
              <a:t>Eksperimen yang adil membutuhkan baseline yang sama</a:t>
            </a:r>
          </a:p>
        </p:txBody>
      </p:sp>
      <p:sp>
        <p:nvSpPr>
          <p:cNvPr id="4" name="Rectangle 3">
            <a:extLst>
              <a:ext uri="{FF2B5EF4-FFF2-40B4-BE49-F238E27FC236}">
                <a16:creationId xmlns:a16="http://schemas.microsoft.com/office/drawing/2014/main" id="{356CBA7B-9A3A-4BA0-B850-B2B52FCB36FD}"/>
              </a:ext>
            </a:extLst>
          </p:cNvPr>
          <p:cNvSpPr>
            <a:spLocks noGrp="1"/>
          </p:cNvSpPr>
          <p:nvPr/>
        </p:nvSpPr>
        <p:spPr>
          <a:xfrm>
            <a:off x="685800" y="1066800"/>
            <a:ext cx="10287000" cy="323850"/>
          </a:xfrm>
          <a:prstGeom prst="rect">
            <a:avLst/>
          </a:prstGeom>
          <a:noFill/>
          <a:ln w="0">
            <a:noFill/>
          </a:ln>
        </p:spPr>
        <p:txBody>
          <a:bodyPr anchor="t">
            <a:normAutofit/>
          </a:bodyPr>
          <a:lstStyle/>
          <a:p>
            <a:pPr algn="l">
              <a:buNone/>
              <a:defRPr sz="1200" b="0">
                <a:solidFill>
                  <a:srgbClr val="64736C"/>
                </a:solidFill>
                <a:latin typeface="Arial"/>
                <a:ea typeface="Arial"/>
                <a:cs typeface="Arial"/>
              </a:defRPr>
            </a:pPr>
            <a:r>
              <a:rPr sz="1200" b="0">
                <a:solidFill>
                  <a:srgbClr val="64736C"/>
                </a:solidFill>
                <a:latin typeface="Arial"/>
                <a:ea typeface="Arial"/>
                <a:cs typeface="Arial"/>
              </a:rPr>
              <a:t>Perbandingan ini menilai hasil implementasi, bukan sekadar kemampuan membuat gambar UI yang menarik.</a:t>
            </a:r>
          </a:p>
        </p:txBody>
      </p:sp>
      <p:sp>
        <p:nvSpPr>
          <p:cNvPr id="5" name="Rectangle 4">
            <a:extLst>
              <a:ext uri="{FF2B5EF4-FFF2-40B4-BE49-F238E27FC236}">
                <a16:creationId xmlns:a16="http://schemas.microsoft.com/office/drawing/2014/main" id="{9E680505-F57C-42AA-AF72-05844FA658A4}"/>
              </a:ext>
            </a:extLst>
          </p:cNvPr>
          <p:cNvSpPr>
            <a:spLocks noGrp="1"/>
          </p:cNvSpPr>
          <p:nvPr/>
        </p:nvSpPr>
        <p:spPr>
          <a:xfrm>
            <a:off x="685800" y="1952625"/>
            <a:ext cx="2095500" cy="285750"/>
          </a:xfrm>
          <a:prstGeom prst="rect">
            <a:avLst/>
          </a:prstGeom>
          <a:noFill/>
          <a:ln w="0">
            <a:noFill/>
          </a:ln>
        </p:spPr>
        <p:txBody>
          <a:bodyPr anchor="t">
            <a:normAutofit fontScale="85000" lnSpcReduction="10000"/>
          </a:bodyPr>
          <a:lstStyle/>
          <a:p>
            <a:pPr algn="l">
              <a:buNone/>
              <a:defRPr sz="1500" b="1">
                <a:solidFill>
                  <a:srgbClr val="1F6F54"/>
                </a:solidFill>
                <a:latin typeface="Arial"/>
                <a:ea typeface="Arial"/>
                <a:cs typeface="Arial"/>
              </a:defRPr>
            </a:pPr>
            <a:r>
              <a:rPr sz="1500" b="1">
                <a:solidFill>
                  <a:srgbClr val="1F6F54"/>
                </a:solidFill>
                <a:latin typeface="Arial"/>
                <a:ea typeface="Arial"/>
                <a:cs typeface="Arial"/>
              </a:rPr>
              <a:t>Input</a:t>
            </a:r>
          </a:p>
        </p:txBody>
      </p:sp>
      <p:sp>
        <p:nvSpPr>
          <p:cNvPr id="6" name="Straight Connector 5">
            <a:extLst>
              <a:ext uri="{FF2B5EF4-FFF2-40B4-BE49-F238E27FC236}">
                <a16:creationId xmlns:a16="http://schemas.microsoft.com/office/drawing/2014/main" id="{28754118-D54C-49C1-9099-40EAEAC98690}"/>
              </a:ext>
            </a:extLst>
          </p:cNvPr>
          <p:cNvSpPr>
            <a:spLocks noGrp="1"/>
          </p:cNvSpPr>
          <p:nvPr/>
        </p:nvSpPr>
        <p:spPr>
          <a:xfrm>
            <a:off x="685800" y="2381250"/>
            <a:ext cx="2019300" cy="0"/>
          </a:xfrm>
          <a:prstGeom prst="line">
            <a:avLst/>
          </a:prstGeom>
          <a:noFill/>
          <a:ln w="11430">
            <a:solidFill>
              <a:srgbClr val="1F6F54"/>
            </a:solidFill>
          </a:ln>
        </p:spPr>
      </p:sp>
      <p:sp>
        <p:nvSpPr>
          <p:cNvPr id="7" name="Rectangle 6">
            <a:extLst>
              <a:ext uri="{FF2B5EF4-FFF2-40B4-BE49-F238E27FC236}">
                <a16:creationId xmlns:a16="http://schemas.microsoft.com/office/drawing/2014/main" id="{0632ED0E-A79A-4D57-9EC0-805DB5E1E533}"/>
              </a:ext>
            </a:extLst>
          </p:cNvPr>
          <p:cNvSpPr>
            <a:spLocks noGrp="1"/>
          </p:cNvSpPr>
          <p:nvPr/>
        </p:nvSpPr>
        <p:spPr>
          <a:xfrm>
            <a:off x="685800" y="2619375"/>
            <a:ext cx="2076450" cy="1104900"/>
          </a:xfrm>
          <a:prstGeom prst="rect">
            <a:avLst/>
          </a:prstGeom>
          <a:noFill/>
          <a:ln w="0">
            <a:noFill/>
          </a:ln>
        </p:spPr>
        <p:txBody>
          <a:bodyPr anchor="t">
            <a:normAutofit/>
          </a:bodyPr>
          <a:lstStyle/>
          <a:p>
            <a:pPr algn="l">
              <a:buNone/>
              <a:defRPr sz="1350" b="0">
                <a:solidFill>
                  <a:srgbClr val="172820"/>
                </a:solidFill>
                <a:latin typeface="Arial"/>
                <a:ea typeface="Arial"/>
                <a:cs typeface="Arial"/>
              </a:defRPr>
            </a:pPr>
            <a:r>
              <a:rPr sz="1350" b="0">
                <a:solidFill>
                  <a:srgbClr val="172820"/>
                </a:solidFill>
                <a:latin typeface="Arial"/>
                <a:ea typeface="Arial"/>
                <a:cs typeface="Arial"/>
              </a:rPr>
              <a:t>Wireframe dan detail description healthcare yang identik</a:t>
            </a:r>
          </a:p>
        </p:txBody>
      </p:sp>
      <p:sp>
        <p:nvSpPr>
          <p:cNvPr id="8" name="Rectangle 7">
            <a:extLst>
              <a:ext uri="{FF2B5EF4-FFF2-40B4-BE49-F238E27FC236}">
                <a16:creationId xmlns:a16="http://schemas.microsoft.com/office/drawing/2014/main" id="{0973722D-3469-4C52-BA5E-05E0370C8F6F}"/>
              </a:ext>
            </a:extLst>
          </p:cNvPr>
          <p:cNvSpPr>
            <a:spLocks noGrp="1"/>
          </p:cNvSpPr>
          <p:nvPr/>
        </p:nvSpPr>
        <p:spPr>
          <a:xfrm>
            <a:off x="3314700" y="1952625"/>
            <a:ext cx="2095500" cy="285750"/>
          </a:xfrm>
          <a:prstGeom prst="rect">
            <a:avLst/>
          </a:prstGeom>
          <a:noFill/>
          <a:ln w="0">
            <a:noFill/>
          </a:ln>
        </p:spPr>
        <p:txBody>
          <a:bodyPr anchor="t">
            <a:normAutofit fontScale="85000" lnSpcReduction="10000"/>
          </a:bodyPr>
          <a:lstStyle/>
          <a:p>
            <a:pPr algn="l">
              <a:buNone/>
              <a:defRPr sz="1500" b="1">
                <a:solidFill>
                  <a:srgbClr val="1F6F54"/>
                </a:solidFill>
                <a:latin typeface="Arial"/>
                <a:ea typeface="Arial"/>
                <a:cs typeface="Arial"/>
              </a:defRPr>
            </a:pPr>
            <a:r>
              <a:rPr sz="1500" b="1">
                <a:solidFill>
                  <a:srgbClr val="1F6F54"/>
                </a:solidFill>
                <a:latin typeface="Arial"/>
                <a:ea typeface="Arial"/>
                <a:cs typeface="Arial"/>
              </a:rPr>
              <a:t>Model</a:t>
            </a:r>
          </a:p>
        </p:txBody>
      </p:sp>
      <p:sp>
        <p:nvSpPr>
          <p:cNvPr id="9" name="Straight Connector 8">
            <a:extLst>
              <a:ext uri="{FF2B5EF4-FFF2-40B4-BE49-F238E27FC236}">
                <a16:creationId xmlns:a16="http://schemas.microsoft.com/office/drawing/2014/main" id="{129CAC1F-C0ED-49B8-9B82-EA12397DD79E}"/>
              </a:ext>
            </a:extLst>
          </p:cNvPr>
          <p:cNvSpPr>
            <a:spLocks noGrp="1"/>
          </p:cNvSpPr>
          <p:nvPr/>
        </p:nvSpPr>
        <p:spPr>
          <a:xfrm>
            <a:off x="3314700" y="2381250"/>
            <a:ext cx="2019300" cy="0"/>
          </a:xfrm>
          <a:prstGeom prst="line">
            <a:avLst/>
          </a:prstGeom>
          <a:noFill/>
          <a:ln w="11430">
            <a:solidFill>
              <a:srgbClr val="1F6F54"/>
            </a:solidFill>
          </a:ln>
        </p:spPr>
      </p:sp>
      <p:sp>
        <p:nvSpPr>
          <p:cNvPr id="10" name="Rectangle 9">
            <a:extLst>
              <a:ext uri="{FF2B5EF4-FFF2-40B4-BE49-F238E27FC236}">
                <a16:creationId xmlns:a16="http://schemas.microsoft.com/office/drawing/2014/main" id="{627E937E-F5B4-43DC-B894-2370BC4F1258}"/>
              </a:ext>
            </a:extLst>
          </p:cNvPr>
          <p:cNvSpPr>
            <a:spLocks noGrp="1"/>
          </p:cNvSpPr>
          <p:nvPr/>
        </p:nvSpPr>
        <p:spPr>
          <a:xfrm>
            <a:off x="3314700" y="2619375"/>
            <a:ext cx="2076450" cy="1104900"/>
          </a:xfrm>
          <a:prstGeom prst="rect">
            <a:avLst/>
          </a:prstGeom>
          <a:noFill/>
          <a:ln w="0">
            <a:noFill/>
          </a:ln>
        </p:spPr>
        <p:txBody>
          <a:bodyPr anchor="t">
            <a:normAutofit/>
          </a:bodyPr>
          <a:lstStyle/>
          <a:p>
            <a:pPr algn="l">
              <a:buNone/>
              <a:defRPr sz="1350" b="0">
                <a:solidFill>
                  <a:srgbClr val="172820"/>
                </a:solidFill>
                <a:latin typeface="Arial"/>
                <a:ea typeface="Arial"/>
                <a:cs typeface="Arial"/>
              </a:defRPr>
            </a:pPr>
            <a:r>
              <a:rPr sz="1350" b="0">
                <a:solidFill>
                  <a:srgbClr val="172820"/>
                </a:solidFill>
                <a:latin typeface="Arial"/>
                <a:ea typeface="Arial"/>
                <a:cs typeface="Arial"/>
              </a:rPr>
              <a:t>GPT-6.1 Sol High untuk seluruh jalur</a:t>
            </a:r>
          </a:p>
        </p:txBody>
      </p:sp>
      <p:sp>
        <p:nvSpPr>
          <p:cNvPr id="11" name="Rectangle 10">
            <a:extLst>
              <a:ext uri="{FF2B5EF4-FFF2-40B4-BE49-F238E27FC236}">
                <a16:creationId xmlns:a16="http://schemas.microsoft.com/office/drawing/2014/main" id="{375E24D1-C129-4BA3-8C18-C9536B473FFF}"/>
              </a:ext>
            </a:extLst>
          </p:cNvPr>
          <p:cNvSpPr>
            <a:spLocks noGrp="1"/>
          </p:cNvSpPr>
          <p:nvPr/>
        </p:nvSpPr>
        <p:spPr>
          <a:xfrm>
            <a:off x="5943600" y="1952625"/>
            <a:ext cx="2095500" cy="285750"/>
          </a:xfrm>
          <a:prstGeom prst="rect">
            <a:avLst/>
          </a:prstGeom>
          <a:noFill/>
          <a:ln w="0">
            <a:noFill/>
          </a:ln>
        </p:spPr>
        <p:txBody>
          <a:bodyPr anchor="t">
            <a:normAutofit fontScale="85000" lnSpcReduction="10000"/>
          </a:bodyPr>
          <a:lstStyle/>
          <a:p>
            <a:pPr algn="l">
              <a:buNone/>
              <a:defRPr sz="1500" b="1">
                <a:solidFill>
                  <a:srgbClr val="1F6F54"/>
                </a:solidFill>
                <a:latin typeface="Arial"/>
                <a:ea typeface="Arial"/>
                <a:cs typeface="Arial"/>
              </a:defRPr>
            </a:pPr>
            <a:r>
              <a:rPr sz="1500" b="1">
                <a:solidFill>
                  <a:srgbClr val="1F6F54"/>
                </a:solidFill>
                <a:latin typeface="Arial"/>
                <a:ea typeface="Arial"/>
                <a:cs typeface="Arial"/>
              </a:rPr>
              <a:t>Target</a:t>
            </a:r>
          </a:p>
        </p:txBody>
      </p:sp>
      <p:sp>
        <p:nvSpPr>
          <p:cNvPr id="12" name="Straight Connector 11">
            <a:extLst>
              <a:ext uri="{FF2B5EF4-FFF2-40B4-BE49-F238E27FC236}">
                <a16:creationId xmlns:a16="http://schemas.microsoft.com/office/drawing/2014/main" id="{78393F6D-ED79-4DD7-99EA-A252865B5521}"/>
              </a:ext>
            </a:extLst>
          </p:cNvPr>
          <p:cNvSpPr>
            <a:spLocks noGrp="1"/>
          </p:cNvSpPr>
          <p:nvPr/>
        </p:nvSpPr>
        <p:spPr>
          <a:xfrm>
            <a:off x="5943600" y="2381250"/>
            <a:ext cx="2019300" cy="0"/>
          </a:xfrm>
          <a:prstGeom prst="line">
            <a:avLst/>
          </a:prstGeom>
          <a:noFill/>
          <a:ln w="11430">
            <a:solidFill>
              <a:srgbClr val="1F6F54"/>
            </a:solidFill>
          </a:ln>
        </p:spPr>
      </p:sp>
      <p:sp>
        <p:nvSpPr>
          <p:cNvPr id="13" name="Rectangle 12">
            <a:extLst>
              <a:ext uri="{FF2B5EF4-FFF2-40B4-BE49-F238E27FC236}">
                <a16:creationId xmlns:a16="http://schemas.microsoft.com/office/drawing/2014/main" id="{0D5E221C-9FD7-4EE0-9C2D-207AC5ADA5B5}"/>
              </a:ext>
            </a:extLst>
          </p:cNvPr>
          <p:cNvSpPr>
            <a:spLocks noGrp="1"/>
          </p:cNvSpPr>
          <p:nvPr/>
        </p:nvSpPr>
        <p:spPr>
          <a:xfrm>
            <a:off x="5943600" y="2619375"/>
            <a:ext cx="2076450" cy="1104900"/>
          </a:xfrm>
          <a:prstGeom prst="rect">
            <a:avLst/>
          </a:prstGeom>
          <a:noFill/>
          <a:ln w="0">
            <a:noFill/>
          </a:ln>
        </p:spPr>
        <p:txBody>
          <a:bodyPr anchor="t">
            <a:normAutofit/>
          </a:bodyPr>
          <a:lstStyle/>
          <a:p>
            <a:pPr algn="l">
              <a:buNone/>
              <a:defRPr sz="1350" b="0">
                <a:solidFill>
                  <a:srgbClr val="172820"/>
                </a:solidFill>
                <a:latin typeface="Arial"/>
                <a:ea typeface="Arial"/>
                <a:cs typeface="Arial"/>
              </a:defRPr>
            </a:pPr>
            <a:r>
              <a:rPr sz="1350" b="0">
                <a:solidFill>
                  <a:srgbClr val="172820"/>
                </a:solidFill>
                <a:latin typeface="Arial"/>
                <a:ea typeface="Arial"/>
                <a:cs typeface="Arial"/>
              </a:rPr>
              <a:t>Project FMX yang sama dan komitmen UI native</a:t>
            </a:r>
          </a:p>
        </p:txBody>
      </p:sp>
      <p:sp>
        <p:nvSpPr>
          <p:cNvPr id="14" name="Rectangle 13">
            <a:extLst>
              <a:ext uri="{FF2B5EF4-FFF2-40B4-BE49-F238E27FC236}">
                <a16:creationId xmlns:a16="http://schemas.microsoft.com/office/drawing/2014/main" id="{7807D51D-F3E6-435A-984A-6110257BF12E}"/>
              </a:ext>
            </a:extLst>
          </p:cNvPr>
          <p:cNvSpPr>
            <a:spLocks noGrp="1"/>
          </p:cNvSpPr>
          <p:nvPr/>
        </p:nvSpPr>
        <p:spPr>
          <a:xfrm>
            <a:off x="8572500" y="1952625"/>
            <a:ext cx="2095500" cy="285750"/>
          </a:xfrm>
          <a:prstGeom prst="rect">
            <a:avLst/>
          </a:prstGeom>
          <a:noFill/>
          <a:ln w="0">
            <a:noFill/>
          </a:ln>
        </p:spPr>
        <p:txBody>
          <a:bodyPr anchor="t">
            <a:normAutofit fontScale="85000" lnSpcReduction="10000"/>
          </a:bodyPr>
          <a:lstStyle/>
          <a:p>
            <a:pPr algn="l">
              <a:buNone/>
              <a:defRPr sz="1500" b="1">
                <a:solidFill>
                  <a:srgbClr val="1F6F54"/>
                </a:solidFill>
                <a:latin typeface="Arial"/>
                <a:ea typeface="Arial"/>
                <a:cs typeface="Arial"/>
              </a:defRPr>
            </a:pPr>
            <a:r>
              <a:rPr sz="1500" b="1">
                <a:solidFill>
                  <a:srgbClr val="1F6F54"/>
                </a:solidFill>
                <a:latin typeface="Arial"/>
                <a:ea typeface="Arial"/>
                <a:cs typeface="Arial"/>
              </a:rPr>
              <a:t>Penilaian</a:t>
            </a:r>
          </a:p>
        </p:txBody>
      </p:sp>
      <p:sp>
        <p:nvSpPr>
          <p:cNvPr id="15" name="Straight Connector 14">
            <a:extLst>
              <a:ext uri="{FF2B5EF4-FFF2-40B4-BE49-F238E27FC236}">
                <a16:creationId xmlns:a16="http://schemas.microsoft.com/office/drawing/2014/main" id="{0888CE87-3BCA-416A-8C3F-DB34D2130A3F}"/>
              </a:ext>
            </a:extLst>
          </p:cNvPr>
          <p:cNvSpPr>
            <a:spLocks noGrp="1"/>
          </p:cNvSpPr>
          <p:nvPr/>
        </p:nvSpPr>
        <p:spPr>
          <a:xfrm>
            <a:off x="8572500" y="2381250"/>
            <a:ext cx="2019300" cy="0"/>
          </a:xfrm>
          <a:prstGeom prst="line">
            <a:avLst/>
          </a:prstGeom>
          <a:noFill/>
          <a:ln w="11430">
            <a:solidFill>
              <a:srgbClr val="1F6F54"/>
            </a:solidFill>
          </a:ln>
        </p:spPr>
      </p:sp>
      <p:sp>
        <p:nvSpPr>
          <p:cNvPr id="16" name="Rectangle 15">
            <a:extLst>
              <a:ext uri="{FF2B5EF4-FFF2-40B4-BE49-F238E27FC236}">
                <a16:creationId xmlns:a16="http://schemas.microsoft.com/office/drawing/2014/main" id="{FD81C458-DA31-4E3A-BF1C-6CE9F75E9C1D}"/>
              </a:ext>
            </a:extLst>
          </p:cNvPr>
          <p:cNvSpPr>
            <a:spLocks noGrp="1"/>
          </p:cNvSpPr>
          <p:nvPr/>
        </p:nvSpPr>
        <p:spPr>
          <a:xfrm>
            <a:off x="8572500" y="2619375"/>
            <a:ext cx="2076450" cy="1104900"/>
          </a:xfrm>
          <a:prstGeom prst="rect">
            <a:avLst/>
          </a:prstGeom>
          <a:noFill/>
          <a:ln w="0">
            <a:noFill/>
          </a:ln>
        </p:spPr>
        <p:txBody>
          <a:bodyPr anchor="t">
            <a:normAutofit/>
          </a:bodyPr>
          <a:lstStyle/>
          <a:p>
            <a:pPr algn="l">
              <a:buNone/>
              <a:defRPr sz="1350" b="0">
                <a:solidFill>
                  <a:srgbClr val="172820"/>
                </a:solidFill>
                <a:latin typeface="Arial"/>
                <a:ea typeface="Arial"/>
                <a:cs typeface="Arial"/>
              </a:defRPr>
            </a:pPr>
            <a:r>
              <a:rPr sz="1350" b="0">
                <a:solidFill>
                  <a:srgbClr val="172820"/>
                </a:solidFill>
                <a:latin typeface="Arial"/>
                <a:ea typeface="Arial"/>
                <a:cs typeface="Arial"/>
              </a:rPr>
              <a:t>Fidelity, hierarchy, ownership, style, mobile layout, validation</a:t>
            </a:r>
          </a:p>
        </p:txBody>
      </p:sp>
      <p:sp>
        <p:nvSpPr>
          <p:cNvPr id="17" name="Rectangle: Rounded Corners 16">
            <a:extLst>
              <a:ext uri="{FF2B5EF4-FFF2-40B4-BE49-F238E27FC236}">
                <a16:creationId xmlns:a16="http://schemas.microsoft.com/office/drawing/2014/main" id="{29E12604-2F6B-4470-B784-6ABE4B1735BC}"/>
              </a:ext>
            </a:extLst>
          </p:cNvPr>
          <p:cNvSpPr>
            <a:spLocks noGrp="1"/>
          </p:cNvSpPr>
          <p:nvPr/>
        </p:nvSpPr>
        <p:spPr>
          <a:xfrm>
            <a:off x="685800" y="4381500"/>
            <a:ext cx="10096500" cy="1104900"/>
          </a:xfrm>
          <a:prstGeom prst="roundRect">
            <a:avLst>
              <a:gd name="adj" fmla="val 10345"/>
            </a:avLst>
          </a:prstGeom>
          <a:solidFill>
            <a:srgbClr val="F5F8F6"/>
          </a:solidFill>
          <a:ln w="0">
            <a:noFill/>
          </a:ln>
        </p:spPr>
      </p:sp>
      <p:sp>
        <p:nvSpPr>
          <p:cNvPr id="18" name="Rectangle 17">
            <a:extLst>
              <a:ext uri="{FF2B5EF4-FFF2-40B4-BE49-F238E27FC236}">
                <a16:creationId xmlns:a16="http://schemas.microsoft.com/office/drawing/2014/main" id="{9C918CF4-516C-4B91-B38E-2EBA1B094692}"/>
              </a:ext>
            </a:extLst>
          </p:cNvPr>
          <p:cNvSpPr>
            <a:spLocks noGrp="1"/>
          </p:cNvSpPr>
          <p:nvPr/>
        </p:nvSpPr>
        <p:spPr>
          <a:xfrm>
            <a:off x="1009650" y="4676775"/>
            <a:ext cx="9429750" cy="552450"/>
          </a:xfrm>
          <a:prstGeom prst="rect">
            <a:avLst/>
          </a:prstGeom>
          <a:noFill/>
          <a:ln w="0">
            <a:noFill/>
          </a:ln>
        </p:spPr>
        <p:txBody>
          <a:bodyPr anchor="t">
            <a:normAutofit fontScale="75593" lnSpcReduction="20000"/>
          </a:bodyPr>
          <a:lstStyle/>
          <a:p>
            <a:pPr algn="ctr">
              <a:buNone/>
              <a:defRPr sz="1650" b="1">
                <a:solidFill>
                  <a:srgbClr val="172820"/>
                </a:solidFill>
                <a:latin typeface="Arial"/>
                <a:ea typeface="Arial"/>
                <a:cs typeface="Arial"/>
              </a:defRPr>
            </a:pPr>
            <a:r>
              <a:rPr sz="1650" b="1">
                <a:solidFill>
                  <a:srgbClr val="172820"/>
                </a:solidFill>
                <a:latin typeface="Arial"/>
                <a:ea typeface="Arial"/>
                <a:cs typeface="Arial"/>
              </a:rPr>
              <a:t>Jangan langsung memilih pemenang berdasarkan screenshot. Bukti perlu mencakup struktur Designer, render target mobile, pemisahan komponen tetap dan data berulang, serta status validasi yang benar-benar dijalankan.</a:t>
            </a:r>
          </a:p>
        </p:txBody>
      </p:sp>
    </p:spTree>
    <p:extLst>
      <p:ext uri="{BB962C8B-B14F-4D97-AF65-F5344CB8AC3E}">
        <p14:creationId xmlns:p14="http://schemas.microsoft.com/office/powerpoint/2010/main" val="3621863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01FD1E3-29D7-4256-9567-592FE389D915}"/>
              </a:ext>
            </a:extLst>
          </p:cNvPr>
          <p:cNvSpPr>
            <a:spLocks noGrp="1"/>
          </p:cNvSpPr>
          <p:nvPr/>
        </p:nvSpPr>
        <p:spPr>
          <a:xfrm>
            <a:off x="685800" y="6477000"/>
            <a:ext cx="5715000" cy="190500"/>
          </a:xfrm>
          <a:prstGeom prst="rect">
            <a:avLst/>
          </a:prstGeom>
          <a:noFill/>
          <a:ln w="0">
            <a:noFill/>
          </a:ln>
        </p:spPr>
        <p:txBody>
          <a:bodyPr anchor="t">
            <a:normAutofit fontScale="78788" lnSpcReduction="10000"/>
          </a:bodyPr>
          <a:lstStyle/>
          <a:p>
            <a:pPr algn="l">
              <a:buNone/>
              <a:defRPr sz="825" b="0">
                <a:solidFill>
                  <a:srgbClr val="64736C"/>
                </a:solidFill>
                <a:latin typeface="Arial"/>
                <a:ea typeface="Arial"/>
                <a:cs typeface="Arial"/>
              </a:defRPr>
            </a:pPr>
            <a:r>
              <a:rPr sz="825" b="0">
                <a:solidFill>
                  <a:srgbClr val="64736C"/>
                </a:solidFill>
                <a:latin typeface="Arial"/>
                <a:ea typeface="Arial"/>
                <a:cs typeface="Arial"/>
              </a:rPr>
              <a:t>HTML-FMX · Healthcare wireframe case study</a:t>
            </a:r>
          </a:p>
        </p:txBody>
      </p:sp>
      <p:sp>
        <p:nvSpPr>
          <p:cNvPr id="2" name="Rectangle 1">
            <a:extLst>
              <a:ext uri="{FF2B5EF4-FFF2-40B4-BE49-F238E27FC236}">
                <a16:creationId xmlns:a16="http://schemas.microsoft.com/office/drawing/2014/main" id="{49811403-163F-416E-A0E5-783D44A3AFA4}"/>
              </a:ext>
            </a:extLst>
          </p:cNvPr>
          <p:cNvSpPr>
            <a:spLocks noGrp="1"/>
          </p:cNvSpPr>
          <p:nvPr/>
        </p:nvSpPr>
        <p:spPr>
          <a:xfrm>
            <a:off x="11049000" y="6438900"/>
            <a:ext cx="457200" cy="190500"/>
          </a:xfrm>
          <a:prstGeom prst="rect">
            <a:avLst/>
          </a:prstGeom>
          <a:noFill/>
          <a:ln w="0">
            <a:noFill/>
          </a:ln>
        </p:spPr>
        <p:txBody>
          <a:bodyPr anchor="t">
            <a:normAutofit fontScale="78788" lnSpcReduction="10000"/>
          </a:bodyPr>
          <a:lstStyle/>
          <a:p>
            <a:pPr algn="r">
              <a:buNone/>
              <a:defRPr sz="825" b="0">
                <a:solidFill>
                  <a:srgbClr val="64736C"/>
                </a:solidFill>
                <a:latin typeface="Arial"/>
                <a:ea typeface="Arial"/>
                <a:cs typeface="Arial"/>
              </a:defRPr>
            </a:pPr>
            <a:r>
              <a:rPr sz="825" b="0">
                <a:solidFill>
                  <a:srgbClr val="64736C"/>
                </a:solidFill>
                <a:latin typeface="Arial"/>
                <a:ea typeface="Arial"/>
                <a:cs typeface="Arial"/>
              </a:rPr>
              <a:t>13</a:t>
            </a:r>
          </a:p>
        </p:txBody>
      </p:sp>
      <p:sp>
        <p:nvSpPr>
          <p:cNvPr id="3" name="Rectangle 2">
            <a:extLst>
              <a:ext uri="{FF2B5EF4-FFF2-40B4-BE49-F238E27FC236}">
                <a16:creationId xmlns:a16="http://schemas.microsoft.com/office/drawing/2014/main" id="{392714DB-3BDF-4BEA-8B99-5CE1C6FF326E}"/>
              </a:ext>
            </a:extLst>
          </p:cNvPr>
          <p:cNvSpPr>
            <a:spLocks noGrp="1"/>
          </p:cNvSpPr>
          <p:nvPr/>
        </p:nvSpPr>
        <p:spPr>
          <a:xfrm>
            <a:off x="685800" y="514350"/>
            <a:ext cx="10668000" cy="495300"/>
          </a:xfrm>
          <a:prstGeom prst="rect">
            <a:avLst/>
          </a:prstGeom>
          <a:noFill/>
          <a:ln w="0">
            <a:noFill/>
          </a:ln>
        </p:spPr>
        <p:txBody>
          <a:bodyPr anchor="t">
            <a:normAutofit/>
          </a:bodyPr>
          <a:lstStyle/>
          <a:p>
            <a:pPr algn="l">
              <a:buNone/>
              <a:defRPr sz="2400" b="1">
                <a:solidFill>
                  <a:srgbClr val="172820"/>
                </a:solidFill>
                <a:latin typeface="Arial"/>
                <a:ea typeface="Arial"/>
                <a:cs typeface="Arial"/>
              </a:defRPr>
            </a:pPr>
            <a:r>
              <a:rPr sz="2400" b="1">
                <a:solidFill>
                  <a:srgbClr val="172820"/>
                </a:solidFill>
                <a:latin typeface="Arial"/>
                <a:ea typeface="Arial"/>
                <a:cs typeface="Arial"/>
              </a:rPr>
              <a:t>Dua bentuk referensi visual yang masuk ke workflow</a:t>
            </a:r>
          </a:p>
        </p:txBody>
      </p:sp>
      <p:sp>
        <p:nvSpPr>
          <p:cNvPr id="4" name="Rectangle 3">
            <a:extLst>
              <a:ext uri="{FF2B5EF4-FFF2-40B4-BE49-F238E27FC236}">
                <a16:creationId xmlns:a16="http://schemas.microsoft.com/office/drawing/2014/main" id="{C1496D92-63F3-4F96-8CA0-5FAF676C19FB}"/>
              </a:ext>
            </a:extLst>
          </p:cNvPr>
          <p:cNvSpPr>
            <a:spLocks noGrp="1"/>
          </p:cNvSpPr>
          <p:nvPr/>
        </p:nvSpPr>
        <p:spPr>
          <a:xfrm>
            <a:off x="685800" y="1066800"/>
            <a:ext cx="10287000" cy="323850"/>
          </a:xfrm>
          <a:prstGeom prst="rect">
            <a:avLst/>
          </a:prstGeom>
          <a:noFill/>
          <a:ln w="0">
            <a:noFill/>
          </a:ln>
        </p:spPr>
        <p:txBody>
          <a:bodyPr anchor="t">
            <a:normAutofit/>
          </a:bodyPr>
          <a:lstStyle/>
          <a:p>
            <a:pPr algn="l">
              <a:buNone/>
              <a:defRPr sz="1200" b="0">
                <a:solidFill>
                  <a:srgbClr val="64736C"/>
                </a:solidFill>
                <a:latin typeface="Arial"/>
                <a:ea typeface="Arial"/>
                <a:cs typeface="Arial"/>
              </a:defRPr>
            </a:pPr>
            <a:r>
              <a:rPr sz="1200" b="0">
                <a:solidFill>
                  <a:srgbClr val="64736C"/>
                </a:solidFill>
                <a:latin typeface="Arial"/>
                <a:ea typeface="Arial"/>
                <a:cs typeface="Arial"/>
              </a:rPr>
              <a:t>Jalur HTML memberi agent struktur dan style web. Jalur wireframe memberi agent intent dan proporsi, lalu meminta keputusan native FMX.</a:t>
            </a:r>
          </a:p>
        </p:txBody>
      </p:sp>
      <p:pic>
        <p:nvPicPr>
          <p:cNvPr id="18" name="Picture 17"/>
          <p:cNvPicPr>
            <a:picLocks noChangeAspect="1"/>
          </p:cNvPicPr>
          <p:nvPr/>
        </p:nvPicPr>
        <p:blipFill>
          <a:blip r:embed="rId3"/>
          <a:stretch/>
        </p:blipFill>
        <p:spPr>
          <a:xfrm>
            <a:off x="1527250" y="1666875"/>
            <a:ext cx="1936600" cy="4191000"/>
          </a:xfrm>
          <a:prstGeom prst="roundRect">
            <a:avLst>
              <a:gd name="adj" fmla="val 4000"/>
            </a:avLst>
          </a:prstGeom>
        </p:spPr>
      </p:pic>
      <p:pic>
        <p:nvPicPr>
          <p:cNvPr id="19" name="Picture 18"/>
          <p:cNvPicPr>
            <a:picLocks noChangeAspect="1"/>
          </p:cNvPicPr>
          <p:nvPr/>
        </p:nvPicPr>
        <p:blipFill>
          <a:blip r:embed="rId4"/>
          <a:stretch/>
        </p:blipFill>
        <p:spPr>
          <a:xfrm>
            <a:off x="7795251" y="1666875"/>
            <a:ext cx="1935499" cy="4191000"/>
          </a:xfrm>
          <a:prstGeom prst="roundRect">
            <a:avLst>
              <a:gd name="adj" fmla="val 4000"/>
            </a:avLst>
          </a:prstGeom>
        </p:spPr>
      </p:pic>
      <p:sp>
        <p:nvSpPr>
          <p:cNvPr id="7" name="Rectangle 6">
            <a:extLst>
              <a:ext uri="{FF2B5EF4-FFF2-40B4-BE49-F238E27FC236}">
                <a16:creationId xmlns:a16="http://schemas.microsoft.com/office/drawing/2014/main" id="{23A10274-22BB-4F5A-B255-E60D9F4137D9}"/>
              </a:ext>
            </a:extLst>
          </p:cNvPr>
          <p:cNvSpPr>
            <a:spLocks noGrp="1"/>
          </p:cNvSpPr>
          <p:nvPr/>
        </p:nvSpPr>
        <p:spPr>
          <a:xfrm>
            <a:off x="876300" y="5953125"/>
            <a:ext cx="3238500" cy="228600"/>
          </a:xfrm>
          <a:prstGeom prst="rect">
            <a:avLst/>
          </a:prstGeom>
          <a:noFill/>
          <a:ln w="0">
            <a:noFill/>
          </a:ln>
        </p:spPr>
        <p:txBody>
          <a:bodyPr anchor="t">
            <a:normAutofit fontScale="78088" lnSpcReduction="10000"/>
          </a:bodyPr>
          <a:lstStyle/>
          <a:p>
            <a:pPr algn="ctr">
              <a:buNone/>
              <a:defRPr sz="1275" b="1">
                <a:solidFill>
                  <a:srgbClr val="1F6F54"/>
                </a:solidFill>
                <a:latin typeface="Arial"/>
                <a:ea typeface="Arial"/>
                <a:cs typeface="Arial"/>
              </a:defRPr>
            </a:pPr>
            <a:r>
              <a:rPr sz="1275" b="1">
                <a:solidFill>
                  <a:srgbClr val="1F6F54"/>
                </a:solidFill>
                <a:latin typeface="Arial"/>
                <a:ea typeface="Arial"/>
                <a:cs typeface="Arial"/>
              </a:rPr>
              <a:t>HTML / Google Stitch</a:t>
            </a:r>
          </a:p>
        </p:txBody>
      </p:sp>
      <p:sp>
        <p:nvSpPr>
          <p:cNvPr id="8" name="Rectangle 7">
            <a:extLst>
              <a:ext uri="{FF2B5EF4-FFF2-40B4-BE49-F238E27FC236}">
                <a16:creationId xmlns:a16="http://schemas.microsoft.com/office/drawing/2014/main" id="{F5349D7F-554B-4B5B-B5FE-8FDE050D96F9}"/>
              </a:ext>
            </a:extLst>
          </p:cNvPr>
          <p:cNvSpPr>
            <a:spLocks noGrp="1"/>
          </p:cNvSpPr>
          <p:nvPr/>
        </p:nvSpPr>
        <p:spPr>
          <a:xfrm>
            <a:off x="7143750" y="5953125"/>
            <a:ext cx="3238500" cy="228600"/>
          </a:xfrm>
          <a:prstGeom prst="rect">
            <a:avLst/>
          </a:prstGeom>
          <a:noFill/>
          <a:ln w="0">
            <a:noFill/>
          </a:ln>
        </p:spPr>
        <p:txBody>
          <a:bodyPr anchor="t">
            <a:normAutofit fontScale="78088" lnSpcReduction="10000"/>
          </a:bodyPr>
          <a:lstStyle/>
          <a:p>
            <a:pPr algn="ctr">
              <a:buNone/>
              <a:defRPr sz="1275" b="1">
                <a:solidFill>
                  <a:srgbClr val="1F6F54"/>
                </a:solidFill>
                <a:latin typeface="Arial"/>
                <a:ea typeface="Arial"/>
                <a:cs typeface="Arial"/>
              </a:defRPr>
            </a:pPr>
            <a:r>
              <a:rPr sz="1275" b="1">
                <a:solidFill>
                  <a:srgbClr val="1F6F54"/>
                </a:solidFill>
                <a:latin typeface="Arial"/>
                <a:ea typeface="Arial"/>
                <a:cs typeface="Arial"/>
              </a:rPr>
              <a:t>Wireframe mapping / FMX native</a:t>
            </a:r>
          </a:p>
        </p:txBody>
      </p:sp>
      <p:sp>
        <p:nvSpPr>
          <p:cNvPr id="9" name="Rectangle 8">
            <a:extLst>
              <a:ext uri="{FF2B5EF4-FFF2-40B4-BE49-F238E27FC236}">
                <a16:creationId xmlns:a16="http://schemas.microsoft.com/office/drawing/2014/main" id="{D4CF0F41-3158-43A7-A80B-E2E70A8014DA}"/>
              </a:ext>
            </a:extLst>
          </p:cNvPr>
          <p:cNvSpPr>
            <a:spLocks noGrp="1"/>
          </p:cNvSpPr>
          <p:nvPr/>
        </p:nvSpPr>
        <p:spPr>
          <a:xfrm>
            <a:off x="4476750" y="2647950"/>
            <a:ext cx="2381250" cy="419100"/>
          </a:xfrm>
          <a:prstGeom prst="rect">
            <a:avLst/>
          </a:prstGeom>
          <a:noFill/>
          <a:ln w="0">
            <a:noFill/>
          </a:ln>
        </p:spPr>
        <p:txBody>
          <a:bodyPr anchor="t">
            <a:normAutofit/>
          </a:bodyPr>
          <a:lstStyle/>
          <a:p>
            <a:pPr algn="ctr">
              <a:buNone/>
              <a:defRPr sz="1350" b="0">
                <a:solidFill>
                  <a:srgbClr val="64736C"/>
                </a:solidFill>
                <a:latin typeface="Arial"/>
                <a:ea typeface="Arial"/>
                <a:cs typeface="Arial"/>
              </a:defRPr>
            </a:pPr>
            <a:r>
              <a:rPr sz="1350" b="0">
                <a:solidFill>
                  <a:srgbClr val="64736C"/>
                </a:solidFill>
                <a:latin typeface="Arial"/>
                <a:ea typeface="Arial"/>
                <a:cs typeface="Arial"/>
              </a:rPr>
              <a:t>Sumber kaya detail visual</a:t>
            </a:r>
          </a:p>
        </p:txBody>
      </p:sp>
      <p:sp>
        <p:nvSpPr>
          <p:cNvPr id="10" name="Rectangle 9">
            <a:extLst>
              <a:ext uri="{FF2B5EF4-FFF2-40B4-BE49-F238E27FC236}">
                <a16:creationId xmlns:a16="http://schemas.microsoft.com/office/drawing/2014/main" id="{50F872D4-E753-4FE9-AACB-196A50907694}"/>
              </a:ext>
            </a:extLst>
          </p:cNvPr>
          <p:cNvSpPr>
            <a:spLocks noGrp="1"/>
          </p:cNvSpPr>
          <p:nvPr/>
        </p:nvSpPr>
        <p:spPr>
          <a:xfrm>
            <a:off x="4476750" y="3714750"/>
            <a:ext cx="2381250" cy="419100"/>
          </a:xfrm>
          <a:prstGeom prst="rect">
            <a:avLst/>
          </a:prstGeom>
          <a:noFill/>
          <a:ln w="0">
            <a:noFill/>
          </a:ln>
        </p:spPr>
        <p:txBody>
          <a:bodyPr anchor="t">
            <a:normAutofit/>
          </a:bodyPr>
          <a:lstStyle/>
          <a:p>
            <a:pPr algn="ctr">
              <a:buNone/>
              <a:defRPr sz="1350" b="0">
                <a:solidFill>
                  <a:srgbClr val="64736C"/>
                </a:solidFill>
                <a:latin typeface="Arial"/>
                <a:ea typeface="Arial"/>
                <a:cs typeface="Arial"/>
              </a:defRPr>
            </a:pPr>
            <a:r>
              <a:rPr sz="1350" b="0">
                <a:solidFill>
                  <a:srgbClr val="64736C"/>
                </a:solidFill>
                <a:latin typeface="Arial"/>
                <a:ea typeface="Arial"/>
                <a:cs typeface="Arial"/>
              </a:rPr>
              <a:t>Sumber kaya intent struktur</a:t>
            </a:r>
          </a:p>
        </p:txBody>
      </p:sp>
    </p:spTree>
    <p:extLst>
      <p:ext uri="{BB962C8B-B14F-4D97-AF65-F5344CB8AC3E}">
        <p14:creationId xmlns:p14="http://schemas.microsoft.com/office/powerpoint/2010/main" val="1078616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7CCB36C6-D911-47BC-8D70-3C2F4F8D7253}"/>
              </a:ext>
            </a:extLst>
          </p:cNvPr>
          <p:cNvSpPr>
            <a:spLocks noGrp="1"/>
          </p:cNvSpPr>
          <p:nvPr/>
        </p:nvSpPr>
        <p:spPr>
          <a:xfrm>
            <a:off x="685800" y="6477000"/>
            <a:ext cx="5715000" cy="190500"/>
          </a:xfrm>
          <a:prstGeom prst="rect">
            <a:avLst/>
          </a:prstGeom>
          <a:noFill/>
          <a:ln w="0">
            <a:noFill/>
          </a:ln>
        </p:spPr>
        <p:txBody>
          <a:bodyPr anchor="t">
            <a:normAutofit fontScale="78788" lnSpcReduction="10000"/>
          </a:bodyPr>
          <a:lstStyle/>
          <a:p>
            <a:pPr algn="l">
              <a:buNone/>
              <a:defRPr sz="825" b="0">
                <a:solidFill>
                  <a:srgbClr val="64736C"/>
                </a:solidFill>
                <a:latin typeface="Arial"/>
                <a:ea typeface="Arial"/>
                <a:cs typeface="Arial"/>
              </a:defRPr>
            </a:pPr>
            <a:r>
              <a:rPr sz="825" b="0">
                <a:solidFill>
                  <a:srgbClr val="64736C"/>
                </a:solidFill>
                <a:latin typeface="Arial"/>
                <a:ea typeface="Arial"/>
                <a:cs typeface="Arial"/>
              </a:rPr>
              <a:t>HTML-FMX · Healthcare wireframe case study</a:t>
            </a:r>
          </a:p>
        </p:txBody>
      </p:sp>
      <p:sp>
        <p:nvSpPr>
          <p:cNvPr id="2" name="Rectangle 1">
            <a:extLst>
              <a:ext uri="{FF2B5EF4-FFF2-40B4-BE49-F238E27FC236}">
                <a16:creationId xmlns:a16="http://schemas.microsoft.com/office/drawing/2014/main" id="{BF453A29-5394-4157-8B76-3396FE3FD618}"/>
              </a:ext>
            </a:extLst>
          </p:cNvPr>
          <p:cNvSpPr>
            <a:spLocks noGrp="1"/>
          </p:cNvSpPr>
          <p:nvPr/>
        </p:nvSpPr>
        <p:spPr>
          <a:xfrm>
            <a:off x="11049000" y="6438900"/>
            <a:ext cx="457200" cy="190500"/>
          </a:xfrm>
          <a:prstGeom prst="rect">
            <a:avLst/>
          </a:prstGeom>
          <a:noFill/>
          <a:ln w="0">
            <a:noFill/>
          </a:ln>
        </p:spPr>
        <p:txBody>
          <a:bodyPr anchor="t">
            <a:normAutofit fontScale="78788" lnSpcReduction="10000"/>
          </a:bodyPr>
          <a:lstStyle/>
          <a:p>
            <a:pPr algn="r">
              <a:buNone/>
              <a:defRPr sz="825" b="0">
                <a:solidFill>
                  <a:srgbClr val="64736C"/>
                </a:solidFill>
                <a:latin typeface="Arial"/>
                <a:ea typeface="Arial"/>
                <a:cs typeface="Arial"/>
              </a:defRPr>
            </a:pPr>
            <a:r>
              <a:rPr sz="825" b="0">
                <a:solidFill>
                  <a:srgbClr val="64736C"/>
                </a:solidFill>
                <a:latin typeface="Arial"/>
                <a:ea typeface="Arial"/>
                <a:cs typeface="Arial"/>
              </a:rPr>
              <a:t>14</a:t>
            </a:r>
          </a:p>
        </p:txBody>
      </p:sp>
      <p:sp>
        <p:nvSpPr>
          <p:cNvPr id="3" name="Rectangle 2">
            <a:extLst>
              <a:ext uri="{FF2B5EF4-FFF2-40B4-BE49-F238E27FC236}">
                <a16:creationId xmlns:a16="http://schemas.microsoft.com/office/drawing/2014/main" id="{A0620E1D-CDFB-4204-A1C6-043BD2BCBD46}"/>
              </a:ext>
            </a:extLst>
          </p:cNvPr>
          <p:cNvSpPr>
            <a:spLocks noGrp="1"/>
          </p:cNvSpPr>
          <p:nvPr/>
        </p:nvSpPr>
        <p:spPr>
          <a:xfrm>
            <a:off x="685800" y="514350"/>
            <a:ext cx="10668000" cy="495300"/>
          </a:xfrm>
          <a:prstGeom prst="rect">
            <a:avLst/>
          </a:prstGeom>
          <a:noFill/>
          <a:ln w="0">
            <a:noFill/>
          </a:ln>
        </p:spPr>
        <p:txBody>
          <a:bodyPr anchor="t">
            <a:normAutofit/>
          </a:bodyPr>
          <a:lstStyle/>
          <a:p>
            <a:pPr algn="l">
              <a:buNone/>
              <a:defRPr sz="2400" b="1">
                <a:solidFill>
                  <a:srgbClr val="172820"/>
                </a:solidFill>
                <a:latin typeface="Arial"/>
                <a:ea typeface="Arial"/>
                <a:cs typeface="Arial"/>
              </a:defRPr>
            </a:pPr>
            <a:r>
              <a:rPr sz="2400" b="1">
                <a:solidFill>
                  <a:srgbClr val="172820"/>
                </a:solidFill>
                <a:latin typeface="Arial"/>
                <a:ea typeface="Arial"/>
                <a:cs typeface="Arial"/>
              </a:rPr>
              <a:t>Target arsitektur FMX yang dapat dirawat</a:t>
            </a:r>
          </a:p>
        </p:txBody>
      </p:sp>
      <p:sp>
        <p:nvSpPr>
          <p:cNvPr id="4" name="Rectangle 3">
            <a:extLst>
              <a:ext uri="{FF2B5EF4-FFF2-40B4-BE49-F238E27FC236}">
                <a16:creationId xmlns:a16="http://schemas.microsoft.com/office/drawing/2014/main" id="{18775002-18AB-4088-8D78-07AC54EFD107}"/>
              </a:ext>
            </a:extLst>
          </p:cNvPr>
          <p:cNvSpPr>
            <a:spLocks noGrp="1"/>
          </p:cNvSpPr>
          <p:nvPr/>
        </p:nvSpPr>
        <p:spPr>
          <a:xfrm>
            <a:off x="685800" y="1066800"/>
            <a:ext cx="10287000" cy="323850"/>
          </a:xfrm>
          <a:prstGeom prst="rect">
            <a:avLst/>
          </a:prstGeom>
          <a:noFill/>
          <a:ln w="0">
            <a:noFill/>
          </a:ln>
        </p:spPr>
        <p:txBody>
          <a:bodyPr anchor="t">
            <a:normAutofit/>
          </a:bodyPr>
          <a:lstStyle/>
          <a:p>
            <a:pPr algn="l">
              <a:buNone/>
              <a:defRPr sz="1200" b="0">
                <a:solidFill>
                  <a:srgbClr val="64736C"/>
                </a:solidFill>
                <a:latin typeface="Arial"/>
                <a:ea typeface="Arial"/>
                <a:cs typeface="Arial"/>
              </a:defRPr>
            </a:pPr>
            <a:r>
              <a:rPr sz="1200" b="0">
                <a:solidFill>
                  <a:srgbClr val="64736C"/>
                </a:solidFill>
                <a:latin typeface="Arial"/>
                <a:ea typeface="Arial"/>
                <a:cs typeface="Arial"/>
              </a:rPr>
              <a:t>Hierarchy mengikuti tanggung jawab visual dan data. Setiap container harus memiliki alasan layout, grouping, atau input yang jelas.</a:t>
            </a:r>
          </a:p>
        </p:txBody>
      </p:sp>
      <p:sp>
        <p:nvSpPr>
          <p:cNvPr id="5" name="Rectangle: Rounded Corners 4">
            <a:extLst>
              <a:ext uri="{FF2B5EF4-FFF2-40B4-BE49-F238E27FC236}">
                <a16:creationId xmlns:a16="http://schemas.microsoft.com/office/drawing/2014/main" id="{E9A393E9-0663-4D84-9AEC-62D9F48E2DA0}"/>
              </a:ext>
            </a:extLst>
          </p:cNvPr>
          <p:cNvSpPr>
            <a:spLocks noGrp="1"/>
          </p:cNvSpPr>
          <p:nvPr/>
        </p:nvSpPr>
        <p:spPr>
          <a:xfrm>
            <a:off x="685800" y="1695450"/>
            <a:ext cx="3048000" cy="514350"/>
          </a:xfrm>
          <a:prstGeom prst="roundRect">
            <a:avLst>
              <a:gd name="adj" fmla="val 22222"/>
            </a:avLst>
          </a:prstGeom>
          <a:solidFill>
            <a:srgbClr val="172820"/>
          </a:solidFill>
          <a:ln w="0">
            <a:noFill/>
          </a:ln>
        </p:spPr>
      </p:sp>
      <p:sp>
        <p:nvSpPr>
          <p:cNvPr id="6" name="Rectangle 5">
            <a:extLst>
              <a:ext uri="{FF2B5EF4-FFF2-40B4-BE49-F238E27FC236}">
                <a16:creationId xmlns:a16="http://schemas.microsoft.com/office/drawing/2014/main" id="{858CCF09-1CE4-4A59-B731-7440D31CD07A}"/>
              </a:ext>
            </a:extLst>
          </p:cNvPr>
          <p:cNvSpPr>
            <a:spLocks noGrp="1"/>
          </p:cNvSpPr>
          <p:nvPr/>
        </p:nvSpPr>
        <p:spPr>
          <a:xfrm>
            <a:off x="914400" y="1828800"/>
            <a:ext cx="2571750" cy="228600"/>
          </a:xfrm>
          <a:prstGeom prst="rect">
            <a:avLst/>
          </a:prstGeom>
          <a:noFill/>
          <a:ln w="0">
            <a:noFill/>
          </a:ln>
        </p:spPr>
        <p:txBody>
          <a:bodyPr anchor="t">
            <a:normAutofit fontScale="67500" lnSpcReduction="10000"/>
          </a:bodyPr>
          <a:lstStyle/>
          <a:p>
            <a:pPr algn="l">
              <a:buNone/>
              <a:defRPr sz="1500" b="1">
                <a:solidFill>
                  <a:srgbClr val="FFFFFF"/>
                </a:solidFill>
                <a:latin typeface="Arial"/>
                <a:ea typeface="Arial"/>
                <a:cs typeface="Arial"/>
              </a:defRPr>
            </a:pPr>
            <a:r>
              <a:rPr sz="1500" b="1">
                <a:solidFill>
                  <a:srgbClr val="FFFFFF"/>
                </a:solidFill>
                <a:latin typeface="Arial"/>
                <a:ea typeface="Arial"/>
                <a:cs typeface="Arial"/>
              </a:rPr>
              <a:t>Healthcare frame</a:t>
            </a:r>
          </a:p>
        </p:txBody>
      </p:sp>
      <p:sp>
        <p:nvSpPr>
          <p:cNvPr id="7" name="Straight Connector 6">
            <a:extLst>
              <a:ext uri="{FF2B5EF4-FFF2-40B4-BE49-F238E27FC236}">
                <a16:creationId xmlns:a16="http://schemas.microsoft.com/office/drawing/2014/main" id="{6D47F782-0B09-4B7D-8311-6351FAF3EC2E}"/>
              </a:ext>
            </a:extLst>
          </p:cNvPr>
          <p:cNvSpPr>
            <a:spLocks noGrp="1"/>
          </p:cNvSpPr>
          <p:nvPr/>
        </p:nvSpPr>
        <p:spPr>
          <a:xfrm>
            <a:off x="1066800" y="2552700"/>
            <a:ext cx="228600" cy="0"/>
          </a:xfrm>
          <a:prstGeom prst="line">
            <a:avLst/>
          </a:prstGeom>
          <a:noFill/>
          <a:ln w="11430">
            <a:solidFill>
              <a:srgbClr val="1F6F54"/>
            </a:solidFill>
          </a:ln>
        </p:spPr>
      </p:sp>
      <p:sp>
        <p:nvSpPr>
          <p:cNvPr id="8" name="Rectangle 7">
            <a:extLst>
              <a:ext uri="{FF2B5EF4-FFF2-40B4-BE49-F238E27FC236}">
                <a16:creationId xmlns:a16="http://schemas.microsoft.com/office/drawing/2014/main" id="{23ABCC64-A122-4E6F-8C03-2107AAA7530F}"/>
              </a:ext>
            </a:extLst>
          </p:cNvPr>
          <p:cNvSpPr>
            <a:spLocks noGrp="1"/>
          </p:cNvSpPr>
          <p:nvPr/>
        </p:nvSpPr>
        <p:spPr>
          <a:xfrm>
            <a:off x="1428750" y="2419350"/>
            <a:ext cx="3429000" cy="266700"/>
          </a:xfrm>
          <a:prstGeom prst="rect">
            <a:avLst/>
          </a:prstGeom>
          <a:noFill/>
          <a:ln w="0">
            <a:noFill/>
          </a:ln>
        </p:spPr>
        <p:txBody>
          <a:bodyPr anchor="t">
            <a:normAutofit fontScale="85185"/>
          </a:bodyPr>
          <a:lstStyle/>
          <a:p>
            <a:pPr algn="l">
              <a:buNone/>
              <a:defRPr sz="1350" b="0">
                <a:solidFill>
                  <a:srgbClr val="172820"/>
                </a:solidFill>
                <a:latin typeface="Arial"/>
                <a:ea typeface="Arial"/>
                <a:cs typeface="Arial"/>
              </a:defRPr>
            </a:pPr>
            <a:r>
              <a:rPr sz="1350" b="0">
                <a:solidFill>
                  <a:srgbClr val="172820"/>
                </a:solidFill>
                <a:latin typeface="Arial"/>
                <a:ea typeface="Arial"/>
                <a:cs typeface="Arial"/>
              </a:rPr>
              <a:t>Header</a:t>
            </a:r>
          </a:p>
        </p:txBody>
      </p:sp>
      <p:sp>
        <p:nvSpPr>
          <p:cNvPr id="9" name="Straight Connector 8">
            <a:extLst>
              <a:ext uri="{FF2B5EF4-FFF2-40B4-BE49-F238E27FC236}">
                <a16:creationId xmlns:a16="http://schemas.microsoft.com/office/drawing/2014/main" id="{FE1F0AEB-861C-4332-A681-E44CB5630940}"/>
              </a:ext>
            </a:extLst>
          </p:cNvPr>
          <p:cNvSpPr>
            <a:spLocks noGrp="1"/>
          </p:cNvSpPr>
          <p:nvPr/>
        </p:nvSpPr>
        <p:spPr>
          <a:xfrm>
            <a:off x="1066800" y="3048000"/>
            <a:ext cx="228600" cy="0"/>
          </a:xfrm>
          <a:prstGeom prst="line">
            <a:avLst/>
          </a:prstGeom>
          <a:noFill/>
          <a:ln w="11430">
            <a:solidFill>
              <a:srgbClr val="1F6F54"/>
            </a:solidFill>
          </a:ln>
        </p:spPr>
      </p:sp>
      <p:sp>
        <p:nvSpPr>
          <p:cNvPr id="10" name="Rectangle 9">
            <a:extLst>
              <a:ext uri="{FF2B5EF4-FFF2-40B4-BE49-F238E27FC236}">
                <a16:creationId xmlns:a16="http://schemas.microsoft.com/office/drawing/2014/main" id="{FCED585B-5A63-49BC-B6C6-7982357125B4}"/>
              </a:ext>
            </a:extLst>
          </p:cNvPr>
          <p:cNvSpPr>
            <a:spLocks noGrp="1"/>
          </p:cNvSpPr>
          <p:nvPr/>
        </p:nvSpPr>
        <p:spPr>
          <a:xfrm>
            <a:off x="1428750" y="2914650"/>
            <a:ext cx="3429000" cy="266700"/>
          </a:xfrm>
          <a:prstGeom prst="rect">
            <a:avLst/>
          </a:prstGeom>
          <a:noFill/>
          <a:ln w="0">
            <a:noFill/>
          </a:ln>
        </p:spPr>
        <p:txBody>
          <a:bodyPr anchor="t">
            <a:normAutofit fontScale="85185"/>
          </a:bodyPr>
          <a:lstStyle/>
          <a:p>
            <a:pPr algn="l">
              <a:buNone/>
              <a:defRPr sz="1350" b="0">
                <a:solidFill>
                  <a:srgbClr val="172820"/>
                </a:solidFill>
                <a:latin typeface="Arial"/>
                <a:ea typeface="Arial"/>
                <a:cs typeface="Arial"/>
              </a:defRPr>
            </a:pPr>
            <a:r>
              <a:rPr sz="1350" b="0">
                <a:solidFill>
                  <a:srgbClr val="172820"/>
                </a:solidFill>
                <a:latin typeface="Arial"/>
                <a:ea typeface="Arial"/>
                <a:cs typeface="Arial"/>
              </a:rPr>
              <a:t>Scroll content</a:t>
            </a:r>
          </a:p>
        </p:txBody>
      </p:sp>
      <p:sp>
        <p:nvSpPr>
          <p:cNvPr id="11" name="Straight Connector 10">
            <a:extLst>
              <a:ext uri="{FF2B5EF4-FFF2-40B4-BE49-F238E27FC236}">
                <a16:creationId xmlns:a16="http://schemas.microsoft.com/office/drawing/2014/main" id="{CB2F0895-DCAF-40B4-BA30-B2577DDCDC93}"/>
              </a:ext>
            </a:extLst>
          </p:cNvPr>
          <p:cNvSpPr>
            <a:spLocks noGrp="1"/>
          </p:cNvSpPr>
          <p:nvPr/>
        </p:nvSpPr>
        <p:spPr>
          <a:xfrm>
            <a:off x="1619250" y="3543300"/>
            <a:ext cx="228600" cy="0"/>
          </a:xfrm>
          <a:prstGeom prst="line">
            <a:avLst/>
          </a:prstGeom>
          <a:noFill/>
          <a:ln w="11430">
            <a:solidFill>
              <a:srgbClr val="1F6F54"/>
            </a:solidFill>
          </a:ln>
        </p:spPr>
      </p:sp>
      <p:sp>
        <p:nvSpPr>
          <p:cNvPr id="12" name="Rectangle 11">
            <a:extLst>
              <a:ext uri="{FF2B5EF4-FFF2-40B4-BE49-F238E27FC236}">
                <a16:creationId xmlns:a16="http://schemas.microsoft.com/office/drawing/2014/main" id="{FDE1072F-F8BE-4DB1-865C-28C29D7A596F}"/>
              </a:ext>
            </a:extLst>
          </p:cNvPr>
          <p:cNvSpPr>
            <a:spLocks noGrp="1"/>
          </p:cNvSpPr>
          <p:nvPr/>
        </p:nvSpPr>
        <p:spPr>
          <a:xfrm>
            <a:off x="1981200" y="3409950"/>
            <a:ext cx="3429000" cy="266700"/>
          </a:xfrm>
          <a:prstGeom prst="rect">
            <a:avLst/>
          </a:prstGeom>
          <a:noFill/>
          <a:ln w="0">
            <a:noFill/>
          </a:ln>
        </p:spPr>
        <p:txBody>
          <a:bodyPr anchor="t">
            <a:normAutofit fontScale="85185"/>
          </a:bodyPr>
          <a:lstStyle/>
          <a:p>
            <a:pPr algn="l">
              <a:buNone/>
              <a:defRPr sz="1350" b="0">
                <a:solidFill>
                  <a:srgbClr val="172820"/>
                </a:solidFill>
                <a:latin typeface="Arial"/>
                <a:ea typeface="Arial"/>
                <a:cs typeface="Arial"/>
              </a:defRPr>
            </a:pPr>
            <a:r>
              <a:rPr sz="1350" b="0">
                <a:solidFill>
                  <a:srgbClr val="172820"/>
                </a:solidFill>
                <a:latin typeface="Arial"/>
                <a:ea typeface="Arial"/>
                <a:cs typeface="Arial"/>
              </a:rPr>
              <a:t>Search dan kategori</a:t>
            </a:r>
          </a:p>
        </p:txBody>
      </p:sp>
      <p:sp>
        <p:nvSpPr>
          <p:cNvPr id="13" name="Straight Connector 12">
            <a:extLst>
              <a:ext uri="{FF2B5EF4-FFF2-40B4-BE49-F238E27FC236}">
                <a16:creationId xmlns:a16="http://schemas.microsoft.com/office/drawing/2014/main" id="{82A1B6C5-1985-46AA-A8AD-A69271FEA933}"/>
              </a:ext>
            </a:extLst>
          </p:cNvPr>
          <p:cNvSpPr>
            <a:spLocks noGrp="1"/>
          </p:cNvSpPr>
          <p:nvPr/>
        </p:nvSpPr>
        <p:spPr>
          <a:xfrm>
            <a:off x="1619250" y="4038600"/>
            <a:ext cx="228600" cy="0"/>
          </a:xfrm>
          <a:prstGeom prst="line">
            <a:avLst/>
          </a:prstGeom>
          <a:noFill/>
          <a:ln w="11430">
            <a:solidFill>
              <a:srgbClr val="1F6F54"/>
            </a:solidFill>
          </a:ln>
        </p:spPr>
      </p:sp>
      <p:sp>
        <p:nvSpPr>
          <p:cNvPr id="14" name="Rectangle 13">
            <a:extLst>
              <a:ext uri="{FF2B5EF4-FFF2-40B4-BE49-F238E27FC236}">
                <a16:creationId xmlns:a16="http://schemas.microsoft.com/office/drawing/2014/main" id="{ED8B97CB-3A4F-4D44-BDDC-B3F0AE55DA76}"/>
              </a:ext>
            </a:extLst>
          </p:cNvPr>
          <p:cNvSpPr>
            <a:spLocks noGrp="1"/>
          </p:cNvSpPr>
          <p:nvPr/>
        </p:nvSpPr>
        <p:spPr>
          <a:xfrm>
            <a:off x="1981200" y="3905250"/>
            <a:ext cx="3429000" cy="266700"/>
          </a:xfrm>
          <a:prstGeom prst="rect">
            <a:avLst/>
          </a:prstGeom>
          <a:noFill/>
          <a:ln w="0">
            <a:noFill/>
          </a:ln>
        </p:spPr>
        <p:txBody>
          <a:bodyPr anchor="t">
            <a:normAutofit fontScale="85185"/>
          </a:bodyPr>
          <a:lstStyle/>
          <a:p>
            <a:pPr algn="l">
              <a:buNone/>
              <a:defRPr sz="1350" b="0">
                <a:solidFill>
                  <a:srgbClr val="172820"/>
                </a:solidFill>
                <a:latin typeface="Arial"/>
                <a:ea typeface="Arial"/>
                <a:cs typeface="Arial"/>
              </a:defRPr>
            </a:pPr>
            <a:r>
              <a:rPr sz="1350" b="0">
                <a:solidFill>
                  <a:srgbClr val="172820"/>
                </a:solidFill>
                <a:latin typeface="Arial"/>
                <a:ea typeface="Arial"/>
                <a:cs typeface="Arial"/>
              </a:rPr>
              <a:t>Upcoming appointment</a:t>
            </a:r>
          </a:p>
        </p:txBody>
      </p:sp>
      <p:sp>
        <p:nvSpPr>
          <p:cNvPr id="15" name="Straight Connector 14">
            <a:extLst>
              <a:ext uri="{FF2B5EF4-FFF2-40B4-BE49-F238E27FC236}">
                <a16:creationId xmlns:a16="http://schemas.microsoft.com/office/drawing/2014/main" id="{CA6A6C87-A26B-452F-84B3-0ECDA2AAF170}"/>
              </a:ext>
            </a:extLst>
          </p:cNvPr>
          <p:cNvSpPr>
            <a:spLocks noGrp="1"/>
          </p:cNvSpPr>
          <p:nvPr/>
        </p:nvSpPr>
        <p:spPr>
          <a:xfrm>
            <a:off x="1619250" y="4533900"/>
            <a:ext cx="228600" cy="0"/>
          </a:xfrm>
          <a:prstGeom prst="line">
            <a:avLst/>
          </a:prstGeom>
          <a:noFill/>
          <a:ln w="11430">
            <a:solidFill>
              <a:srgbClr val="1F6F54"/>
            </a:solidFill>
          </a:ln>
        </p:spPr>
      </p:sp>
      <p:sp>
        <p:nvSpPr>
          <p:cNvPr id="16" name="Rectangle 15">
            <a:extLst>
              <a:ext uri="{FF2B5EF4-FFF2-40B4-BE49-F238E27FC236}">
                <a16:creationId xmlns:a16="http://schemas.microsoft.com/office/drawing/2014/main" id="{FB461236-F19A-4BB2-A9CB-4C1C1914BE39}"/>
              </a:ext>
            </a:extLst>
          </p:cNvPr>
          <p:cNvSpPr>
            <a:spLocks noGrp="1"/>
          </p:cNvSpPr>
          <p:nvPr/>
        </p:nvSpPr>
        <p:spPr>
          <a:xfrm>
            <a:off x="1981200" y="4400550"/>
            <a:ext cx="3429000" cy="266700"/>
          </a:xfrm>
          <a:prstGeom prst="rect">
            <a:avLst/>
          </a:prstGeom>
          <a:noFill/>
          <a:ln w="0">
            <a:noFill/>
          </a:ln>
        </p:spPr>
        <p:txBody>
          <a:bodyPr anchor="t">
            <a:normAutofit fontScale="85185"/>
          </a:bodyPr>
          <a:lstStyle/>
          <a:p>
            <a:pPr algn="l">
              <a:buNone/>
              <a:defRPr sz="1350" b="0">
                <a:solidFill>
                  <a:srgbClr val="172820"/>
                </a:solidFill>
                <a:latin typeface="Arial"/>
                <a:ea typeface="Arial"/>
                <a:cs typeface="Arial"/>
              </a:defRPr>
            </a:pPr>
            <a:r>
              <a:rPr sz="1350" b="0">
                <a:solidFill>
                  <a:srgbClr val="172820"/>
                </a:solidFill>
                <a:latin typeface="Arial"/>
                <a:ea typeface="Arial"/>
                <a:cs typeface="Arial"/>
              </a:rPr>
              <a:t>Popular doctors</a:t>
            </a:r>
          </a:p>
        </p:txBody>
      </p:sp>
      <p:sp>
        <p:nvSpPr>
          <p:cNvPr id="17" name="Straight Connector 16">
            <a:extLst>
              <a:ext uri="{FF2B5EF4-FFF2-40B4-BE49-F238E27FC236}">
                <a16:creationId xmlns:a16="http://schemas.microsoft.com/office/drawing/2014/main" id="{EA6B929C-BF11-48DE-AE1D-91C7C818F75B}"/>
              </a:ext>
            </a:extLst>
          </p:cNvPr>
          <p:cNvSpPr>
            <a:spLocks noGrp="1"/>
          </p:cNvSpPr>
          <p:nvPr/>
        </p:nvSpPr>
        <p:spPr>
          <a:xfrm>
            <a:off x="2019300" y="5029200"/>
            <a:ext cx="228600" cy="0"/>
          </a:xfrm>
          <a:prstGeom prst="line">
            <a:avLst/>
          </a:prstGeom>
          <a:noFill/>
          <a:ln w="11430">
            <a:solidFill>
              <a:srgbClr val="1F6F54"/>
            </a:solidFill>
          </a:ln>
        </p:spPr>
      </p:sp>
      <p:sp>
        <p:nvSpPr>
          <p:cNvPr id="18" name="Rectangle 17">
            <a:extLst>
              <a:ext uri="{FF2B5EF4-FFF2-40B4-BE49-F238E27FC236}">
                <a16:creationId xmlns:a16="http://schemas.microsoft.com/office/drawing/2014/main" id="{C2607507-A9BD-4C9E-A578-D12C1B2ECDC6}"/>
              </a:ext>
            </a:extLst>
          </p:cNvPr>
          <p:cNvSpPr>
            <a:spLocks noGrp="1"/>
          </p:cNvSpPr>
          <p:nvPr/>
        </p:nvSpPr>
        <p:spPr>
          <a:xfrm>
            <a:off x="2381250" y="4895850"/>
            <a:ext cx="3429000" cy="266700"/>
          </a:xfrm>
          <a:prstGeom prst="rect">
            <a:avLst/>
          </a:prstGeom>
          <a:noFill/>
          <a:ln w="0">
            <a:noFill/>
          </a:ln>
        </p:spPr>
        <p:txBody>
          <a:bodyPr anchor="t">
            <a:normAutofit fontScale="85185"/>
          </a:bodyPr>
          <a:lstStyle/>
          <a:p>
            <a:pPr algn="l">
              <a:buNone/>
              <a:defRPr sz="1350" b="1">
                <a:solidFill>
                  <a:srgbClr val="1F6F54"/>
                </a:solidFill>
                <a:latin typeface="Arial"/>
                <a:ea typeface="Arial"/>
                <a:cs typeface="Arial"/>
              </a:defRPr>
            </a:pPr>
            <a:r>
              <a:rPr sz="1350" b="1">
                <a:solidFill>
                  <a:srgbClr val="1F6F54"/>
                </a:solidFill>
                <a:latin typeface="Arial"/>
                <a:ea typeface="Arial"/>
                <a:cs typeface="Arial"/>
              </a:rPr>
              <a:t>TListBoxItem → DoctorCard TFrame</a:t>
            </a:r>
          </a:p>
        </p:txBody>
      </p:sp>
      <p:sp>
        <p:nvSpPr>
          <p:cNvPr id="19" name="Straight Connector 18">
            <a:extLst>
              <a:ext uri="{FF2B5EF4-FFF2-40B4-BE49-F238E27FC236}">
                <a16:creationId xmlns:a16="http://schemas.microsoft.com/office/drawing/2014/main" id="{C7B62386-0AED-4FB9-AD18-AA0C96927A60}"/>
              </a:ext>
            </a:extLst>
          </p:cNvPr>
          <p:cNvSpPr>
            <a:spLocks noGrp="1"/>
          </p:cNvSpPr>
          <p:nvPr/>
        </p:nvSpPr>
        <p:spPr>
          <a:xfrm>
            <a:off x="1066800" y="5715000"/>
            <a:ext cx="228600" cy="0"/>
          </a:xfrm>
          <a:prstGeom prst="line">
            <a:avLst/>
          </a:prstGeom>
          <a:noFill/>
          <a:ln w="11430">
            <a:solidFill>
              <a:srgbClr val="1F6F54"/>
            </a:solidFill>
          </a:ln>
        </p:spPr>
      </p:sp>
      <p:sp>
        <p:nvSpPr>
          <p:cNvPr id="20" name="Rectangle 19">
            <a:extLst>
              <a:ext uri="{FF2B5EF4-FFF2-40B4-BE49-F238E27FC236}">
                <a16:creationId xmlns:a16="http://schemas.microsoft.com/office/drawing/2014/main" id="{8E63FDE3-7102-453F-AD71-519D3C1D31EB}"/>
              </a:ext>
            </a:extLst>
          </p:cNvPr>
          <p:cNvSpPr>
            <a:spLocks noGrp="1"/>
          </p:cNvSpPr>
          <p:nvPr/>
        </p:nvSpPr>
        <p:spPr>
          <a:xfrm>
            <a:off x="1428750" y="5581650"/>
            <a:ext cx="3429000" cy="266700"/>
          </a:xfrm>
          <a:prstGeom prst="rect">
            <a:avLst/>
          </a:prstGeom>
          <a:noFill/>
          <a:ln w="0">
            <a:noFill/>
          </a:ln>
        </p:spPr>
        <p:txBody>
          <a:bodyPr anchor="t">
            <a:normAutofit fontScale="85185"/>
          </a:bodyPr>
          <a:lstStyle/>
          <a:p>
            <a:pPr algn="l">
              <a:buNone/>
              <a:defRPr sz="1350" b="0">
                <a:solidFill>
                  <a:srgbClr val="172820"/>
                </a:solidFill>
                <a:latin typeface="Arial"/>
                <a:ea typeface="Arial"/>
                <a:cs typeface="Arial"/>
              </a:defRPr>
            </a:pPr>
            <a:r>
              <a:rPr sz="1350" b="0">
                <a:solidFill>
                  <a:srgbClr val="172820"/>
                </a:solidFill>
                <a:latin typeface="Arial"/>
                <a:ea typeface="Arial"/>
                <a:cs typeface="Arial"/>
              </a:rPr>
              <a:t>Bottom navigation</a:t>
            </a:r>
          </a:p>
        </p:txBody>
      </p:sp>
      <p:sp>
        <p:nvSpPr>
          <p:cNvPr id="21" name="Rectangle 20">
            <a:extLst>
              <a:ext uri="{FF2B5EF4-FFF2-40B4-BE49-F238E27FC236}">
                <a16:creationId xmlns:a16="http://schemas.microsoft.com/office/drawing/2014/main" id="{02724CCF-8A1E-4DAB-9175-8CF6EE9E6352}"/>
              </a:ext>
            </a:extLst>
          </p:cNvPr>
          <p:cNvSpPr>
            <a:spLocks noGrp="1"/>
          </p:cNvSpPr>
          <p:nvPr/>
        </p:nvSpPr>
        <p:spPr>
          <a:xfrm>
            <a:off x="6000750" y="2000250"/>
            <a:ext cx="2190750" cy="285750"/>
          </a:xfrm>
          <a:prstGeom prst="rect">
            <a:avLst/>
          </a:prstGeom>
          <a:noFill/>
          <a:ln w="0">
            <a:noFill/>
          </a:ln>
        </p:spPr>
        <p:txBody>
          <a:bodyPr anchor="t">
            <a:normAutofit fontScale="70833" lnSpcReduction="10000"/>
          </a:bodyPr>
          <a:lstStyle/>
          <a:p>
            <a:pPr algn="l">
              <a:buNone/>
              <a:defRPr sz="1800" b="1">
                <a:solidFill>
                  <a:srgbClr val="1F6F54"/>
                </a:solidFill>
                <a:latin typeface="Arial"/>
                <a:ea typeface="Arial"/>
                <a:cs typeface="Arial"/>
              </a:defRPr>
            </a:pPr>
            <a:r>
              <a:rPr sz="1800" b="1">
                <a:solidFill>
                  <a:srgbClr val="1F6F54"/>
                </a:solidFill>
                <a:latin typeface="Arial"/>
                <a:ea typeface="Arial"/>
                <a:cs typeface="Arial"/>
              </a:rPr>
              <a:t>Fixed di .fmx</a:t>
            </a:r>
          </a:p>
        </p:txBody>
      </p:sp>
      <p:sp>
        <p:nvSpPr>
          <p:cNvPr id="22" name="Rectangle 21">
            <a:extLst>
              <a:ext uri="{FF2B5EF4-FFF2-40B4-BE49-F238E27FC236}">
                <a16:creationId xmlns:a16="http://schemas.microsoft.com/office/drawing/2014/main" id="{7C64526E-C77A-4D7B-9116-AC350D0CAC9D}"/>
              </a:ext>
            </a:extLst>
          </p:cNvPr>
          <p:cNvSpPr>
            <a:spLocks noGrp="1"/>
          </p:cNvSpPr>
          <p:nvPr/>
        </p:nvSpPr>
        <p:spPr>
          <a:xfrm>
            <a:off x="6000750" y="2457450"/>
            <a:ext cx="4286250" cy="952500"/>
          </a:xfrm>
          <a:prstGeom prst="rect">
            <a:avLst/>
          </a:prstGeom>
          <a:noFill/>
          <a:ln w="0">
            <a:noFill/>
          </a:ln>
        </p:spPr>
        <p:txBody>
          <a:bodyPr anchor="t">
            <a:normAutofit/>
          </a:bodyPr>
          <a:lstStyle/>
          <a:p>
            <a:pPr algn="l">
              <a:buNone/>
              <a:defRPr sz="1425" b="0">
                <a:solidFill>
                  <a:srgbClr val="172820"/>
                </a:solidFill>
                <a:latin typeface="Arial"/>
                <a:ea typeface="Arial"/>
                <a:cs typeface="Arial"/>
              </a:defRPr>
            </a:pPr>
            <a:r>
              <a:rPr sz="1425" b="0">
                <a:solidFill>
                  <a:srgbClr val="172820"/>
                </a:solidFill>
                <a:latin typeface="Arial"/>
                <a:ea typeface="Arial"/>
                <a:cs typeface="Arial"/>
              </a:rPr>
              <a:t>Header, search, kategori, section heading, appointment card, dan bottom navigation tetap editabel di Designer.</a:t>
            </a:r>
          </a:p>
        </p:txBody>
      </p:sp>
      <p:sp>
        <p:nvSpPr>
          <p:cNvPr id="23" name="Rectangle 22">
            <a:extLst>
              <a:ext uri="{FF2B5EF4-FFF2-40B4-BE49-F238E27FC236}">
                <a16:creationId xmlns:a16="http://schemas.microsoft.com/office/drawing/2014/main" id="{7E2B05B4-2659-4EE4-8B95-7824E1A9EC9E}"/>
              </a:ext>
            </a:extLst>
          </p:cNvPr>
          <p:cNvSpPr>
            <a:spLocks noGrp="1"/>
          </p:cNvSpPr>
          <p:nvPr/>
        </p:nvSpPr>
        <p:spPr>
          <a:xfrm>
            <a:off x="6000750" y="3905250"/>
            <a:ext cx="2476500" cy="285750"/>
          </a:xfrm>
          <a:prstGeom prst="rect">
            <a:avLst/>
          </a:prstGeom>
          <a:noFill/>
          <a:ln w="0">
            <a:noFill/>
          </a:ln>
        </p:spPr>
        <p:txBody>
          <a:bodyPr anchor="t">
            <a:normAutofit fontScale="70833" lnSpcReduction="10000"/>
          </a:bodyPr>
          <a:lstStyle/>
          <a:p>
            <a:pPr algn="l">
              <a:buNone/>
              <a:defRPr sz="1800" b="1">
                <a:solidFill>
                  <a:srgbClr val="1F6F54"/>
                </a:solidFill>
                <a:latin typeface="Arial"/>
                <a:ea typeface="Arial"/>
                <a:cs typeface="Arial"/>
              </a:defRPr>
            </a:pPr>
            <a:r>
              <a:rPr sz="1800" b="1">
                <a:solidFill>
                  <a:srgbClr val="1F6F54"/>
                </a:solidFill>
                <a:latin typeface="Arial"/>
                <a:ea typeface="Arial"/>
                <a:cs typeface="Arial"/>
              </a:rPr>
              <a:t>Variabel dari data</a:t>
            </a:r>
          </a:p>
        </p:txBody>
      </p:sp>
      <p:sp>
        <p:nvSpPr>
          <p:cNvPr id="24" name="Rectangle 23">
            <a:extLst>
              <a:ext uri="{FF2B5EF4-FFF2-40B4-BE49-F238E27FC236}">
                <a16:creationId xmlns:a16="http://schemas.microsoft.com/office/drawing/2014/main" id="{1124980D-F0D7-4A50-A073-A62B24D56AA5}"/>
              </a:ext>
            </a:extLst>
          </p:cNvPr>
          <p:cNvSpPr>
            <a:spLocks noGrp="1"/>
          </p:cNvSpPr>
          <p:nvPr/>
        </p:nvSpPr>
        <p:spPr>
          <a:xfrm>
            <a:off x="6000750" y="4362450"/>
            <a:ext cx="4286250" cy="990600"/>
          </a:xfrm>
          <a:prstGeom prst="rect">
            <a:avLst/>
          </a:prstGeom>
          <a:noFill/>
          <a:ln w="0">
            <a:noFill/>
          </a:ln>
        </p:spPr>
        <p:txBody>
          <a:bodyPr anchor="t">
            <a:normAutofit/>
          </a:bodyPr>
          <a:lstStyle/>
          <a:p>
            <a:pPr algn="l">
              <a:buNone/>
              <a:defRPr sz="1425" b="0">
                <a:solidFill>
                  <a:srgbClr val="172820"/>
                </a:solidFill>
                <a:latin typeface="Arial"/>
                <a:ea typeface="Arial"/>
                <a:cs typeface="Arial"/>
              </a:defRPr>
            </a:pPr>
            <a:r>
              <a:rPr sz="1425" b="0">
                <a:solidFill>
                  <a:srgbClr val="172820"/>
                </a:solidFill>
                <a:latin typeface="Arial"/>
                <a:ea typeface="Arial"/>
                <a:cs typeface="Arial"/>
              </a:rPr>
              <a:t>Doctor row menjadi frame reusable dalam TListBoxItem. Data, callback, dan state dapat berubah tanpa menduplikasi struktur halaman.</a:t>
            </a:r>
          </a:p>
        </p:txBody>
      </p:sp>
    </p:spTree>
    <p:extLst>
      <p:ext uri="{BB962C8B-B14F-4D97-AF65-F5344CB8AC3E}">
        <p14:creationId xmlns:p14="http://schemas.microsoft.com/office/powerpoint/2010/main" val="9883230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D317BC69-82AE-4025-A3D6-3E3A8512589E}"/>
              </a:ext>
            </a:extLst>
          </p:cNvPr>
          <p:cNvSpPr>
            <a:spLocks noGrp="1"/>
          </p:cNvSpPr>
          <p:nvPr/>
        </p:nvSpPr>
        <p:spPr>
          <a:xfrm>
            <a:off x="685800" y="6477000"/>
            <a:ext cx="5715000" cy="190500"/>
          </a:xfrm>
          <a:prstGeom prst="rect">
            <a:avLst/>
          </a:prstGeom>
          <a:noFill/>
          <a:ln w="0">
            <a:noFill/>
          </a:ln>
        </p:spPr>
        <p:txBody>
          <a:bodyPr anchor="t">
            <a:normAutofit fontScale="78788" lnSpcReduction="10000"/>
          </a:bodyPr>
          <a:lstStyle/>
          <a:p>
            <a:pPr algn="l">
              <a:buNone/>
              <a:defRPr sz="825" b="0">
                <a:solidFill>
                  <a:srgbClr val="64736C"/>
                </a:solidFill>
                <a:latin typeface="Arial"/>
                <a:ea typeface="Arial"/>
                <a:cs typeface="Arial"/>
              </a:defRPr>
            </a:pPr>
            <a:r>
              <a:rPr sz="825" b="0">
                <a:solidFill>
                  <a:srgbClr val="64736C"/>
                </a:solidFill>
                <a:latin typeface="Arial"/>
                <a:ea typeface="Arial"/>
                <a:cs typeface="Arial"/>
              </a:rPr>
              <a:t>HTML-FMX · Healthcare wireframe case study</a:t>
            </a:r>
          </a:p>
        </p:txBody>
      </p:sp>
      <p:sp>
        <p:nvSpPr>
          <p:cNvPr id="2" name="Rectangle 1">
            <a:extLst>
              <a:ext uri="{FF2B5EF4-FFF2-40B4-BE49-F238E27FC236}">
                <a16:creationId xmlns:a16="http://schemas.microsoft.com/office/drawing/2014/main" id="{A9D6DF28-514F-4105-91EA-0AB5607C0F83}"/>
              </a:ext>
            </a:extLst>
          </p:cNvPr>
          <p:cNvSpPr>
            <a:spLocks noGrp="1"/>
          </p:cNvSpPr>
          <p:nvPr/>
        </p:nvSpPr>
        <p:spPr>
          <a:xfrm>
            <a:off x="11049000" y="6438900"/>
            <a:ext cx="457200" cy="190500"/>
          </a:xfrm>
          <a:prstGeom prst="rect">
            <a:avLst/>
          </a:prstGeom>
          <a:noFill/>
          <a:ln w="0">
            <a:noFill/>
          </a:ln>
        </p:spPr>
        <p:txBody>
          <a:bodyPr anchor="t">
            <a:normAutofit fontScale="78788" lnSpcReduction="10000"/>
          </a:bodyPr>
          <a:lstStyle/>
          <a:p>
            <a:pPr algn="r">
              <a:buNone/>
              <a:defRPr sz="825" b="0">
                <a:solidFill>
                  <a:srgbClr val="64736C"/>
                </a:solidFill>
                <a:latin typeface="Arial"/>
                <a:ea typeface="Arial"/>
                <a:cs typeface="Arial"/>
              </a:defRPr>
            </a:pPr>
            <a:r>
              <a:rPr sz="825" b="0">
                <a:solidFill>
                  <a:srgbClr val="64736C"/>
                </a:solidFill>
                <a:latin typeface="Arial"/>
                <a:ea typeface="Arial"/>
                <a:cs typeface="Arial"/>
              </a:rPr>
              <a:t>15</a:t>
            </a:r>
          </a:p>
        </p:txBody>
      </p:sp>
      <p:sp>
        <p:nvSpPr>
          <p:cNvPr id="3" name="Rectangle 2">
            <a:extLst>
              <a:ext uri="{FF2B5EF4-FFF2-40B4-BE49-F238E27FC236}">
                <a16:creationId xmlns:a16="http://schemas.microsoft.com/office/drawing/2014/main" id="{6C73D246-270A-4754-80DE-AB128F513281}"/>
              </a:ext>
            </a:extLst>
          </p:cNvPr>
          <p:cNvSpPr>
            <a:spLocks noGrp="1"/>
          </p:cNvSpPr>
          <p:nvPr/>
        </p:nvSpPr>
        <p:spPr>
          <a:xfrm>
            <a:off x="685800" y="514350"/>
            <a:ext cx="10668000" cy="495300"/>
          </a:xfrm>
          <a:prstGeom prst="rect">
            <a:avLst/>
          </a:prstGeom>
          <a:noFill/>
          <a:ln w="0">
            <a:noFill/>
          </a:ln>
        </p:spPr>
        <p:txBody>
          <a:bodyPr anchor="t">
            <a:normAutofit/>
          </a:bodyPr>
          <a:lstStyle/>
          <a:p>
            <a:pPr algn="l">
              <a:buNone/>
              <a:defRPr sz="2400" b="1">
                <a:solidFill>
                  <a:srgbClr val="172820"/>
                </a:solidFill>
                <a:latin typeface="Arial"/>
                <a:ea typeface="Arial"/>
                <a:cs typeface="Arial"/>
              </a:defRPr>
            </a:pPr>
            <a:r>
              <a:rPr sz="2400" b="1">
                <a:solidFill>
                  <a:srgbClr val="172820"/>
                </a:solidFill>
                <a:latin typeface="Arial"/>
                <a:ea typeface="Arial"/>
                <a:cs typeface="Arial"/>
              </a:rPr>
              <a:t>Bukti yang perlu dibawa ke sesi demo</a:t>
            </a:r>
          </a:p>
        </p:txBody>
      </p:sp>
      <p:sp>
        <p:nvSpPr>
          <p:cNvPr id="4" name="Rectangle 3">
            <a:extLst>
              <a:ext uri="{FF2B5EF4-FFF2-40B4-BE49-F238E27FC236}">
                <a16:creationId xmlns:a16="http://schemas.microsoft.com/office/drawing/2014/main" id="{789C278D-3F26-409F-BDCD-FC4B8F0EE29F}"/>
              </a:ext>
            </a:extLst>
          </p:cNvPr>
          <p:cNvSpPr>
            <a:spLocks noGrp="1"/>
          </p:cNvSpPr>
          <p:nvPr/>
        </p:nvSpPr>
        <p:spPr>
          <a:xfrm>
            <a:off x="685800" y="1066800"/>
            <a:ext cx="10287000" cy="323850"/>
          </a:xfrm>
          <a:prstGeom prst="rect">
            <a:avLst/>
          </a:prstGeom>
          <a:noFill/>
          <a:ln w="0">
            <a:noFill/>
          </a:ln>
        </p:spPr>
        <p:txBody>
          <a:bodyPr anchor="t">
            <a:normAutofit/>
          </a:bodyPr>
          <a:lstStyle/>
          <a:p>
            <a:pPr algn="l">
              <a:buNone/>
              <a:defRPr sz="1200" b="0">
                <a:solidFill>
                  <a:srgbClr val="64736C"/>
                </a:solidFill>
                <a:latin typeface="Arial"/>
                <a:ea typeface="Arial"/>
                <a:cs typeface="Arial"/>
              </a:defRPr>
            </a:pPr>
            <a:r>
              <a:rPr sz="1200" b="0">
                <a:solidFill>
                  <a:srgbClr val="64736C"/>
                </a:solidFill>
                <a:latin typeface="Arial"/>
                <a:ea typeface="Arial"/>
                <a:cs typeface="Arial"/>
              </a:rPr>
              <a:t>Demo dapat menunjukkan quality gate secara konkret tanpa membuat klaim yang tidak terukur.</a:t>
            </a:r>
          </a:p>
        </p:txBody>
      </p:sp>
      <p:sp>
        <p:nvSpPr>
          <p:cNvPr id="5" name="Rectangle: Rounded Corners 4">
            <a:extLst>
              <a:ext uri="{FF2B5EF4-FFF2-40B4-BE49-F238E27FC236}">
                <a16:creationId xmlns:a16="http://schemas.microsoft.com/office/drawing/2014/main" id="{CF5021FD-3F65-4555-978C-D1CDCB87387A}"/>
              </a:ext>
            </a:extLst>
          </p:cNvPr>
          <p:cNvSpPr>
            <a:spLocks noGrp="1"/>
          </p:cNvSpPr>
          <p:nvPr/>
        </p:nvSpPr>
        <p:spPr>
          <a:xfrm>
            <a:off x="876300" y="1695450"/>
            <a:ext cx="342900" cy="342900"/>
          </a:xfrm>
          <a:prstGeom prst="roundRect">
            <a:avLst>
              <a:gd name="adj" fmla="val 50000"/>
            </a:avLst>
          </a:prstGeom>
          <a:solidFill>
            <a:srgbClr val="DFF2E9"/>
          </a:solidFill>
          <a:ln w="0">
            <a:noFill/>
          </a:ln>
        </p:spPr>
      </p:sp>
      <p:sp>
        <p:nvSpPr>
          <p:cNvPr id="6" name="Rectangle 5">
            <a:extLst>
              <a:ext uri="{FF2B5EF4-FFF2-40B4-BE49-F238E27FC236}">
                <a16:creationId xmlns:a16="http://schemas.microsoft.com/office/drawing/2014/main" id="{BC6C528F-6D28-4F94-9577-2A63D92DE2D3}"/>
              </a:ext>
            </a:extLst>
          </p:cNvPr>
          <p:cNvSpPr>
            <a:spLocks noGrp="1"/>
          </p:cNvSpPr>
          <p:nvPr/>
        </p:nvSpPr>
        <p:spPr>
          <a:xfrm>
            <a:off x="971550" y="1771650"/>
            <a:ext cx="171450" cy="171450"/>
          </a:xfrm>
          <a:prstGeom prst="rect">
            <a:avLst/>
          </a:prstGeom>
          <a:noFill/>
          <a:ln w="0">
            <a:noFill/>
          </a:ln>
        </p:spPr>
        <p:txBody>
          <a:bodyPr anchor="t">
            <a:normAutofit fontScale="55000" lnSpcReduction="10000"/>
          </a:bodyPr>
          <a:lstStyle/>
          <a:p>
            <a:pPr algn="ctr">
              <a:buNone/>
              <a:defRPr sz="1050" b="1">
                <a:solidFill>
                  <a:srgbClr val="1F6F54"/>
                </a:solidFill>
                <a:latin typeface="Arial"/>
                <a:ea typeface="Arial"/>
                <a:cs typeface="Arial"/>
              </a:defRPr>
            </a:pPr>
            <a:r>
              <a:rPr sz="1050" b="1">
                <a:solidFill>
                  <a:srgbClr val="1F6F54"/>
                </a:solidFill>
                <a:latin typeface="Arial"/>
                <a:ea typeface="Arial"/>
                <a:cs typeface="Arial"/>
              </a:rPr>
              <a:t>1</a:t>
            </a:r>
          </a:p>
        </p:txBody>
      </p:sp>
      <p:sp>
        <p:nvSpPr>
          <p:cNvPr id="7" name="Rectangle 6">
            <a:extLst>
              <a:ext uri="{FF2B5EF4-FFF2-40B4-BE49-F238E27FC236}">
                <a16:creationId xmlns:a16="http://schemas.microsoft.com/office/drawing/2014/main" id="{DE2AA7C9-CC38-4D3E-A0BE-731EA7A5762C}"/>
              </a:ext>
            </a:extLst>
          </p:cNvPr>
          <p:cNvSpPr>
            <a:spLocks noGrp="1"/>
          </p:cNvSpPr>
          <p:nvPr/>
        </p:nvSpPr>
        <p:spPr>
          <a:xfrm>
            <a:off x="1485900" y="1724025"/>
            <a:ext cx="8763000" cy="381000"/>
          </a:xfrm>
          <a:prstGeom prst="rect">
            <a:avLst/>
          </a:prstGeom>
          <a:noFill/>
          <a:ln w="0">
            <a:noFill/>
          </a:ln>
        </p:spPr>
        <p:txBody>
          <a:bodyPr anchor="t">
            <a:normAutofit/>
          </a:bodyPr>
          <a:lstStyle/>
          <a:p>
            <a:pPr algn="l">
              <a:buNone/>
              <a:defRPr sz="1500" b="0">
                <a:solidFill>
                  <a:srgbClr val="172820"/>
                </a:solidFill>
                <a:latin typeface="Arial"/>
                <a:ea typeface="Arial"/>
                <a:cs typeface="Arial"/>
              </a:defRPr>
            </a:pPr>
            <a:r>
              <a:rPr sz="1500" b="0">
                <a:solidFill>
                  <a:srgbClr val="172820"/>
                </a:solidFill>
                <a:latin typeface="Arial"/>
                <a:ea typeface="Arial"/>
                <a:cs typeface="Arial"/>
              </a:rPr>
              <a:t>Hierarchy Designer: section, card, list, dan child frame mudah ditelusuri</a:t>
            </a:r>
          </a:p>
        </p:txBody>
      </p:sp>
      <p:sp>
        <p:nvSpPr>
          <p:cNvPr id="8" name="Straight Connector 7">
            <a:extLst>
              <a:ext uri="{FF2B5EF4-FFF2-40B4-BE49-F238E27FC236}">
                <a16:creationId xmlns:a16="http://schemas.microsoft.com/office/drawing/2014/main" id="{7520B616-136E-4454-BFFF-A31C0F3A4C90}"/>
              </a:ext>
            </a:extLst>
          </p:cNvPr>
          <p:cNvSpPr>
            <a:spLocks noGrp="1"/>
          </p:cNvSpPr>
          <p:nvPr/>
        </p:nvSpPr>
        <p:spPr>
          <a:xfrm>
            <a:off x="1485900" y="2190750"/>
            <a:ext cx="8572500" cy="0"/>
          </a:xfrm>
          <a:prstGeom prst="line">
            <a:avLst/>
          </a:prstGeom>
          <a:noFill/>
          <a:ln w="11430">
            <a:solidFill>
              <a:srgbClr val="DCE5E0"/>
            </a:solidFill>
          </a:ln>
        </p:spPr>
      </p:sp>
      <p:sp>
        <p:nvSpPr>
          <p:cNvPr id="9" name="Rectangle: Rounded Corners 8">
            <a:extLst>
              <a:ext uri="{FF2B5EF4-FFF2-40B4-BE49-F238E27FC236}">
                <a16:creationId xmlns:a16="http://schemas.microsoft.com/office/drawing/2014/main" id="{4ADE01DA-D5B9-4605-9BA3-5E11B91625AF}"/>
              </a:ext>
            </a:extLst>
          </p:cNvPr>
          <p:cNvSpPr>
            <a:spLocks noGrp="1"/>
          </p:cNvSpPr>
          <p:nvPr/>
        </p:nvSpPr>
        <p:spPr>
          <a:xfrm>
            <a:off x="876300" y="2438400"/>
            <a:ext cx="342900" cy="342900"/>
          </a:xfrm>
          <a:prstGeom prst="roundRect">
            <a:avLst>
              <a:gd name="adj" fmla="val 50000"/>
            </a:avLst>
          </a:prstGeom>
          <a:solidFill>
            <a:srgbClr val="DFF2E9"/>
          </a:solidFill>
          <a:ln w="0">
            <a:noFill/>
          </a:ln>
        </p:spPr>
      </p:sp>
      <p:sp>
        <p:nvSpPr>
          <p:cNvPr id="10" name="Rectangle 9">
            <a:extLst>
              <a:ext uri="{FF2B5EF4-FFF2-40B4-BE49-F238E27FC236}">
                <a16:creationId xmlns:a16="http://schemas.microsoft.com/office/drawing/2014/main" id="{AB429FC6-098F-4376-AF63-D41C12BDA063}"/>
              </a:ext>
            </a:extLst>
          </p:cNvPr>
          <p:cNvSpPr>
            <a:spLocks noGrp="1"/>
          </p:cNvSpPr>
          <p:nvPr/>
        </p:nvSpPr>
        <p:spPr>
          <a:xfrm>
            <a:off x="971550" y="2514600"/>
            <a:ext cx="171450" cy="171450"/>
          </a:xfrm>
          <a:prstGeom prst="rect">
            <a:avLst/>
          </a:prstGeom>
          <a:noFill/>
          <a:ln w="0">
            <a:noFill/>
          </a:ln>
        </p:spPr>
        <p:txBody>
          <a:bodyPr anchor="t">
            <a:normAutofit fontScale="55000" lnSpcReduction="10000"/>
          </a:bodyPr>
          <a:lstStyle/>
          <a:p>
            <a:pPr algn="ctr">
              <a:buNone/>
              <a:defRPr sz="1050" b="1">
                <a:solidFill>
                  <a:srgbClr val="1F6F54"/>
                </a:solidFill>
                <a:latin typeface="Arial"/>
                <a:ea typeface="Arial"/>
                <a:cs typeface="Arial"/>
              </a:defRPr>
            </a:pPr>
            <a:r>
              <a:rPr sz="1050" b="1">
                <a:solidFill>
                  <a:srgbClr val="1F6F54"/>
                </a:solidFill>
                <a:latin typeface="Arial"/>
                <a:ea typeface="Arial"/>
                <a:cs typeface="Arial"/>
              </a:rPr>
              <a:t>2</a:t>
            </a:r>
          </a:p>
        </p:txBody>
      </p:sp>
      <p:sp>
        <p:nvSpPr>
          <p:cNvPr id="11" name="Rectangle 10">
            <a:extLst>
              <a:ext uri="{FF2B5EF4-FFF2-40B4-BE49-F238E27FC236}">
                <a16:creationId xmlns:a16="http://schemas.microsoft.com/office/drawing/2014/main" id="{55ED9254-6E9C-48F0-BE55-E3A733750C06}"/>
              </a:ext>
            </a:extLst>
          </p:cNvPr>
          <p:cNvSpPr>
            <a:spLocks noGrp="1"/>
          </p:cNvSpPr>
          <p:nvPr/>
        </p:nvSpPr>
        <p:spPr>
          <a:xfrm>
            <a:off x="1485900" y="2466975"/>
            <a:ext cx="8763000" cy="381000"/>
          </a:xfrm>
          <a:prstGeom prst="rect">
            <a:avLst/>
          </a:prstGeom>
          <a:noFill/>
          <a:ln w="0">
            <a:noFill/>
          </a:ln>
        </p:spPr>
        <p:txBody>
          <a:bodyPr anchor="t">
            <a:normAutofit/>
          </a:bodyPr>
          <a:lstStyle/>
          <a:p>
            <a:pPr algn="l">
              <a:buNone/>
              <a:defRPr sz="1500" b="0">
                <a:solidFill>
                  <a:srgbClr val="172820"/>
                </a:solidFill>
                <a:latin typeface="Arial"/>
                <a:ea typeface="Arial"/>
                <a:cs typeface="Arial"/>
              </a:defRPr>
            </a:pPr>
            <a:r>
              <a:rPr sz="1500" b="0">
                <a:solidFill>
                  <a:srgbClr val="172820"/>
                </a:solidFill>
                <a:latin typeface="Arial"/>
                <a:ea typeface="Arial"/>
                <a:cs typeface="Arial"/>
              </a:rPr>
              <a:t>Mobile render: lebar layar, scroll boundary, dan bottom navigation stabil</a:t>
            </a:r>
          </a:p>
        </p:txBody>
      </p:sp>
      <p:sp>
        <p:nvSpPr>
          <p:cNvPr id="12" name="Straight Connector 11">
            <a:extLst>
              <a:ext uri="{FF2B5EF4-FFF2-40B4-BE49-F238E27FC236}">
                <a16:creationId xmlns:a16="http://schemas.microsoft.com/office/drawing/2014/main" id="{DF482C6F-2F0B-4041-9486-2A7537407120}"/>
              </a:ext>
            </a:extLst>
          </p:cNvPr>
          <p:cNvSpPr>
            <a:spLocks noGrp="1"/>
          </p:cNvSpPr>
          <p:nvPr/>
        </p:nvSpPr>
        <p:spPr>
          <a:xfrm>
            <a:off x="1485900" y="2933700"/>
            <a:ext cx="8572500" cy="0"/>
          </a:xfrm>
          <a:prstGeom prst="line">
            <a:avLst/>
          </a:prstGeom>
          <a:noFill/>
          <a:ln w="11430">
            <a:solidFill>
              <a:srgbClr val="DCE5E0"/>
            </a:solidFill>
          </a:ln>
        </p:spPr>
      </p:sp>
      <p:sp>
        <p:nvSpPr>
          <p:cNvPr id="13" name="Rectangle: Rounded Corners 12">
            <a:extLst>
              <a:ext uri="{FF2B5EF4-FFF2-40B4-BE49-F238E27FC236}">
                <a16:creationId xmlns:a16="http://schemas.microsoft.com/office/drawing/2014/main" id="{4E2A8030-4A4C-4549-ABB1-A9C3A0B9D178}"/>
              </a:ext>
            </a:extLst>
          </p:cNvPr>
          <p:cNvSpPr>
            <a:spLocks noGrp="1"/>
          </p:cNvSpPr>
          <p:nvPr/>
        </p:nvSpPr>
        <p:spPr>
          <a:xfrm>
            <a:off x="876300" y="3181350"/>
            <a:ext cx="342900" cy="342900"/>
          </a:xfrm>
          <a:prstGeom prst="roundRect">
            <a:avLst>
              <a:gd name="adj" fmla="val 50000"/>
            </a:avLst>
          </a:prstGeom>
          <a:solidFill>
            <a:srgbClr val="DFF2E9"/>
          </a:solidFill>
          <a:ln w="0">
            <a:noFill/>
          </a:ln>
        </p:spPr>
      </p:sp>
      <p:sp>
        <p:nvSpPr>
          <p:cNvPr id="14" name="Rectangle 13">
            <a:extLst>
              <a:ext uri="{FF2B5EF4-FFF2-40B4-BE49-F238E27FC236}">
                <a16:creationId xmlns:a16="http://schemas.microsoft.com/office/drawing/2014/main" id="{C13CE79D-5707-47BF-86AB-A82CAD13F28D}"/>
              </a:ext>
            </a:extLst>
          </p:cNvPr>
          <p:cNvSpPr>
            <a:spLocks noGrp="1"/>
          </p:cNvSpPr>
          <p:nvPr/>
        </p:nvSpPr>
        <p:spPr>
          <a:xfrm>
            <a:off x="971550" y="3257550"/>
            <a:ext cx="171450" cy="171450"/>
          </a:xfrm>
          <a:prstGeom prst="rect">
            <a:avLst/>
          </a:prstGeom>
          <a:noFill/>
          <a:ln w="0">
            <a:noFill/>
          </a:ln>
        </p:spPr>
        <p:txBody>
          <a:bodyPr anchor="t">
            <a:normAutofit fontScale="55000" lnSpcReduction="10000"/>
          </a:bodyPr>
          <a:lstStyle/>
          <a:p>
            <a:pPr algn="ctr">
              <a:buNone/>
              <a:defRPr sz="1050" b="1">
                <a:solidFill>
                  <a:srgbClr val="1F6F54"/>
                </a:solidFill>
                <a:latin typeface="Arial"/>
                <a:ea typeface="Arial"/>
                <a:cs typeface="Arial"/>
              </a:defRPr>
            </a:pPr>
            <a:r>
              <a:rPr sz="1050" b="1">
                <a:solidFill>
                  <a:srgbClr val="1F6F54"/>
                </a:solidFill>
                <a:latin typeface="Arial"/>
                <a:ea typeface="Arial"/>
                <a:cs typeface="Arial"/>
              </a:rPr>
              <a:t>3</a:t>
            </a:r>
          </a:p>
        </p:txBody>
      </p:sp>
      <p:sp>
        <p:nvSpPr>
          <p:cNvPr id="15" name="Rectangle 14">
            <a:extLst>
              <a:ext uri="{FF2B5EF4-FFF2-40B4-BE49-F238E27FC236}">
                <a16:creationId xmlns:a16="http://schemas.microsoft.com/office/drawing/2014/main" id="{351DF1C6-DD88-458C-8D31-3FBC058B15AA}"/>
              </a:ext>
            </a:extLst>
          </p:cNvPr>
          <p:cNvSpPr>
            <a:spLocks noGrp="1"/>
          </p:cNvSpPr>
          <p:nvPr/>
        </p:nvSpPr>
        <p:spPr>
          <a:xfrm>
            <a:off x="1485900" y="3209925"/>
            <a:ext cx="8763000" cy="381000"/>
          </a:xfrm>
          <a:prstGeom prst="rect">
            <a:avLst/>
          </a:prstGeom>
          <a:noFill/>
          <a:ln w="0">
            <a:noFill/>
          </a:ln>
        </p:spPr>
        <p:txBody>
          <a:bodyPr anchor="t">
            <a:normAutofit/>
          </a:bodyPr>
          <a:lstStyle/>
          <a:p>
            <a:pPr algn="l">
              <a:buNone/>
              <a:defRPr sz="1500" b="0">
                <a:solidFill>
                  <a:srgbClr val="172820"/>
                </a:solidFill>
                <a:latin typeface="Arial"/>
                <a:ea typeface="Arial"/>
                <a:cs typeface="Arial"/>
              </a:defRPr>
            </a:pPr>
            <a:r>
              <a:rPr sz="1500" b="0">
                <a:solidFill>
                  <a:srgbClr val="172820"/>
                </a:solidFill>
                <a:latin typeface="Arial"/>
                <a:ea typeface="Arial"/>
                <a:cs typeface="Arial"/>
              </a:rPr>
              <a:t>Data berulang: doctor card tidak disalin sebagai blok statis di halaman</a:t>
            </a:r>
          </a:p>
        </p:txBody>
      </p:sp>
      <p:sp>
        <p:nvSpPr>
          <p:cNvPr id="16" name="Straight Connector 15">
            <a:extLst>
              <a:ext uri="{FF2B5EF4-FFF2-40B4-BE49-F238E27FC236}">
                <a16:creationId xmlns:a16="http://schemas.microsoft.com/office/drawing/2014/main" id="{1A9C59C8-BC1E-4DA2-A92D-CE45555A82BD}"/>
              </a:ext>
            </a:extLst>
          </p:cNvPr>
          <p:cNvSpPr>
            <a:spLocks noGrp="1"/>
          </p:cNvSpPr>
          <p:nvPr/>
        </p:nvSpPr>
        <p:spPr>
          <a:xfrm>
            <a:off x="1485900" y="3676650"/>
            <a:ext cx="8572500" cy="0"/>
          </a:xfrm>
          <a:prstGeom prst="line">
            <a:avLst/>
          </a:prstGeom>
          <a:noFill/>
          <a:ln w="11430">
            <a:solidFill>
              <a:srgbClr val="DCE5E0"/>
            </a:solidFill>
          </a:ln>
        </p:spPr>
      </p:sp>
      <p:sp>
        <p:nvSpPr>
          <p:cNvPr id="17" name="Rectangle: Rounded Corners 16">
            <a:extLst>
              <a:ext uri="{FF2B5EF4-FFF2-40B4-BE49-F238E27FC236}">
                <a16:creationId xmlns:a16="http://schemas.microsoft.com/office/drawing/2014/main" id="{D932A60B-E5D5-451C-A9C2-D0F552849F65}"/>
              </a:ext>
            </a:extLst>
          </p:cNvPr>
          <p:cNvSpPr>
            <a:spLocks noGrp="1"/>
          </p:cNvSpPr>
          <p:nvPr/>
        </p:nvSpPr>
        <p:spPr>
          <a:xfrm>
            <a:off x="876300" y="3924300"/>
            <a:ext cx="342900" cy="342900"/>
          </a:xfrm>
          <a:prstGeom prst="roundRect">
            <a:avLst>
              <a:gd name="adj" fmla="val 50000"/>
            </a:avLst>
          </a:prstGeom>
          <a:solidFill>
            <a:srgbClr val="DFF2E9"/>
          </a:solidFill>
          <a:ln w="0">
            <a:noFill/>
          </a:ln>
        </p:spPr>
      </p:sp>
      <p:sp>
        <p:nvSpPr>
          <p:cNvPr id="18" name="Rectangle 17">
            <a:extLst>
              <a:ext uri="{FF2B5EF4-FFF2-40B4-BE49-F238E27FC236}">
                <a16:creationId xmlns:a16="http://schemas.microsoft.com/office/drawing/2014/main" id="{D4B10448-4DEC-4532-B60D-3667B4FA0E80}"/>
              </a:ext>
            </a:extLst>
          </p:cNvPr>
          <p:cNvSpPr>
            <a:spLocks noGrp="1"/>
          </p:cNvSpPr>
          <p:nvPr/>
        </p:nvSpPr>
        <p:spPr>
          <a:xfrm>
            <a:off x="971550" y="4000500"/>
            <a:ext cx="171450" cy="171450"/>
          </a:xfrm>
          <a:prstGeom prst="rect">
            <a:avLst/>
          </a:prstGeom>
          <a:noFill/>
          <a:ln w="0">
            <a:noFill/>
          </a:ln>
        </p:spPr>
        <p:txBody>
          <a:bodyPr anchor="t">
            <a:normAutofit fontScale="55000" lnSpcReduction="10000"/>
          </a:bodyPr>
          <a:lstStyle/>
          <a:p>
            <a:pPr algn="ctr">
              <a:buNone/>
              <a:defRPr sz="1050" b="1">
                <a:solidFill>
                  <a:srgbClr val="1F6F54"/>
                </a:solidFill>
                <a:latin typeface="Arial"/>
                <a:ea typeface="Arial"/>
                <a:cs typeface="Arial"/>
              </a:defRPr>
            </a:pPr>
            <a:r>
              <a:rPr sz="1050" b="1">
                <a:solidFill>
                  <a:srgbClr val="1F6F54"/>
                </a:solidFill>
                <a:latin typeface="Arial"/>
                <a:ea typeface="Arial"/>
                <a:cs typeface="Arial"/>
              </a:rPr>
              <a:t>4</a:t>
            </a:r>
          </a:p>
        </p:txBody>
      </p:sp>
      <p:sp>
        <p:nvSpPr>
          <p:cNvPr id="19" name="Rectangle 18">
            <a:extLst>
              <a:ext uri="{FF2B5EF4-FFF2-40B4-BE49-F238E27FC236}">
                <a16:creationId xmlns:a16="http://schemas.microsoft.com/office/drawing/2014/main" id="{D98B8ADD-812A-4D42-B0E8-D923EAFEE3F8}"/>
              </a:ext>
            </a:extLst>
          </p:cNvPr>
          <p:cNvSpPr>
            <a:spLocks noGrp="1"/>
          </p:cNvSpPr>
          <p:nvPr/>
        </p:nvSpPr>
        <p:spPr>
          <a:xfrm>
            <a:off x="1485900" y="3952875"/>
            <a:ext cx="8763000" cy="381000"/>
          </a:xfrm>
          <a:prstGeom prst="rect">
            <a:avLst/>
          </a:prstGeom>
          <a:noFill/>
          <a:ln w="0">
            <a:noFill/>
          </a:ln>
        </p:spPr>
        <p:txBody>
          <a:bodyPr anchor="t">
            <a:normAutofit/>
          </a:bodyPr>
          <a:lstStyle/>
          <a:p>
            <a:pPr algn="l">
              <a:buNone/>
              <a:defRPr sz="1500" b="0">
                <a:solidFill>
                  <a:srgbClr val="172820"/>
                </a:solidFill>
                <a:latin typeface="Arial"/>
                <a:ea typeface="Arial"/>
                <a:cs typeface="Arial"/>
              </a:defRPr>
            </a:pPr>
            <a:r>
              <a:rPr sz="1500" b="0">
                <a:solidFill>
                  <a:srgbClr val="172820"/>
                </a:solidFill>
                <a:latin typeface="Arial"/>
                <a:ea typeface="Arial"/>
                <a:cs typeface="Arial"/>
              </a:rPr>
              <a:t>Style: resource dan state komponen mengikuti host StyleBook</a:t>
            </a:r>
          </a:p>
        </p:txBody>
      </p:sp>
      <p:sp>
        <p:nvSpPr>
          <p:cNvPr id="20" name="Straight Connector 19">
            <a:extLst>
              <a:ext uri="{FF2B5EF4-FFF2-40B4-BE49-F238E27FC236}">
                <a16:creationId xmlns:a16="http://schemas.microsoft.com/office/drawing/2014/main" id="{AC2372F4-5DF5-471E-BA3C-B5584045FF3E}"/>
              </a:ext>
            </a:extLst>
          </p:cNvPr>
          <p:cNvSpPr>
            <a:spLocks noGrp="1"/>
          </p:cNvSpPr>
          <p:nvPr/>
        </p:nvSpPr>
        <p:spPr>
          <a:xfrm>
            <a:off x="1485900" y="4419600"/>
            <a:ext cx="8572500" cy="0"/>
          </a:xfrm>
          <a:prstGeom prst="line">
            <a:avLst/>
          </a:prstGeom>
          <a:noFill/>
          <a:ln w="11430">
            <a:solidFill>
              <a:srgbClr val="DCE5E0"/>
            </a:solidFill>
          </a:ln>
        </p:spPr>
      </p:sp>
      <p:sp>
        <p:nvSpPr>
          <p:cNvPr id="21" name="Rectangle: Rounded Corners 20">
            <a:extLst>
              <a:ext uri="{FF2B5EF4-FFF2-40B4-BE49-F238E27FC236}">
                <a16:creationId xmlns:a16="http://schemas.microsoft.com/office/drawing/2014/main" id="{332359B9-536B-46B7-ABDD-3F8BAF5D475D}"/>
              </a:ext>
            </a:extLst>
          </p:cNvPr>
          <p:cNvSpPr>
            <a:spLocks noGrp="1"/>
          </p:cNvSpPr>
          <p:nvPr/>
        </p:nvSpPr>
        <p:spPr>
          <a:xfrm>
            <a:off x="876300" y="4667250"/>
            <a:ext cx="342900" cy="342900"/>
          </a:xfrm>
          <a:prstGeom prst="roundRect">
            <a:avLst>
              <a:gd name="adj" fmla="val 50000"/>
            </a:avLst>
          </a:prstGeom>
          <a:solidFill>
            <a:srgbClr val="DFF2E9"/>
          </a:solidFill>
          <a:ln w="0">
            <a:noFill/>
          </a:ln>
        </p:spPr>
      </p:sp>
      <p:sp>
        <p:nvSpPr>
          <p:cNvPr id="22" name="Rectangle 21">
            <a:extLst>
              <a:ext uri="{FF2B5EF4-FFF2-40B4-BE49-F238E27FC236}">
                <a16:creationId xmlns:a16="http://schemas.microsoft.com/office/drawing/2014/main" id="{56D9C6B3-8609-4910-926A-A65DF9C4D05B}"/>
              </a:ext>
            </a:extLst>
          </p:cNvPr>
          <p:cNvSpPr>
            <a:spLocks noGrp="1"/>
          </p:cNvSpPr>
          <p:nvPr/>
        </p:nvSpPr>
        <p:spPr>
          <a:xfrm>
            <a:off x="971550" y="4743450"/>
            <a:ext cx="171450" cy="171450"/>
          </a:xfrm>
          <a:prstGeom prst="rect">
            <a:avLst/>
          </a:prstGeom>
          <a:noFill/>
          <a:ln w="0">
            <a:noFill/>
          </a:ln>
        </p:spPr>
        <p:txBody>
          <a:bodyPr anchor="t">
            <a:normAutofit fontScale="55000" lnSpcReduction="10000"/>
          </a:bodyPr>
          <a:lstStyle/>
          <a:p>
            <a:pPr algn="ctr">
              <a:buNone/>
              <a:defRPr sz="1050" b="1">
                <a:solidFill>
                  <a:srgbClr val="1F6F54"/>
                </a:solidFill>
                <a:latin typeface="Arial"/>
                <a:ea typeface="Arial"/>
                <a:cs typeface="Arial"/>
              </a:defRPr>
            </a:pPr>
            <a:r>
              <a:rPr sz="1050" b="1">
                <a:solidFill>
                  <a:srgbClr val="1F6F54"/>
                </a:solidFill>
                <a:latin typeface="Arial"/>
                <a:ea typeface="Arial"/>
                <a:cs typeface="Arial"/>
              </a:rPr>
              <a:t>5</a:t>
            </a:r>
          </a:p>
        </p:txBody>
      </p:sp>
      <p:sp>
        <p:nvSpPr>
          <p:cNvPr id="23" name="Rectangle 22">
            <a:extLst>
              <a:ext uri="{FF2B5EF4-FFF2-40B4-BE49-F238E27FC236}">
                <a16:creationId xmlns:a16="http://schemas.microsoft.com/office/drawing/2014/main" id="{432EFDE4-C5F0-4137-B177-7BE51E8CDB02}"/>
              </a:ext>
            </a:extLst>
          </p:cNvPr>
          <p:cNvSpPr>
            <a:spLocks noGrp="1"/>
          </p:cNvSpPr>
          <p:nvPr/>
        </p:nvSpPr>
        <p:spPr>
          <a:xfrm>
            <a:off x="1485900" y="4695825"/>
            <a:ext cx="8763000" cy="381000"/>
          </a:xfrm>
          <a:prstGeom prst="rect">
            <a:avLst/>
          </a:prstGeom>
          <a:noFill/>
          <a:ln w="0">
            <a:noFill/>
          </a:ln>
        </p:spPr>
        <p:txBody>
          <a:bodyPr anchor="t">
            <a:normAutofit/>
          </a:bodyPr>
          <a:lstStyle/>
          <a:p>
            <a:pPr algn="l">
              <a:buNone/>
              <a:defRPr sz="1500" b="0">
                <a:solidFill>
                  <a:srgbClr val="172820"/>
                </a:solidFill>
                <a:latin typeface="Arial"/>
                <a:ea typeface="Arial"/>
                <a:cs typeface="Arial"/>
              </a:defRPr>
            </a:pPr>
            <a:r>
              <a:rPr sz="1500" b="0">
                <a:solidFill>
                  <a:srgbClr val="172820"/>
                </a:solidFill>
                <a:latin typeface="Arial"/>
                <a:ea typeface="Arial"/>
                <a:cs typeface="Arial"/>
              </a:rPr>
              <a:t>Validation: build, render atau smoke check hanya dilaporkan bila benar-benar dijalankan</a:t>
            </a:r>
          </a:p>
        </p:txBody>
      </p:sp>
      <p:sp>
        <p:nvSpPr>
          <p:cNvPr id="24" name="Straight Connector 23">
            <a:extLst>
              <a:ext uri="{FF2B5EF4-FFF2-40B4-BE49-F238E27FC236}">
                <a16:creationId xmlns:a16="http://schemas.microsoft.com/office/drawing/2014/main" id="{E06E8D23-A65B-4ECC-B186-E07319C31CB0}"/>
              </a:ext>
            </a:extLst>
          </p:cNvPr>
          <p:cNvSpPr>
            <a:spLocks noGrp="1"/>
          </p:cNvSpPr>
          <p:nvPr/>
        </p:nvSpPr>
        <p:spPr>
          <a:xfrm>
            <a:off x="1485900" y="5162550"/>
            <a:ext cx="8572500" cy="0"/>
          </a:xfrm>
          <a:prstGeom prst="line">
            <a:avLst/>
          </a:prstGeom>
          <a:noFill/>
          <a:ln w="11430">
            <a:solidFill>
              <a:srgbClr val="DCE5E0"/>
            </a:solidFill>
          </a:ln>
        </p:spPr>
      </p:sp>
    </p:spTree>
    <p:extLst>
      <p:ext uri="{BB962C8B-B14F-4D97-AF65-F5344CB8AC3E}">
        <p14:creationId xmlns:p14="http://schemas.microsoft.com/office/powerpoint/2010/main" val="10789866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7F932140-614A-459B-BC59-1296F16D90A7}"/>
              </a:ext>
            </a:extLst>
          </p:cNvPr>
          <p:cNvSpPr>
            <a:spLocks noGrp="1"/>
          </p:cNvSpPr>
          <p:nvPr/>
        </p:nvSpPr>
        <p:spPr>
          <a:xfrm>
            <a:off x="685800" y="6477000"/>
            <a:ext cx="5715000" cy="190500"/>
          </a:xfrm>
          <a:prstGeom prst="rect">
            <a:avLst/>
          </a:prstGeom>
          <a:noFill/>
          <a:ln w="0">
            <a:noFill/>
          </a:ln>
        </p:spPr>
        <p:txBody>
          <a:bodyPr anchor="t">
            <a:normAutofit fontScale="78788" lnSpcReduction="10000"/>
          </a:bodyPr>
          <a:lstStyle/>
          <a:p>
            <a:pPr algn="l">
              <a:buNone/>
              <a:defRPr sz="825" b="0">
                <a:solidFill>
                  <a:srgbClr val="64736C"/>
                </a:solidFill>
                <a:latin typeface="Arial"/>
                <a:ea typeface="Arial"/>
                <a:cs typeface="Arial"/>
              </a:defRPr>
            </a:pPr>
            <a:r>
              <a:rPr sz="825" b="0">
                <a:solidFill>
                  <a:srgbClr val="64736C"/>
                </a:solidFill>
                <a:latin typeface="Arial"/>
                <a:ea typeface="Arial"/>
                <a:cs typeface="Arial"/>
              </a:rPr>
              <a:t>HTML-FMX · Healthcare wireframe case study</a:t>
            </a:r>
          </a:p>
        </p:txBody>
      </p:sp>
      <p:sp>
        <p:nvSpPr>
          <p:cNvPr id="2" name="Rectangle 1">
            <a:extLst>
              <a:ext uri="{FF2B5EF4-FFF2-40B4-BE49-F238E27FC236}">
                <a16:creationId xmlns:a16="http://schemas.microsoft.com/office/drawing/2014/main" id="{564EF15D-2593-4043-8F20-D266ED3CEDBD}"/>
              </a:ext>
            </a:extLst>
          </p:cNvPr>
          <p:cNvSpPr>
            <a:spLocks noGrp="1"/>
          </p:cNvSpPr>
          <p:nvPr/>
        </p:nvSpPr>
        <p:spPr>
          <a:xfrm>
            <a:off x="11049000" y="6438900"/>
            <a:ext cx="457200" cy="190500"/>
          </a:xfrm>
          <a:prstGeom prst="rect">
            <a:avLst/>
          </a:prstGeom>
          <a:noFill/>
          <a:ln w="0">
            <a:noFill/>
          </a:ln>
        </p:spPr>
        <p:txBody>
          <a:bodyPr anchor="t">
            <a:normAutofit fontScale="78788" lnSpcReduction="10000"/>
          </a:bodyPr>
          <a:lstStyle/>
          <a:p>
            <a:pPr algn="r">
              <a:buNone/>
              <a:defRPr sz="825" b="0">
                <a:solidFill>
                  <a:srgbClr val="64736C"/>
                </a:solidFill>
                <a:latin typeface="Arial"/>
                <a:ea typeface="Arial"/>
                <a:cs typeface="Arial"/>
              </a:defRPr>
            </a:pPr>
            <a:r>
              <a:rPr sz="825" b="0">
                <a:solidFill>
                  <a:srgbClr val="64736C"/>
                </a:solidFill>
                <a:latin typeface="Arial"/>
                <a:ea typeface="Arial"/>
                <a:cs typeface="Arial"/>
              </a:rPr>
              <a:t>16</a:t>
            </a:r>
          </a:p>
        </p:txBody>
      </p:sp>
      <p:sp>
        <p:nvSpPr>
          <p:cNvPr id="3" name="Rectangle 2">
            <a:extLst>
              <a:ext uri="{FF2B5EF4-FFF2-40B4-BE49-F238E27FC236}">
                <a16:creationId xmlns:a16="http://schemas.microsoft.com/office/drawing/2014/main" id="{FDFF96A2-7D23-4E6B-B8A3-287997684248}"/>
              </a:ext>
            </a:extLst>
          </p:cNvPr>
          <p:cNvSpPr>
            <a:spLocks noGrp="1"/>
          </p:cNvSpPr>
          <p:nvPr/>
        </p:nvSpPr>
        <p:spPr>
          <a:xfrm>
            <a:off x="685800" y="514350"/>
            <a:ext cx="10668000" cy="495300"/>
          </a:xfrm>
          <a:prstGeom prst="rect">
            <a:avLst/>
          </a:prstGeom>
          <a:noFill/>
          <a:ln w="0">
            <a:noFill/>
          </a:ln>
        </p:spPr>
        <p:txBody>
          <a:bodyPr anchor="t">
            <a:normAutofit/>
          </a:bodyPr>
          <a:lstStyle/>
          <a:p>
            <a:pPr algn="l">
              <a:buNone/>
              <a:defRPr sz="2400" b="1">
                <a:solidFill>
                  <a:srgbClr val="172820"/>
                </a:solidFill>
                <a:latin typeface="Arial"/>
                <a:ea typeface="Arial"/>
                <a:cs typeface="Arial"/>
              </a:defRPr>
            </a:pPr>
            <a:r>
              <a:rPr sz="2400" b="1">
                <a:solidFill>
                  <a:srgbClr val="172820"/>
                </a:solidFill>
                <a:latin typeface="Arial"/>
                <a:ea typeface="Arial"/>
                <a:cs typeface="Arial"/>
              </a:rPr>
              <a:t>Pertanyaan evaluasi untuk setiap jalur</a:t>
            </a:r>
          </a:p>
        </p:txBody>
      </p:sp>
      <p:sp>
        <p:nvSpPr>
          <p:cNvPr id="4" name="Rectangle 3">
            <a:extLst>
              <a:ext uri="{FF2B5EF4-FFF2-40B4-BE49-F238E27FC236}">
                <a16:creationId xmlns:a16="http://schemas.microsoft.com/office/drawing/2014/main" id="{19C80A47-7E16-433B-AE9B-2EB72ACA175B}"/>
              </a:ext>
            </a:extLst>
          </p:cNvPr>
          <p:cNvSpPr>
            <a:spLocks noGrp="1"/>
          </p:cNvSpPr>
          <p:nvPr/>
        </p:nvSpPr>
        <p:spPr>
          <a:xfrm>
            <a:off x="685800" y="1066800"/>
            <a:ext cx="10287000" cy="323850"/>
          </a:xfrm>
          <a:prstGeom prst="rect">
            <a:avLst/>
          </a:prstGeom>
          <a:noFill/>
          <a:ln w="0">
            <a:noFill/>
          </a:ln>
        </p:spPr>
        <p:txBody>
          <a:bodyPr anchor="t">
            <a:normAutofit/>
          </a:bodyPr>
          <a:lstStyle/>
          <a:p>
            <a:pPr algn="l">
              <a:buNone/>
              <a:defRPr sz="1200" b="0">
                <a:solidFill>
                  <a:srgbClr val="64736C"/>
                </a:solidFill>
                <a:latin typeface="Arial"/>
                <a:ea typeface="Arial"/>
                <a:cs typeface="Arial"/>
              </a:defRPr>
            </a:pPr>
            <a:r>
              <a:rPr sz="1200" b="0">
                <a:solidFill>
                  <a:srgbClr val="64736C"/>
                </a:solidFill>
                <a:latin typeface="Arial"/>
                <a:ea typeface="Arial"/>
                <a:cs typeface="Arial"/>
              </a:rPr>
              <a:t>Hasil visual adalah satu dimensi. Studi kasus ini lebih berguna bila menunjukkan alasan teknis di balik hasilnya.</a:t>
            </a:r>
          </a:p>
        </p:txBody>
      </p:sp>
      <p:sp>
        <p:nvSpPr>
          <p:cNvPr id="5" name="Rectangle 4">
            <a:extLst>
              <a:ext uri="{FF2B5EF4-FFF2-40B4-BE49-F238E27FC236}">
                <a16:creationId xmlns:a16="http://schemas.microsoft.com/office/drawing/2014/main" id="{54EFF39C-9CA6-418B-B14D-E7578DB2B4F8}"/>
              </a:ext>
            </a:extLst>
          </p:cNvPr>
          <p:cNvSpPr>
            <a:spLocks noGrp="1"/>
          </p:cNvSpPr>
          <p:nvPr/>
        </p:nvSpPr>
        <p:spPr>
          <a:xfrm>
            <a:off x="876300" y="1666875"/>
            <a:ext cx="457200" cy="266700"/>
          </a:xfrm>
          <a:prstGeom prst="rect">
            <a:avLst/>
          </a:prstGeom>
          <a:noFill/>
          <a:ln w="0">
            <a:noFill/>
          </a:ln>
        </p:spPr>
        <p:txBody>
          <a:bodyPr anchor="t">
            <a:normAutofit fontScale="85185"/>
          </a:bodyPr>
          <a:lstStyle/>
          <a:p>
            <a:pPr algn="l">
              <a:buNone/>
              <a:defRPr sz="1350" b="1">
                <a:solidFill>
                  <a:srgbClr val="1F6F54"/>
                </a:solidFill>
                <a:latin typeface="Arial"/>
                <a:ea typeface="Arial"/>
                <a:cs typeface="Arial"/>
              </a:defRPr>
            </a:pPr>
            <a:r>
              <a:rPr sz="1350" b="1">
                <a:solidFill>
                  <a:srgbClr val="1F6F54"/>
                </a:solidFill>
                <a:latin typeface="Arial"/>
                <a:ea typeface="Arial"/>
                <a:cs typeface="Arial"/>
              </a:rPr>
              <a:t>01</a:t>
            </a:r>
          </a:p>
        </p:txBody>
      </p:sp>
      <p:sp>
        <p:nvSpPr>
          <p:cNvPr id="6" name="Rectangle 5">
            <a:extLst>
              <a:ext uri="{FF2B5EF4-FFF2-40B4-BE49-F238E27FC236}">
                <a16:creationId xmlns:a16="http://schemas.microsoft.com/office/drawing/2014/main" id="{AF60AB59-B00E-4EEF-8EE3-D4D5AC608EAB}"/>
              </a:ext>
            </a:extLst>
          </p:cNvPr>
          <p:cNvSpPr>
            <a:spLocks noGrp="1"/>
          </p:cNvSpPr>
          <p:nvPr/>
        </p:nvSpPr>
        <p:spPr>
          <a:xfrm>
            <a:off x="1504950" y="1666875"/>
            <a:ext cx="8096250" cy="323850"/>
          </a:xfrm>
          <a:prstGeom prst="rect">
            <a:avLst/>
          </a:prstGeom>
          <a:noFill/>
          <a:ln w="0">
            <a:noFill/>
          </a:ln>
        </p:spPr>
        <p:txBody>
          <a:bodyPr anchor="t">
            <a:normAutofit fontScale="99924" lnSpcReduction="10000"/>
          </a:bodyPr>
          <a:lstStyle/>
          <a:p>
            <a:pPr algn="l">
              <a:buNone/>
              <a:defRPr sz="1650" b="1">
                <a:solidFill>
                  <a:srgbClr val="172820"/>
                </a:solidFill>
                <a:latin typeface="Arial"/>
                <a:ea typeface="Arial"/>
                <a:cs typeface="Arial"/>
              </a:defRPr>
            </a:pPr>
            <a:r>
              <a:rPr sz="1650" b="1">
                <a:solidFill>
                  <a:srgbClr val="172820"/>
                </a:solidFill>
                <a:latin typeface="Arial"/>
                <a:ea typeface="Arial"/>
                <a:cs typeface="Arial"/>
              </a:rPr>
              <a:t>Apakah visual utama dari wireframe tetap terbaca?</a:t>
            </a:r>
          </a:p>
        </p:txBody>
      </p:sp>
      <p:sp>
        <p:nvSpPr>
          <p:cNvPr id="7" name="Straight Connector 6">
            <a:extLst>
              <a:ext uri="{FF2B5EF4-FFF2-40B4-BE49-F238E27FC236}">
                <a16:creationId xmlns:a16="http://schemas.microsoft.com/office/drawing/2014/main" id="{B8539F09-1174-4068-8E1A-9F15DEBDF2CE}"/>
              </a:ext>
            </a:extLst>
          </p:cNvPr>
          <p:cNvSpPr>
            <a:spLocks noGrp="1"/>
          </p:cNvSpPr>
          <p:nvPr/>
        </p:nvSpPr>
        <p:spPr>
          <a:xfrm>
            <a:off x="876300" y="2143125"/>
            <a:ext cx="9334500" cy="0"/>
          </a:xfrm>
          <a:prstGeom prst="line">
            <a:avLst/>
          </a:prstGeom>
          <a:noFill/>
          <a:ln w="11430">
            <a:solidFill>
              <a:srgbClr val="DCE5E0"/>
            </a:solidFill>
          </a:ln>
        </p:spPr>
      </p:sp>
      <p:sp>
        <p:nvSpPr>
          <p:cNvPr id="8" name="Rectangle 7">
            <a:extLst>
              <a:ext uri="{FF2B5EF4-FFF2-40B4-BE49-F238E27FC236}">
                <a16:creationId xmlns:a16="http://schemas.microsoft.com/office/drawing/2014/main" id="{CCDD5B71-38A9-4F88-9842-686499463C4C}"/>
              </a:ext>
            </a:extLst>
          </p:cNvPr>
          <p:cNvSpPr>
            <a:spLocks noGrp="1"/>
          </p:cNvSpPr>
          <p:nvPr/>
        </p:nvSpPr>
        <p:spPr>
          <a:xfrm>
            <a:off x="876300" y="2381250"/>
            <a:ext cx="457200" cy="266700"/>
          </a:xfrm>
          <a:prstGeom prst="rect">
            <a:avLst/>
          </a:prstGeom>
          <a:noFill/>
          <a:ln w="0">
            <a:noFill/>
          </a:ln>
        </p:spPr>
        <p:txBody>
          <a:bodyPr anchor="t">
            <a:normAutofit fontScale="85185"/>
          </a:bodyPr>
          <a:lstStyle/>
          <a:p>
            <a:pPr algn="l">
              <a:buNone/>
              <a:defRPr sz="1350" b="1">
                <a:solidFill>
                  <a:srgbClr val="1F6F54"/>
                </a:solidFill>
                <a:latin typeface="Arial"/>
                <a:ea typeface="Arial"/>
                <a:cs typeface="Arial"/>
              </a:defRPr>
            </a:pPr>
            <a:r>
              <a:rPr sz="1350" b="1">
                <a:solidFill>
                  <a:srgbClr val="1F6F54"/>
                </a:solidFill>
                <a:latin typeface="Arial"/>
                <a:ea typeface="Arial"/>
                <a:cs typeface="Arial"/>
              </a:rPr>
              <a:t>02</a:t>
            </a:r>
          </a:p>
        </p:txBody>
      </p:sp>
      <p:sp>
        <p:nvSpPr>
          <p:cNvPr id="9" name="Rectangle 8">
            <a:extLst>
              <a:ext uri="{FF2B5EF4-FFF2-40B4-BE49-F238E27FC236}">
                <a16:creationId xmlns:a16="http://schemas.microsoft.com/office/drawing/2014/main" id="{5861957A-051C-472B-B2C4-429F1C9FE6B5}"/>
              </a:ext>
            </a:extLst>
          </p:cNvPr>
          <p:cNvSpPr>
            <a:spLocks noGrp="1"/>
          </p:cNvSpPr>
          <p:nvPr/>
        </p:nvSpPr>
        <p:spPr>
          <a:xfrm>
            <a:off x="1504950" y="2381250"/>
            <a:ext cx="8096250" cy="323850"/>
          </a:xfrm>
          <a:prstGeom prst="rect">
            <a:avLst/>
          </a:prstGeom>
          <a:noFill/>
          <a:ln w="0">
            <a:noFill/>
          </a:ln>
        </p:spPr>
        <p:txBody>
          <a:bodyPr anchor="t">
            <a:normAutofit fontScale="99924" lnSpcReduction="10000"/>
          </a:bodyPr>
          <a:lstStyle/>
          <a:p>
            <a:pPr algn="l">
              <a:buNone/>
              <a:defRPr sz="1650" b="1">
                <a:solidFill>
                  <a:srgbClr val="172820"/>
                </a:solidFill>
                <a:latin typeface="Arial"/>
                <a:ea typeface="Arial"/>
                <a:cs typeface="Arial"/>
              </a:defRPr>
            </a:pPr>
            <a:r>
              <a:rPr sz="1650" b="1">
                <a:solidFill>
                  <a:srgbClr val="172820"/>
                </a:solidFill>
                <a:latin typeface="Arial"/>
                <a:ea typeface="Arial"/>
                <a:cs typeface="Arial"/>
              </a:rPr>
              <a:t>Apakah hierarchy FMX menjelaskan ownership setiap area?</a:t>
            </a:r>
          </a:p>
        </p:txBody>
      </p:sp>
      <p:sp>
        <p:nvSpPr>
          <p:cNvPr id="10" name="Straight Connector 9">
            <a:extLst>
              <a:ext uri="{FF2B5EF4-FFF2-40B4-BE49-F238E27FC236}">
                <a16:creationId xmlns:a16="http://schemas.microsoft.com/office/drawing/2014/main" id="{88DF901C-37BA-4246-9239-DD103B4C41AA}"/>
              </a:ext>
            </a:extLst>
          </p:cNvPr>
          <p:cNvSpPr>
            <a:spLocks noGrp="1"/>
          </p:cNvSpPr>
          <p:nvPr/>
        </p:nvSpPr>
        <p:spPr>
          <a:xfrm>
            <a:off x="876300" y="2857500"/>
            <a:ext cx="9334500" cy="0"/>
          </a:xfrm>
          <a:prstGeom prst="line">
            <a:avLst/>
          </a:prstGeom>
          <a:noFill/>
          <a:ln w="11430">
            <a:solidFill>
              <a:srgbClr val="DCE5E0"/>
            </a:solidFill>
          </a:ln>
        </p:spPr>
      </p:sp>
      <p:sp>
        <p:nvSpPr>
          <p:cNvPr id="11" name="Rectangle 10">
            <a:extLst>
              <a:ext uri="{FF2B5EF4-FFF2-40B4-BE49-F238E27FC236}">
                <a16:creationId xmlns:a16="http://schemas.microsoft.com/office/drawing/2014/main" id="{CB2773F5-AAA7-4978-B5E4-7A91DF72C3BA}"/>
              </a:ext>
            </a:extLst>
          </p:cNvPr>
          <p:cNvSpPr>
            <a:spLocks noGrp="1"/>
          </p:cNvSpPr>
          <p:nvPr/>
        </p:nvSpPr>
        <p:spPr>
          <a:xfrm>
            <a:off x="876300" y="3095625"/>
            <a:ext cx="457200" cy="266700"/>
          </a:xfrm>
          <a:prstGeom prst="rect">
            <a:avLst/>
          </a:prstGeom>
          <a:noFill/>
          <a:ln w="0">
            <a:noFill/>
          </a:ln>
        </p:spPr>
        <p:txBody>
          <a:bodyPr anchor="t">
            <a:normAutofit fontScale="85185"/>
          </a:bodyPr>
          <a:lstStyle/>
          <a:p>
            <a:pPr algn="l">
              <a:buNone/>
              <a:defRPr sz="1350" b="1">
                <a:solidFill>
                  <a:srgbClr val="1F6F54"/>
                </a:solidFill>
                <a:latin typeface="Arial"/>
                <a:ea typeface="Arial"/>
                <a:cs typeface="Arial"/>
              </a:defRPr>
            </a:pPr>
            <a:r>
              <a:rPr sz="1350" b="1">
                <a:solidFill>
                  <a:srgbClr val="1F6F54"/>
                </a:solidFill>
                <a:latin typeface="Arial"/>
                <a:ea typeface="Arial"/>
                <a:cs typeface="Arial"/>
              </a:rPr>
              <a:t>03</a:t>
            </a:r>
          </a:p>
        </p:txBody>
      </p:sp>
      <p:sp>
        <p:nvSpPr>
          <p:cNvPr id="12" name="Rectangle 11">
            <a:extLst>
              <a:ext uri="{FF2B5EF4-FFF2-40B4-BE49-F238E27FC236}">
                <a16:creationId xmlns:a16="http://schemas.microsoft.com/office/drawing/2014/main" id="{CA2A10B8-6534-4660-8056-72260B95BF2F}"/>
              </a:ext>
            </a:extLst>
          </p:cNvPr>
          <p:cNvSpPr>
            <a:spLocks noGrp="1"/>
          </p:cNvSpPr>
          <p:nvPr/>
        </p:nvSpPr>
        <p:spPr>
          <a:xfrm>
            <a:off x="1504950" y="3095625"/>
            <a:ext cx="8096250" cy="323850"/>
          </a:xfrm>
          <a:prstGeom prst="rect">
            <a:avLst/>
          </a:prstGeom>
          <a:noFill/>
          <a:ln w="0">
            <a:noFill/>
          </a:ln>
        </p:spPr>
        <p:txBody>
          <a:bodyPr anchor="t">
            <a:normAutofit fontScale="99924" lnSpcReduction="10000"/>
          </a:bodyPr>
          <a:lstStyle/>
          <a:p>
            <a:pPr algn="l">
              <a:buNone/>
              <a:defRPr sz="1650" b="1">
                <a:solidFill>
                  <a:srgbClr val="172820"/>
                </a:solidFill>
                <a:latin typeface="Arial"/>
                <a:ea typeface="Arial"/>
                <a:cs typeface="Arial"/>
              </a:defRPr>
            </a:pPr>
            <a:r>
              <a:rPr sz="1650" b="1">
                <a:solidFill>
                  <a:srgbClr val="172820"/>
                </a:solidFill>
                <a:latin typeface="Arial"/>
                <a:ea typeface="Arial"/>
                <a:cs typeface="Arial"/>
              </a:rPr>
              <a:t>Apakah layout tetap nyaman pada ukuran mobile yang diuji?</a:t>
            </a:r>
          </a:p>
        </p:txBody>
      </p:sp>
      <p:sp>
        <p:nvSpPr>
          <p:cNvPr id="13" name="Straight Connector 12">
            <a:extLst>
              <a:ext uri="{FF2B5EF4-FFF2-40B4-BE49-F238E27FC236}">
                <a16:creationId xmlns:a16="http://schemas.microsoft.com/office/drawing/2014/main" id="{A7E61177-9B3D-439F-9B3D-B08CD40E4A4C}"/>
              </a:ext>
            </a:extLst>
          </p:cNvPr>
          <p:cNvSpPr>
            <a:spLocks noGrp="1"/>
          </p:cNvSpPr>
          <p:nvPr/>
        </p:nvSpPr>
        <p:spPr>
          <a:xfrm>
            <a:off x="876300" y="3571875"/>
            <a:ext cx="9334500" cy="0"/>
          </a:xfrm>
          <a:prstGeom prst="line">
            <a:avLst/>
          </a:prstGeom>
          <a:noFill/>
          <a:ln w="11430">
            <a:solidFill>
              <a:srgbClr val="DCE5E0"/>
            </a:solidFill>
          </a:ln>
        </p:spPr>
      </p:sp>
      <p:sp>
        <p:nvSpPr>
          <p:cNvPr id="14" name="Rectangle 13">
            <a:extLst>
              <a:ext uri="{FF2B5EF4-FFF2-40B4-BE49-F238E27FC236}">
                <a16:creationId xmlns:a16="http://schemas.microsoft.com/office/drawing/2014/main" id="{AC30BFA5-DE2F-41B3-96BF-3B5CC7B85CB2}"/>
              </a:ext>
            </a:extLst>
          </p:cNvPr>
          <p:cNvSpPr>
            <a:spLocks noGrp="1"/>
          </p:cNvSpPr>
          <p:nvPr/>
        </p:nvSpPr>
        <p:spPr>
          <a:xfrm>
            <a:off x="876300" y="3810000"/>
            <a:ext cx="457200" cy="266700"/>
          </a:xfrm>
          <a:prstGeom prst="rect">
            <a:avLst/>
          </a:prstGeom>
          <a:noFill/>
          <a:ln w="0">
            <a:noFill/>
          </a:ln>
        </p:spPr>
        <p:txBody>
          <a:bodyPr anchor="t">
            <a:normAutofit fontScale="85185"/>
          </a:bodyPr>
          <a:lstStyle/>
          <a:p>
            <a:pPr algn="l">
              <a:buNone/>
              <a:defRPr sz="1350" b="1">
                <a:solidFill>
                  <a:srgbClr val="1F6F54"/>
                </a:solidFill>
                <a:latin typeface="Arial"/>
                <a:ea typeface="Arial"/>
                <a:cs typeface="Arial"/>
              </a:defRPr>
            </a:pPr>
            <a:r>
              <a:rPr sz="1350" b="1">
                <a:solidFill>
                  <a:srgbClr val="1F6F54"/>
                </a:solidFill>
                <a:latin typeface="Arial"/>
                <a:ea typeface="Arial"/>
                <a:cs typeface="Arial"/>
              </a:rPr>
              <a:t>04</a:t>
            </a:r>
          </a:p>
        </p:txBody>
      </p:sp>
      <p:sp>
        <p:nvSpPr>
          <p:cNvPr id="15" name="Rectangle 14">
            <a:extLst>
              <a:ext uri="{FF2B5EF4-FFF2-40B4-BE49-F238E27FC236}">
                <a16:creationId xmlns:a16="http://schemas.microsoft.com/office/drawing/2014/main" id="{B6B161C6-5550-42D2-8220-AFD81B9B75DF}"/>
              </a:ext>
            </a:extLst>
          </p:cNvPr>
          <p:cNvSpPr>
            <a:spLocks noGrp="1"/>
          </p:cNvSpPr>
          <p:nvPr/>
        </p:nvSpPr>
        <p:spPr>
          <a:xfrm>
            <a:off x="1504950" y="3810000"/>
            <a:ext cx="8096250" cy="323850"/>
          </a:xfrm>
          <a:prstGeom prst="rect">
            <a:avLst/>
          </a:prstGeom>
          <a:noFill/>
          <a:ln w="0">
            <a:noFill/>
          </a:ln>
        </p:spPr>
        <p:txBody>
          <a:bodyPr anchor="t">
            <a:normAutofit fontScale="99924" lnSpcReduction="10000"/>
          </a:bodyPr>
          <a:lstStyle/>
          <a:p>
            <a:pPr algn="l">
              <a:buNone/>
              <a:defRPr sz="1650" b="1">
                <a:solidFill>
                  <a:srgbClr val="172820"/>
                </a:solidFill>
                <a:latin typeface="Arial"/>
                <a:ea typeface="Arial"/>
                <a:cs typeface="Arial"/>
              </a:defRPr>
            </a:pPr>
            <a:r>
              <a:rPr sz="1650" b="1">
                <a:solidFill>
                  <a:srgbClr val="172820"/>
                </a:solidFill>
                <a:latin typeface="Arial"/>
                <a:ea typeface="Arial"/>
                <a:cs typeface="Arial"/>
              </a:rPr>
              <a:t>Apakah card dokter dapat dipakai ulang untuk data nyata?</a:t>
            </a:r>
          </a:p>
        </p:txBody>
      </p:sp>
      <p:sp>
        <p:nvSpPr>
          <p:cNvPr id="16" name="Straight Connector 15">
            <a:extLst>
              <a:ext uri="{FF2B5EF4-FFF2-40B4-BE49-F238E27FC236}">
                <a16:creationId xmlns:a16="http://schemas.microsoft.com/office/drawing/2014/main" id="{B0FBBDB9-84D7-4308-A20E-EDF730D7F4EE}"/>
              </a:ext>
            </a:extLst>
          </p:cNvPr>
          <p:cNvSpPr>
            <a:spLocks noGrp="1"/>
          </p:cNvSpPr>
          <p:nvPr/>
        </p:nvSpPr>
        <p:spPr>
          <a:xfrm>
            <a:off x="876300" y="4286250"/>
            <a:ext cx="9334500" cy="0"/>
          </a:xfrm>
          <a:prstGeom prst="line">
            <a:avLst/>
          </a:prstGeom>
          <a:noFill/>
          <a:ln w="11430">
            <a:solidFill>
              <a:srgbClr val="DCE5E0"/>
            </a:solidFill>
          </a:ln>
        </p:spPr>
      </p:sp>
      <p:sp>
        <p:nvSpPr>
          <p:cNvPr id="17" name="Rectangle 16">
            <a:extLst>
              <a:ext uri="{FF2B5EF4-FFF2-40B4-BE49-F238E27FC236}">
                <a16:creationId xmlns:a16="http://schemas.microsoft.com/office/drawing/2014/main" id="{F40EB6AA-49A7-46B0-A63D-FFE3091A3BF2}"/>
              </a:ext>
            </a:extLst>
          </p:cNvPr>
          <p:cNvSpPr>
            <a:spLocks noGrp="1"/>
          </p:cNvSpPr>
          <p:nvPr/>
        </p:nvSpPr>
        <p:spPr>
          <a:xfrm>
            <a:off x="876300" y="4524375"/>
            <a:ext cx="457200" cy="266700"/>
          </a:xfrm>
          <a:prstGeom prst="rect">
            <a:avLst/>
          </a:prstGeom>
          <a:noFill/>
          <a:ln w="0">
            <a:noFill/>
          </a:ln>
        </p:spPr>
        <p:txBody>
          <a:bodyPr anchor="t">
            <a:normAutofit fontScale="85185"/>
          </a:bodyPr>
          <a:lstStyle/>
          <a:p>
            <a:pPr algn="l">
              <a:buNone/>
              <a:defRPr sz="1350" b="1">
                <a:solidFill>
                  <a:srgbClr val="1F6F54"/>
                </a:solidFill>
                <a:latin typeface="Arial"/>
                <a:ea typeface="Arial"/>
                <a:cs typeface="Arial"/>
              </a:defRPr>
            </a:pPr>
            <a:r>
              <a:rPr sz="1350" b="1">
                <a:solidFill>
                  <a:srgbClr val="1F6F54"/>
                </a:solidFill>
                <a:latin typeface="Arial"/>
                <a:ea typeface="Arial"/>
                <a:cs typeface="Arial"/>
              </a:rPr>
              <a:t>05</a:t>
            </a:r>
          </a:p>
        </p:txBody>
      </p:sp>
      <p:sp>
        <p:nvSpPr>
          <p:cNvPr id="18" name="Rectangle 17">
            <a:extLst>
              <a:ext uri="{FF2B5EF4-FFF2-40B4-BE49-F238E27FC236}">
                <a16:creationId xmlns:a16="http://schemas.microsoft.com/office/drawing/2014/main" id="{D590CEF6-D72F-43A3-81FA-B80CC5FE7C63}"/>
              </a:ext>
            </a:extLst>
          </p:cNvPr>
          <p:cNvSpPr>
            <a:spLocks noGrp="1"/>
          </p:cNvSpPr>
          <p:nvPr/>
        </p:nvSpPr>
        <p:spPr>
          <a:xfrm>
            <a:off x="1504950" y="4524375"/>
            <a:ext cx="8096250" cy="323850"/>
          </a:xfrm>
          <a:prstGeom prst="rect">
            <a:avLst/>
          </a:prstGeom>
          <a:noFill/>
          <a:ln w="0">
            <a:noFill/>
          </a:ln>
        </p:spPr>
        <p:txBody>
          <a:bodyPr anchor="t">
            <a:normAutofit fontScale="99924" lnSpcReduction="10000"/>
          </a:bodyPr>
          <a:lstStyle/>
          <a:p>
            <a:pPr algn="l">
              <a:buNone/>
              <a:defRPr sz="1650" b="1">
                <a:solidFill>
                  <a:srgbClr val="172820"/>
                </a:solidFill>
                <a:latin typeface="Arial"/>
                <a:ea typeface="Arial"/>
                <a:cs typeface="Arial"/>
              </a:defRPr>
            </a:pPr>
            <a:r>
              <a:rPr sz="1650" b="1">
                <a:solidFill>
                  <a:srgbClr val="172820"/>
                </a:solidFill>
                <a:latin typeface="Arial"/>
                <a:ea typeface="Arial"/>
                <a:cs typeface="Arial"/>
              </a:rPr>
              <a:t>Apakah StyleBook dan navigasi mengikuti kontrak project?</a:t>
            </a:r>
          </a:p>
        </p:txBody>
      </p:sp>
      <p:sp>
        <p:nvSpPr>
          <p:cNvPr id="19" name="Straight Connector 18">
            <a:extLst>
              <a:ext uri="{FF2B5EF4-FFF2-40B4-BE49-F238E27FC236}">
                <a16:creationId xmlns:a16="http://schemas.microsoft.com/office/drawing/2014/main" id="{DBE011D8-387F-4FFA-90A1-7A55598E7348}"/>
              </a:ext>
            </a:extLst>
          </p:cNvPr>
          <p:cNvSpPr>
            <a:spLocks noGrp="1"/>
          </p:cNvSpPr>
          <p:nvPr/>
        </p:nvSpPr>
        <p:spPr>
          <a:xfrm>
            <a:off x="876300" y="5000625"/>
            <a:ext cx="9334500" cy="0"/>
          </a:xfrm>
          <a:prstGeom prst="line">
            <a:avLst/>
          </a:prstGeom>
          <a:noFill/>
          <a:ln w="11430">
            <a:solidFill>
              <a:srgbClr val="DCE5E0"/>
            </a:solidFill>
          </a:ln>
        </p:spPr>
      </p:sp>
      <p:sp>
        <p:nvSpPr>
          <p:cNvPr id="20" name="Rectangle: Rounded Corners 19">
            <a:extLst>
              <a:ext uri="{FF2B5EF4-FFF2-40B4-BE49-F238E27FC236}">
                <a16:creationId xmlns:a16="http://schemas.microsoft.com/office/drawing/2014/main" id="{D5B9604F-D2B3-49A6-BF34-89A1A53DDFBB}"/>
              </a:ext>
            </a:extLst>
          </p:cNvPr>
          <p:cNvSpPr>
            <a:spLocks noGrp="1"/>
          </p:cNvSpPr>
          <p:nvPr/>
        </p:nvSpPr>
        <p:spPr>
          <a:xfrm>
            <a:off x="876300" y="5562600"/>
            <a:ext cx="9334500" cy="514350"/>
          </a:xfrm>
          <a:prstGeom prst="roundRect">
            <a:avLst>
              <a:gd name="adj" fmla="val 22222"/>
            </a:avLst>
          </a:prstGeom>
          <a:solidFill>
            <a:srgbClr val="DFF2E9"/>
          </a:solidFill>
          <a:ln w="0">
            <a:noFill/>
          </a:ln>
        </p:spPr>
      </p:sp>
      <p:sp>
        <p:nvSpPr>
          <p:cNvPr id="21" name="Rectangle 20">
            <a:extLst>
              <a:ext uri="{FF2B5EF4-FFF2-40B4-BE49-F238E27FC236}">
                <a16:creationId xmlns:a16="http://schemas.microsoft.com/office/drawing/2014/main" id="{A6DF6CD2-3BE8-4219-853B-88C1711E55A0}"/>
              </a:ext>
            </a:extLst>
          </p:cNvPr>
          <p:cNvSpPr>
            <a:spLocks noGrp="1"/>
          </p:cNvSpPr>
          <p:nvPr/>
        </p:nvSpPr>
        <p:spPr>
          <a:xfrm>
            <a:off x="1143000" y="5705475"/>
            <a:ext cx="8763000" cy="247650"/>
          </a:xfrm>
          <a:prstGeom prst="rect">
            <a:avLst/>
          </a:prstGeom>
          <a:noFill/>
          <a:ln w="0">
            <a:noFill/>
          </a:ln>
        </p:spPr>
        <p:txBody>
          <a:bodyPr anchor="t">
            <a:normAutofit fontScale="83426" lnSpcReduction="10000"/>
          </a:bodyPr>
          <a:lstStyle/>
          <a:p>
            <a:pPr algn="ctr">
              <a:buNone/>
              <a:defRPr sz="1350" b="1">
                <a:solidFill>
                  <a:srgbClr val="1F6F54"/>
                </a:solidFill>
                <a:latin typeface="Arial"/>
                <a:ea typeface="Arial"/>
                <a:cs typeface="Arial"/>
              </a:defRPr>
            </a:pPr>
            <a:r>
              <a:rPr sz="1350" b="1">
                <a:solidFill>
                  <a:srgbClr val="1F6F54"/>
                </a:solidFill>
                <a:latin typeface="Arial"/>
                <a:ea typeface="Arial"/>
                <a:cs typeface="Arial"/>
              </a:rPr>
              <a:t>Kesimpulan per metode harus menghubungkan screenshot dengan hierarchy dan bukti validasi.</a:t>
            </a:r>
          </a:p>
        </p:txBody>
      </p:sp>
    </p:spTree>
    <p:extLst>
      <p:ext uri="{BB962C8B-B14F-4D97-AF65-F5344CB8AC3E}">
        <p14:creationId xmlns:p14="http://schemas.microsoft.com/office/powerpoint/2010/main" val="7337844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Kesimpulan struktur dan warna">
            <a:extLst>
              <a:ext uri="{FF2B5EF4-FFF2-40B4-BE49-F238E27FC236}">
                <a16:creationId xmlns:a16="http://schemas.microsoft.com/office/drawing/2014/main" id="{0B816571-90FF-48A0-8E76-4ADD583CB9CF}"/>
              </a:ext>
            </a:extLst>
          </p:cNvPr>
          <p:cNvSpPr>
            <a:spLocks noGrp="1"/>
          </p:cNvSpPr>
          <p:nvPr/>
        </p:nvSpPr>
        <p:spPr>
          <a:xfrm>
            <a:off x="609600" y="381000"/>
            <a:ext cx="10934700" cy="548640"/>
          </a:xfrm>
          <a:prstGeom prst="rect">
            <a:avLst/>
          </a:prstGeom>
          <a:noFill/>
          <a:ln w="0">
            <a:noFill/>
          </a:ln>
        </p:spPr>
        <p:txBody>
          <a:bodyPr anchor="t">
            <a:noAutofit/>
          </a:bodyPr>
          <a:lstStyle/>
          <a:p>
            <a:pPr>
              <a:buNone/>
              <a:defRPr sz="2880" b="1">
                <a:solidFill>
                  <a:srgbClr val="172820"/>
                </a:solidFill>
                <a:latin typeface="Arial"/>
                <a:ea typeface="Arial"/>
                <a:cs typeface="Arial"/>
              </a:defRPr>
            </a:pPr>
            <a:r>
              <a:rPr sz="2880" b="1">
                <a:solidFill>
                  <a:srgbClr val="172820"/>
                </a:solidFill>
                <a:latin typeface="Arial"/>
                <a:ea typeface="Arial"/>
                <a:cs typeface="Arial"/>
              </a:rPr>
              <a:t>Kesimpulan struktur dan warna</a:t>
            </a:r>
          </a:p>
        </p:txBody>
      </p:sp>
      <p:sp>
        <p:nvSpPr>
          <p:cNvPr id="2" name="Penilaian author berdasarkan hasil keempat metode dalam eksp">
            <a:extLst>
              <a:ext uri="{FF2B5EF4-FFF2-40B4-BE49-F238E27FC236}">
                <a16:creationId xmlns:a16="http://schemas.microsoft.com/office/drawing/2014/main" id="{44C4987B-2784-4E37-B677-7743065650A1}"/>
              </a:ext>
            </a:extLst>
          </p:cNvPr>
          <p:cNvSpPr>
            <a:spLocks noGrp="1"/>
          </p:cNvSpPr>
          <p:nvPr/>
        </p:nvSpPr>
        <p:spPr>
          <a:xfrm>
            <a:off x="609600" y="990600"/>
            <a:ext cx="10744200" cy="441960"/>
          </a:xfrm>
          <a:prstGeom prst="rect">
            <a:avLst/>
          </a:prstGeom>
          <a:noFill/>
          <a:ln w="0">
            <a:noFill/>
          </a:ln>
        </p:spPr>
        <p:txBody>
          <a:bodyPr anchor="t">
            <a:noAutofit/>
          </a:bodyPr>
          <a:lstStyle/>
          <a:p>
            <a:pPr>
              <a:buNone/>
              <a:defRPr sz="1500" b="0">
                <a:solidFill>
                  <a:srgbClr val="64736C"/>
                </a:solidFill>
                <a:latin typeface="Arial"/>
                <a:ea typeface="Arial"/>
                <a:cs typeface="Arial"/>
              </a:defRPr>
            </a:pPr>
            <a:r>
              <a:rPr sz="1500" b="0">
                <a:solidFill>
                  <a:srgbClr val="64736C"/>
                </a:solidFill>
                <a:latin typeface="Arial"/>
                <a:ea typeface="Arial"/>
                <a:cs typeface="Arial"/>
              </a:rPr>
              <a:t>Penilaian author berdasarkan hasil keempat metode dalam eksperimen ini</a:t>
            </a:r>
          </a:p>
        </p:txBody>
      </p:sp>
      <p:sp>
        <p:nvSpPr>
          <p:cNvPr id="3" name="HTML-FMX · Healthcare wireframe case study">
            <a:extLst>
              <a:ext uri="{FF2B5EF4-FFF2-40B4-BE49-F238E27FC236}">
                <a16:creationId xmlns:a16="http://schemas.microsoft.com/office/drawing/2014/main" id="{B96AC9EE-EA6E-4331-8DEA-148B04AFAB4B}"/>
              </a:ext>
            </a:extLst>
          </p:cNvPr>
          <p:cNvSpPr>
            <a:spLocks noGrp="1"/>
          </p:cNvSpPr>
          <p:nvPr/>
        </p:nvSpPr>
        <p:spPr>
          <a:xfrm>
            <a:off x="609600" y="6537960"/>
            <a:ext cx="6858000" cy="167640"/>
          </a:xfrm>
          <a:prstGeom prst="rect">
            <a:avLst/>
          </a:prstGeom>
          <a:noFill/>
          <a:ln w="0">
            <a:noFill/>
          </a:ln>
        </p:spPr>
        <p:txBody>
          <a:bodyPr anchor="t">
            <a:noAutofit/>
          </a:bodyPr>
          <a:lstStyle/>
          <a:p>
            <a:pPr>
              <a:buNone/>
              <a:defRPr sz="960" b="0">
                <a:solidFill>
                  <a:srgbClr val="64736C"/>
                </a:solidFill>
                <a:latin typeface="Arial"/>
                <a:ea typeface="Arial"/>
                <a:cs typeface="Arial"/>
              </a:defRPr>
            </a:pPr>
            <a:r>
              <a:rPr sz="960" b="0">
                <a:solidFill>
                  <a:srgbClr val="64736C"/>
                </a:solidFill>
                <a:latin typeface="Arial"/>
                <a:ea typeface="Arial"/>
                <a:cs typeface="Arial"/>
              </a:rPr>
              <a:t>HTML-FMX · Healthcare wireframe case study</a:t>
            </a:r>
          </a:p>
        </p:txBody>
      </p:sp>
      <p:sp>
        <p:nvSpPr>
          <p:cNvPr id="4" name="Sekitar 90%">
            <a:extLst>
              <a:ext uri="{FF2B5EF4-FFF2-40B4-BE49-F238E27FC236}">
                <a16:creationId xmlns:a16="http://schemas.microsoft.com/office/drawing/2014/main" id="{22C2B99C-31A6-4F5F-BA13-D92DCCA17C6C}"/>
              </a:ext>
            </a:extLst>
          </p:cNvPr>
          <p:cNvSpPr>
            <a:spLocks noGrp="1"/>
          </p:cNvSpPr>
          <p:nvPr/>
        </p:nvSpPr>
        <p:spPr>
          <a:xfrm>
            <a:off x="609600" y="1943100"/>
            <a:ext cx="4267200" cy="762000"/>
          </a:xfrm>
          <a:prstGeom prst="rect">
            <a:avLst/>
          </a:prstGeom>
          <a:noFill/>
          <a:ln w="0">
            <a:noFill/>
          </a:ln>
        </p:spPr>
        <p:txBody>
          <a:bodyPr anchor="t">
            <a:noAutofit/>
          </a:bodyPr>
          <a:lstStyle/>
          <a:p>
            <a:pPr>
              <a:buNone/>
              <a:defRPr sz="4680" b="1">
                <a:solidFill>
                  <a:srgbClr val="1F6F54"/>
                </a:solidFill>
                <a:latin typeface="Arial"/>
                <a:ea typeface="Arial"/>
                <a:cs typeface="Arial"/>
              </a:defRPr>
            </a:pPr>
            <a:r>
              <a:rPr sz="4680" b="1">
                <a:solidFill>
                  <a:srgbClr val="1F6F54"/>
                </a:solidFill>
                <a:latin typeface="Arial"/>
                <a:ea typeface="Arial"/>
                <a:cs typeface="Arial"/>
              </a:rPr>
              <a:t>Sekitar 90%</a:t>
            </a:r>
          </a:p>
        </p:txBody>
      </p:sp>
      <p:sp>
        <p:nvSpPr>
          <p:cNvPr id="5" name="kemiripan hierarki komponen&#10;secara keseluruhan">
            <a:extLst>
              <a:ext uri="{FF2B5EF4-FFF2-40B4-BE49-F238E27FC236}">
                <a16:creationId xmlns:a16="http://schemas.microsoft.com/office/drawing/2014/main" id="{C938DCF4-4AED-4BD5-A8A2-3FBE4048186C}"/>
              </a:ext>
            </a:extLst>
          </p:cNvPr>
          <p:cNvSpPr>
            <a:spLocks noGrp="1"/>
          </p:cNvSpPr>
          <p:nvPr/>
        </p:nvSpPr>
        <p:spPr>
          <a:xfrm>
            <a:off x="609600" y="2895600"/>
            <a:ext cx="4343400" cy="800100"/>
          </a:xfrm>
          <a:prstGeom prst="rect">
            <a:avLst/>
          </a:prstGeom>
          <a:noFill/>
          <a:ln w="0">
            <a:noFill/>
          </a:ln>
        </p:spPr>
        <p:txBody>
          <a:bodyPr anchor="t">
            <a:noAutofit/>
          </a:bodyPr>
          <a:lstStyle/>
          <a:p>
            <a:pPr>
              <a:buNone/>
              <a:defRPr sz="2040" b="1">
                <a:solidFill>
                  <a:srgbClr val="172820"/>
                </a:solidFill>
                <a:latin typeface="Arial"/>
                <a:ea typeface="Arial"/>
                <a:cs typeface="Arial"/>
              </a:defRPr>
            </a:pPr>
            <a:r>
              <a:rPr sz="2040" b="1">
                <a:solidFill>
                  <a:srgbClr val="172820"/>
                </a:solidFill>
                <a:latin typeface="Arial"/>
                <a:ea typeface="Arial"/>
                <a:cs typeface="Arial"/>
              </a:rPr>
              <a:t>kemiripan hierarki komponen</a:t>
            </a:r>
          </a:p>
          <a:p>
            <a:pPr>
              <a:buNone/>
              <a:defRPr sz="2040" b="1">
                <a:solidFill>
                  <a:srgbClr val="172820"/>
                </a:solidFill>
                <a:latin typeface="Arial"/>
                <a:ea typeface="Arial"/>
                <a:cs typeface="Arial"/>
              </a:defRPr>
            </a:pPr>
            <a:r>
              <a:rPr sz="2040" b="1">
                <a:solidFill>
                  <a:srgbClr val="172820"/>
                </a:solidFill>
                <a:latin typeface="Arial"/>
                <a:ea typeface="Arial"/>
                <a:cs typeface="Arial"/>
              </a:rPr>
              <a:t>secara keseluruhan</a:t>
            </a:r>
          </a:p>
        </p:txBody>
      </p:sp>
      <p:sp>
        <p:nvSpPr>
          <p:cNvPr id="6" name="Estimasi author dari peninjauan hasil.">
            <a:extLst>
              <a:ext uri="{FF2B5EF4-FFF2-40B4-BE49-F238E27FC236}">
                <a16:creationId xmlns:a16="http://schemas.microsoft.com/office/drawing/2014/main" id="{284423CA-2889-4DD0-851E-6ED695F038C0}"/>
              </a:ext>
            </a:extLst>
          </p:cNvPr>
          <p:cNvSpPr>
            <a:spLocks noGrp="1"/>
          </p:cNvSpPr>
          <p:nvPr/>
        </p:nvSpPr>
        <p:spPr>
          <a:xfrm>
            <a:off x="609600" y="4229100"/>
            <a:ext cx="4305300" cy="647700"/>
          </a:xfrm>
          <a:prstGeom prst="rect">
            <a:avLst/>
          </a:prstGeom>
          <a:noFill/>
          <a:ln w="0">
            <a:noFill/>
          </a:ln>
        </p:spPr>
        <p:txBody>
          <a:bodyPr anchor="t">
            <a:noAutofit/>
          </a:bodyPr>
          <a:lstStyle/>
          <a:p>
            <a:pPr>
              <a:buNone/>
              <a:defRPr sz="1500" b="0">
                <a:solidFill>
                  <a:srgbClr val="64736C"/>
                </a:solidFill>
                <a:latin typeface="Arial"/>
                <a:ea typeface="Arial"/>
                <a:cs typeface="Arial"/>
              </a:defRPr>
            </a:pPr>
            <a:r>
              <a:rPr sz="1500" b="0">
                <a:solidFill>
                  <a:srgbClr val="64736C"/>
                </a:solidFill>
                <a:latin typeface="Arial"/>
                <a:ea typeface="Arial"/>
                <a:cs typeface="Arial"/>
              </a:rPr>
              <a:t>Estimasi author dari peninjauan hasil.</a:t>
            </a:r>
          </a:p>
        </p:txBody>
      </p:sp>
      <p:sp>
        <p:nvSpPr>
          <p:cNvPr id="7" name="Hierarki komponen hampir sama">
            <a:extLst>
              <a:ext uri="{FF2B5EF4-FFF2-40B4-BE49-F238E27FC236}">
                <a16:creationId xmlns:a16="http://schemas.microsoft.com/office/drawing/2014/main" id="{52453EFA-561D-469F-BDD4-C2908A605BBD}"/>
              </a:ext>
            </a:extLst>
          </p:cNvPr>
          <p:cNvSpPr>
            <a:spLocks noGrp="1"/>
          </p:cNvSpPr>
          <p:nvPr/>
        </p:nvSpPr>
        <p:spPr>
          <a:xfrm>
            <a:off x="5334000" y="1676400"/>
            <a:ext cx="6210300" cy="647700"/>
          </a:xfrm>
          <a:prstGeom prst="rect">
            <a:avLst/>
          </a:prstGeom>
          <a:noFill/>
          <a:ln w="0">
            <a:noFill/>
          </a:ln>
        </p:spPr>
        <p:txBody>
          <a:bodyPr anchor="t">
            <a:noAutofit/>
          </a:bodyPr>
          <a:lstStyle/>
          <a:p>
            <a:pPr>
              <a:buNone/>
              <a:defRPr sz="2040" b="1">
                <a:solidFill>
                  <a:srgbClr val="1F6F54"/>
                </a:solidFill>
                <a:latin typeface="Arial"/>
                <a:ea typeface="Arial"/>
                <a:cs typeface="Arial"/>
              </a:defRPr>
            </a:pPr>
            <a:r>
              <a:rPr sz="2040" b="1">
                <a:solidFill>
                  <a:srgbClr val="1F6F54"/>
                </a:solidFill>
                <a:latin typeface="Arial"/>
                <a:ea typeface="Arial"/>
                <a:cs typeface="Arial"/>
              </a:rPr>
              <a:t>Hierarki komponen hampir sama</a:t>
            </a:r>
          </a:p>
        </p:txBody>
      </p:sp>
      <p:sp>
        <p:nvSpPr>
          <p:cNvPr id="8" name="Perbedaan paling terlihat pada kematangan visual, kelengkapa">
            <a:extLst>
              <a:ext uri="{FF2B5EF4-FFF2-40B4-BE49-F238E27FC236}">
                <a16:creationId xmlns:a16="http://schemas.microsoft.com/office/drawing/2014/main" id="{59DF7263-608F-46C4-A671-5D69FAB904F6}"/>
              </a:ext>
            </a:extLst>
          </p:cNvPr>
          <p:cNvSpPr>
            <a:spLocks noGrp="1"/>
          </p:cNvSpPr>
          <p:nvPr/>
        </p:nvSpPr>
        <p:spPr>
          <a:xfrm>
            <a:off x="5334000" y="2438400"/>
            <a:ext cx="6057900" cy="1066800"/>
          </a:xfrm>
          <a:prstGeom prst="rect">
            <a:avLst/>
          </a:prstGeom>
          <a:noFill/>
          <a:ln w="0">
            <a:noFill/>
          </a:ln>
        </p:spPr>
        <p:txBody>
          <a:bodyPr anchor="t">
            <a:noAutofit/>
          </a:bodyPr>
          <a:lstStyle/>
          <a:p>
            <a:pPr>
              <a:buNone/>
              <a:defRPr sz="1800" b="0">
                <a:solidFill>
                  <a:srgbClr val="172820"/>
                </a:solidFill>
                <a:latin typeface="Arial"/>
                <a:ea typeface="Arial"/>
                <a:cs typeface="Arial"/>
              </a:defRPr>
            </a:pPr>
            <a:r>
              <a:rPr sz="1800" b="0">
                <a:solidFill>
                  <a:srgbClr val="172820"/>
                </a:solidFill>
                <a:latin typeface="Arial"/>
                <a:ea typeface="Arial"/>
                <a:cs typeface="Arial"/>
              </a:rPr>
              <a:t>Perbedaan paling terlihat pada kematangan visual, kelengkapan aset, dan waktu pengerjaan.</a:t>
            </a:r>
          </a:p>
        </p:txBody>
      </p:sp>
      <p:sp>
        <p:nvSpPr>
          <p:cNvPr id="9" name="Kepatuhan warna pada DESIGN.md">
            <a:extLst>
              <a:ext uri="{FF2B5EF4-FFF2-40B4-BE49-F238E27FC236}">
                <a16:creationId xmlns:a16="http://schemas.microsoft.com/office/drawing/2014/main" id="{F21A23DA-38AC-4FB1-A2B9-5D91A087C4E9}"/>
              </a:ext>
            </a:extLst>
          </p:cNvPr>
          <p:cNvSpPr>
            <a:spLocks noGrp="1"/>
          </p:cNvSpPr>
          <p:nvPr/>
        </p:nvSpPr>
        <p:spPr>
          <a:xfrm>
            <a:off x="5334000" y="3810000"/>
            <a:ext cx="6057900" cy="381000"/>
          </a:xfrm>
          <a:prstGeom prst="rect">
            <a:avLst/>
          </a:prstGeom>
          <a:noFill/>
          <a:ln w="0">
            <a:noFill/>
          </a:ln>
        </p:spPr>
        <p:txBody>
          <a:bodyPr anchor="t">
            <a:noAutofit/>
          </a:bodyPr>
          <a:lstStyle/>
          <a:p>
            <a:pPr>
              <a:buNone/>
              <a:defRPr sz="2040" b="1">
                <a:solidFill>
                  <a:srgbClr val="1F6F54"/>
                </a:solidFill>
                <a:latin typeface="Arial"/>
                <a:ea typeface="Arial"/>
                <a:cs typeface="Arial"/>
              </a:defRPr>
            </a:pPr>
            <a:r>
              <a:rPr sz="2040" b="1">
                <a:solidFill>
                  <a:srgbClr val="1F6F54"/>
                </a:solidFill>
                <a:latin typeface="Arial"/>
                <a:ea typeface="Arial"/>
                <a:cs typeface="Arial"/>
              </a:rPr>
              <a:t>Kepatuhan warna pada DESIGN.md</a:t>
            </a:r>
          </a:p>
        </p:txBody>
      </p:sp>
      <p:sp>
        <p:nvSpPr>
          <p:cNvPr id="10" name="Metode 1, 2, dan 3 mengikuti aturan warna. Metode 4 memakai ">
            <a:extLst>
              <a:ext uri="{FF2B5EF4-FFF2-40B4-BE49-F238E27FC236}">
                <a16:creationId xmlns:a16="http://schemas.microsoft.com/office/drawing/2014/main" id="{5B7F6BBB-D2B8-4EDF-801A-D96CAE17793E}"/>
              </a:ext>
            </a:extLst>
          </p:cNvPr>
          <p:cNvSpPr>
            <a:spLocks noGrp="1"/>
          </p:cNvSpPr>
          <p:nvPr/>
        </p:nvSpPr>
        <p:spPr>
          <a:xfrm>
            <a:off x="5334000" y="4312920"/>
            <a:ext cx="6057900" cy="1524000"/>
          </a:xfrm>
          <a:prstGeom prst="rect">
            <a:avLst/>
          </a:prstGeom>
          <a:noFill/>
          <a:ln w="0">
            <a:noFill/>
          </a:ln>
        </p:spPr>
        <p:txBody>
          <a:bodyPr anchor="t">
            <a:noAutofit/>
          </a:bodyPr>
          <a:lstStyle/>
          <a:p>
            <a:pPr>
              <a:buNone/>
              <a:defRPr sz="1740" b="0">
                <a:solidFill>
                  <a:srgbClr val="172820"/>
                </a:solidFill>
                <a:latin typeface="Arial"/>
                <a:ea typeface="Arial"/>
                <a:cs typeface="Arial"/>
              </a:defRPr>
            </a:pPr>
            <a:r>
              <a:rPr sz="1740" b="0">
                <a:solidFill>
                  <a:srgbClr val="172820"/>
                </a:solidFill>
                <a:latin typeface="Arial"/>
                <a:ea typeface="Arial"/>
                <a:cs typeface="Arial"/>
              </a:rPr>
              <a:t>Metode 1, 2, dan 3 mengikuti aturan warna. Metode 4 memakai palet berbeda. Prompt pembuatan HTML tidak menyebut DESIGN.md secara eksplisit.</a:t>
            </a:r>
          </a:p>
        </p:txBody>
      </p:sp>
      <p:sp>
        <p:nvSpPr>
          <p:cNvPr id="11" name="Penilaian ini berlaku untuk eksperimen yang dicatat.">
            <a:extLst>
              <a:ext uri="{FF2B5EF4-FFF2-40B4-BE49-F238E27FC236}">
                <a16:creationId xmlns:a16="http://schemas.microsoft.com/office/drawing/2014/main" id="{584E85EA-05A9-4984-AE2B-2415F847C48B}"/>
              </a:ext>
            </a:extLst>
          </p:cNvPr>
          <p:cNvSpPr>
            <a:spLocks noGrp="1"/>
          </p:cNvSpPr>
          <p:nvPr/>
        </p:nvSpPr>
        <p:spPr>
          <a:xfrm>
            <a:off x="609600" y="6035040"/>
            <a:ext cx="10744200" cy="320040"/>
          </a:xfrm>
          <a:prstGeom prst="rect">
            <a:avLst/>
          </a:prstGeom>
          <a:noFill/>
          <a:ln w="0">
            <a:noFill/>
          </a:ln>
        </p:spPr>
        <p:txBody>
          <a:bodyPr anchor="t">
            <a:noAutofit/>
          </a:bodyPr>
          <a:lstStyle/>
          <a:p>
            <a:pPr>
              <a:buNone/>
              <a:defRPr sz="1500" b="0">
                <a:solidFill>
                  <a:srgbClr val="64736C"/>
                </a:solidFill>
                <a:latin typeface="Arial"/>
                <a:ea typeface="Arial"/>
                <a:cs typeface="Arial"/>
              </a:defRPr>
            </a:pPr>
            <a:r>
              <a:rPr sz="1500" b="0">
                <a:solidFill>
                  <a:srgbClr val="64736C"/>
                </a:solidFill>
                <a:latin typeface="Arial"/>
                <a:ea typeface="Arial"/>
                <a:cs typeface="Arial"/>
              </a:rPr>
              <a:t>Penilaian ini berlaku untuk eksperimen yang dicatat.</a:t>
            </a:r>
          </a:p>
        </p:txBody>
      </p:sp>
      <p:sp>
        <p:nvSpPr>
          <p:cNvPr id="12" name="11">
            <a:extLst>
              <a:ext uri="{FF2B5EF4-FFF2-40B4-BE49-F238E27FC236}">
                <a16:creationId xmlns:a16="http://schemas.microsoft.com/office/drawing/2014/main" id="{6365864C-4F7A-46A3-BCE4-D24B076AFC54}"/>
              </a:ext>
            </a:extLst>
          </p:cNvPr>
          <p:cNvSpPr>
            <a:spLocks noGrp="1"/>
          </p:cNvSpPr>
          <p:nvPr/>
        </p:nvSpPr>
        <p:spPr>
          <a:xfrm>
            <a:off x="11201400" y="6515100"/>
            <a:ext cx="419100" cy="182880"/>
          </a:xfrm>
          <a:prstGeom prst="rect">
            <a:avLst/>
          </a:prstGeom>
          <a:noFill/>
          <a:ln w="0">
            <a:noFill/>
          </a:ln>
        </p:spPr>
        <p:txBody>
          <a:bodyPr anchor="t">
            <a:noAutofit/>
          </a:bodyPr>
          <a:lstStyle/>
          <a:p>
            <a:pPr>
              <a:buNone/>
              <a:defRPr sz="1080" b="0">
                <a:solidFill>
                  <a:srgbClr val="64736C"/>
                </a:solidFill>
                <a:latin typeface="Arial"/>
                <a:ea typeface="Arial"/>
                <a:cs typeface="Arial"/>
              </a:defRPr>
            </a:pPr>
            <a:r>
              <a:rPr sz="1080" b="0">
                <a:solidFill>
                  <a:srgbClr val="64736C"/>
                </a:solidFill>
                <a:latin typeface="Arial"/>
                <a:ea typeface="Arial"/>
                <a:cs typeface="Arial"/>
              </a:rPr>
              <a:t>17</a:t>
            </a:r>
          </a:p>
        </p:txBody>
      </p:sp>
    </p:spTree>
    <p:extLst>
      <p:ext uri="{BB962C8B-B14F-4D97-AF65-F5344CB8AC3E}">
        <p14:creationId xmlns:p14="http://schemas.microsoft.com/office/powerpoint/2010/main" val="1206515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Evaluasi Metode 1 dan 2">
            <a:extLst>
              <a:ext uri="{FF2B5EF4-FFF2-40B4-BE49-F238E27FC236}">
                <a16:creationId xmlns:a16="http://schemas.microsoft.com/office/drawing/2014/main" id="{22F646D4-C4EF-4DB5-9489-BF75056B5C73}"/>
              </a:ext>
            </a:extLst>
          </p:cNvPr>
          <p:cNvSpPr>
            <a:spLocks noGrp="1"/>
          </p:cNvSpPr>
          <p:nvPr/>
        </p:nvSpPr>
        <p:spPr>
          <a:xfrm>
            <a:off x="609600" y="381000"/>
            <a:ext cx="10934700" cy="548640"/>
          </a:xfrm>
          <a:prstGeom prst="rect">
            <a:avLst/>
          </a:prstGeom>
          <a:noFill/>
          <a:ln w="0">
            <a:noFill/>
          </a:ln>
        </p:spPr>
        <p:txBody>
          <a:bodyPr anchor="t">
            <a:noAutofit/>
          </a:bodyPr>
          <a:lstStyle/>
          <a:p>
            <a:pPr>
              <a:buNone/>
              <a:defRPr sz="2880" b="1">
                <a:solidFill>
                  <a:srgbClr val="172820"/>
                </a:solidFill>
                <a:latin typeface="Arial"/>
                <a:ea typeface="Arial"/>
                <a:cs typeface="Arial"/>
              </a:defRPr>
            </a:pPr>
            <a:r>
              <a:rPr sz="2880" b="1">
                <a:solidFill>
                  <a:srgbClr val="172820"/>
                </a:solidFill>
                <a:latin typeface="Arial"/>
                <a:ea typeface="Arial"/>
                <a:cs typeface="Arial"/>
              </a:rPr>
              <a:t>Evaluasi Metode 1 dan 2</a:t>
            </a:r>
          </a:p>
        </p:txBody>
      </p:sp>
      <p:sp>
        <p:nvSpPr>
          <p:cNvPr id="2" name="Waktu total termasuk implementasi card dan pengisian data du">
            <a:extLst>
              <a:ext uri="{FF2B5EF4-FFF2-40B4-BE49-F238E27FC236}">
                <a16:creationId xmlns:a16="http://schemas.microsoft.com/office/drawing/2014/main" id="{A5D2C593-69CF-4A4F-8799-F0590C5B4EC2}"/>
              </a:ext>
            </a:extLst>
          </p:cNvPr>
          <p:cNvSpPr>
            <a:spLocks noGrp="1"/>
          </p:cNvSpPr>
          <p:nvPr/>
        </p:nvSpPr>
        <p:spPr>
          <a:xfrm>
            <a:off x="609600" y="990600"/>
            <a:ext cx="10744200" cy="441960"/>
          </a:xfrm>
          <a:prstGeom prst="rect">
            <a:avLst/>
          </a:prstGeom>
          <a:noFill/>
          <a:ln w="0">
            <a:noFill/>
          </a:ln>
        </p:spPr>
        <p:txBody>
          <a:bodyPr anchor="t">
            <a:noAutofit/>
          </a:bodyPr>
          <a:lstStyle/>
          <a:p>
            <a:pPr>
              <a:buNone/>
              <a:defRPr sz="1500" b="0">
                <a:solidFill>
                  <a:srgbClr val="64736C"/>
                </a:solidFill>
                <a:latin typeface="Arial"/>
                <a:ea typeface="Arial"/>
                <a:cs typeface="Arial"/>
              </a:defRPr>
            </a:pPr>
            <a:r>
              <a:rPr sz="1500" b="0">
                <a:solidFill>
                  <a:srgbClr val="64736C"/>
                </a:solidFill>
                <a:latin typeface="Arial"/>
                <a:ea typeface="Arial"/>
                <a:cs typeface="Arial"/>
              </a:rPr>
              <a:t>Waktu total termasuk implementasi card dan pengisian data dummy</a:t>
            </a:r>
          </a:p>
        </p:txBody>
      </p:sp>
      <p:sp>
        <p:nvSpPr>
          <p:cNvPr id="3" name="HTML-FMX · Healthcare wireframe case study">
            <a:extLst>
              <a:ext uri="{FF2B5EF4-FFF2-40B4-BE49-F238E27FC236}">
                <a16:creationId xmlns:a16="http://schemas.microsoft.com/office/drawing/2014/main" id="{AB20B527-D18D-4AF9-8193-C0ACF8807F7E}"/>
              </a:ext>
            </a:extLst>
          </p:cNvPr>
          <p:cNvSpPr>
            <a:spLocks noGrp="1"/>
          </p:cNvSpPr>
          <p:nvPr/>
        </p:nvSpPr>
        <p:spPr>
          <a:xfrm>
            <a:off x="609600" y="6537960"/>
            <a:ext cx="6858000" cy="167640"/>
          </a:xfrm>
          <a:prstGeom prst="rect">
            <a:avLst/>
          </a:prstGeom>
          <a:noFill/>
          <a:ln w="0">
            <a:noFill/>
          </a:ln>
        </p:spPr>
        <p:txBody>
          <a:bodyPr anchor="t">
            <a:noAutofit/>
          </a:bodyPr>
          <a:lstStyle/>
          <a:p>
            <a:pPr>
              <a:buNone/>
              <a:defRPr sz="960" b="0">
                <a:solidFill>
                  <a:srgbClr val="64736C"/>
                </a:solidFill>
                <a:latin typeface="Arial"/>
                <a:ea typeface="Arial"/>
                <a:cs typeface="Arial"/>
              </a:defRPr>
            </a:pPr>
            <a:r>
              <a:rPr sz="960" b="0">
                <a:solidFill>
                  <a:srgbClr val="64736C"/>
                </a:solidFill>
                <a:latin typeface="Arial"/>
                <a:ea typeface="Arial"/>
                <a:cs typeface="Arial"/>
              </a:rPr>
              <a:t>HTML-FMX · Healthcare wireframe case study</a:t>
            </a:r>
          </a:p>
        </p:txBody>
      </p:sp>
      <p:sp>
        <p:nvSpPr>
          <p:cNvPr id="4" name="Metode 1: Google Stitch + HTML">
            <a:extLst>
              <a:ext uri="{FF2B5EF4-FFF2-40B4-BE49-F238E27FC236}">
                <a16:creationId xmlns:a16="http://schemas.microsoft.com/office/drawing/2014/main" id="{F66CE9EF-BB61-4430-B1E9-2D730CB636CC}"/>
              </a:ext>
            </a:extLst>
          </p:cNvPr>
          <p:cNvSpPr>
            <a:spLocks noGrp="1"/>
          </p:cNvSpPr>
          <p:nvPr/>
        </p:nvSpPr>
        <p:spPr>
          <a:xfrm>
            <a:off x="609600" y="1699260"/>
            <a:ext cx="5067300" cy="800100"/>
          </a:xfrm>
          <a:prstGeom prst="rect">
            <a:avLst/>
          </a:prstGeom>
          <a:noFill/>
          <a:ln w="0">
            <a:noFill/>
          </a:ln>
        </p:spPr>
        <p:txBody>
          <a:bodyPr anchor="t">
            <a:noAutofit/>
          </a:bodyPr>
          <a:lstStyle/>
          <a:p>
            <a:pPr>
              <a:buNone/>
              <a:defRPr sz="2100" b="1">
                <a:solidFill>
                  <a:srgbClr val="1F6F54"/>
                </a:solidFill>
                <a:latin typeface="Arial"/>
                <a:ea typeface="Arial"/>
                <a:cs typeface="Arial"/>
              </a:defRPr>
            </a:pPr>
            <a:r>
              <a:rPr sz="2100" b="1">
                <a:solidFill>
                  <a:srgbClr val="1F6F54"/>
                </a:solidFill>
                <a:latin typeface="Arial"/>
                <a:ea typeface="Arial"/>
                <a:cs typeface="Arial"/>
              </a:rPr>
              <a:t>Metode 1: Google Stitch + HTML</a:t>
            </a:r>
          </a:p>
        </p:txBody>
      </p:sp>
      <p:sp>
        <p:nvSpPr>
          <p:cNvPr id="5" name="38m 55s">
            <a:extLst>
              <a:ext uri="{FF2B5EF4-FFF2-40B4-BE49-F238E27FC236}">
                <a16:creationId xmlns:a16="http://schemas.microsoft.com/office/drawing/2014/main" id="{A6C14E49-D499-4501-AC9C-3432B0123DE3}"/>
              </a:ext>
            </a:extLst>
          </p:cNvPr>
          <p:cNvSpPr>
            <a:spLocks noGrp="1"/>
          </p:cNvSpPr>
          <p:nvPr/>
        </p:nvSpPr>
        <p:spPr>
          <a:xfrm>
            <a:off x="609600" y="2667000"/>
            <a:ext cx="5067300" cy="548640"/>
          </a:xfrm>
          <a:prstGeom prst="rect">
            <a:avLst/>
          </a:prstGeom>
          <a:noFill/>
          <a:ln w="0">
            <a:noFill/>
          </a:ln>
        </p:spPr>
        <p:txBody>
          <a:bodyPr anchor="t">
            <a:noAutofit/>
          </a:bodyPr>
          <a:lstStyle/>
          <a:p>
            <a:pPr>
              <a:buNone/>
              <a:defRPr sz="3120" b="1">
                <a:solidFill>
                  <a:srgbClr val="172820"/>
                </a:solidFill>
                <a:latin typeface="Arial"/>
                <a:ea typeface="Arial"/>
                <a:cs typeface="Arial"/>
              </a:defRPr>
            </a:pPr>
            <a:r>
              <a:rPr sz="3120" b="1">
                <a:solidFill>
                  <a:srgbClr val="172820"/>
                </a:solidFill>
                <a:latin typeface="Arial"/>
                <a:ea typeface="Arial"/>
                <a:cs typeface="Arial"/>
              </a:rPr>
              <a:t>38m 55s</a:t>
            </a:r>
          </a:p>
        </p:txBody>
      </p:sp>
      <p:sp>
        <p:nvSpPr>
          <p:cNvPr id="6" name="Urutan ke-3 tercepat">
            <a:extLst>
              <a:ext uri="{FF2B5EF4-FFF2-40B4-BE49-F238E27FC236}">
                <a16:creationId xmlns:a16="http://schemas.microsoft.com/office/drawing/2014/main" id="{B6983EDC-0260-4B83-8F04-B91B63F5E0C8}"/>
              </a:ext>
            </a:extLst>
          </p:cNvPr>
          <p:cNvSpPr>
            <a:spLocks noGrp="1"/>
          </p:cNvSpPr>
          <p:nvPr/>
        </p:nvSpPr>
        <p:spPr>
          <a:xfrm>
            <a:off x="609600" y="3276600"/>
            <a:ext cx="5067300" cy="335280"/>
          </a:xfrm>
          <a:prstGeom prst="rect">
            <a:avLst/>
          </a:prstGeom>
          <a:noFill/>
          <a:ln w="0">
            <a:noFill/>
          </a:ln>
        </p:spPr>
        <p:txBody>
          <a:bodyPr anchor="t">
            <a:noAutofit/>
          </a:bodyPr>
          <a:lstStyle/>
          <a:p>
            <a:pPr>
              <a:buNone/>
              <a:defRPr sz="1620" b="0">
                <a:solidFill>
                  <a:srgbClr val="64736C"/>
                </a:solidFill>
                <a:latin typeface="Arial"/>
                <a:ea typeface="Arial"/>
                <a:cs typeface="Arial"/>
              </a:defRPr>
            </a:pPr>
            <a:r>
              <a:rPr sz="1620" b="0">
                <a:solidFill>
                  <a:srgbClr val="64736C"/>
                </a:solidFill>
                <a:latin typeface="Arial"/>
                <a:ea typeface="Arial"/>
                <a:cs typeface="Arial"/>
              </a:rPr>
              <a:t>Urutan ke-3 tercepat</a:t>
            </a:r>
          </a:p>
        </p:txBody>
      </p:sp>
      <p:sp>
        <p:nvSpPr>
          <p:cNvPr id="7" name="Visual lebih matang dengan aset yang lebih lengkap. Pengelom">
            <a:extLst>
              <a:ext uri="{FF2B5EF4-FFF2-40B4-BE49-F238E27FC236}">
                <a16:creationId xmlns:a16="http://schemas.microsoft.com/office/drawing/2014/main" id="{616D4F4C-C77A-47ED-844F-44D9056668EC}"/>
              </a:ext>
            </a:extLst>
          </p:cNvPr>
          <p:cNvSpPr>
            <a:spLocks noGrp="1"/>
          </p:cNvSpPr>
          <p:nvPr/>
        </p:nvSpPr>
        <p:spPr>
          <a:xfrm>
            <a:off x="609600" y="3771900"/>
            <a:ext cx="5067300" cy="1341120"/>
          </a:xfrm>
          <a:prstGeom prst="rect">
            <a:avLst/>
          </a:prstGeom>
          <a:noFill/>
          <a:ln w="0">
            <a:noFill/>
          </a:ln>
        </p:spPr>
        <p:txBody>
          <a:bodyPr anchor="t">
            <a:noAutofit/>
          </a:bodyPr>
          <a:lstStyle/>
          <a:p>
            <a:pPr>
              <a:buNone/>
              <a:defRPr sz="1740" b="0">
                <a:solidFill>
                  <a:srgbClr val="172820"/>
                </a:solidFill>
                <a:latin typeface="Arial"/>
                <a:ea typeface="Arial"/>
                <a:cs typeface="Arial"/>
              </a:defRPr>
            </a:pPr>
            <a:r>
              <a:rPr sz="1740" b="0">
                <a:solidFill>
                  <a:srgbClr val="172820"/>
                </a:solidFill>
                <a:latin typeface="Arial"/>
                <a:ea typeface="Arial"/>
                <a:cs typeface="Arial"/>
              </a:rPr>
              <a:t>Visual lebih matang dengan aset yang lebih lengkap. Pengelompokan visual rapi dan hasil sesuai wireframe.</a:t>
            </a:r>
          </a:p>
        </p:txBody>
      </p:sp>
      <p:sp>
        <p:nvSpPr>
          <p:cNvPr id="8" name="Warna mengikuti DESIGN.md.">
            <a:extLst>
              <a:ext uri="{FF2B5EF4-FFF2-40B4-BE49-F238E27FC236}">
                <a16:creationId xmlns:a16="http://schemas.microsoft.com/office/drawing/2014/main" id="{16DCF24D-8A6E-4E17-A55C-94AE9BC305DD}"/>
              </a:ext>
            </a:extLst>
          </p:cNvPr>
          <p:cNvSpPr>
            <a:spLocks noGrp="1"/>
          </p:cNvSpPr>
          <p:nvPr/>
        </p:nvSpPr>
        <p:spPr>
          <a:xfrm>
            <a:off x="609600" y="5143500"/>
            <a:ext cx="5067300" cy="800100"/>
          </a:xfrm>
          <a:prstGeom prst="rect">
            <a:avLst/>
          </a:prstGeom>
          <a:noFill/>
          <a:ln w="0">
            <a:noFill/>
          </a:ln>
        </p:spPr>
        <p:txBody>
          <a:bodyPr anchor="t">
            <a:noAutofit/>
          </a:bodyPr>
          <a:lstStyle/>
          <a:p>
            <a:pPr>
              <a:buNone/>
              <a:defRPr sz="1560" b="0">
                <a:solidFill>
                  <a:srgbClr val="64736C"/>
                </a:solidFill>
                <a:latin typeface="Arial"/>
                <a:ea typeface="Arial"/>
                <a:cs typeface="Arial"/>
              </a:defRPr>
            </a:pPr>
            <a:r>
              <a:rPr sz="1560" b="0">
                <a:solidFill>
                  <a:srgbClr val="64736C"/>
                </a:solidFill>
                <a:latin typeface="Arial"/>
                <a:ea typeface="Arial"/>
                <a:cs typeface="Arial"/>
              </a:rPr>
              <a:t>Warna mengikuti DESIGN.md.</a:t>
            </a:r>
          </a:p>
        </p:txBody>
      </p:sp>
      <p:sp>
        <p:nvSpPr>
          <p:cNvPr id="9" name="Metode 2: Create UI langsung">
            <a:extLst>
              <a:ext uri="{FF2B5EF4-FFF2-40B4-BE49-F238E27FC236}">
                <a16:creationId xmlns:a16="http://schemas.microsoft.com/office/drawing/2014/main" id="{19B33955-ED6C-40A4-BE1F-895F3C61C83C}"/>
              </a:ext>
            </a:extLst>
          </p:cNvPr>
          <p:cNvSpPr>
            <a:spLocks noGrp="1"/>
          </p:cNvSpPr>
          <p:nvPr/>
        </p:nvSpPr>
        <p:spPr>
          <a:xfrm>
            <a:off x="6477000" y="1699260"/>
            <a:ext cx="5029200" cy="800100"/>
          </a:xfrm>
          <a:prstGeom prst="rect">
            <a:avLst/>
          </a:prstGeom>
          <a:noFill/>
          <a:ln w="0">
            <a:noFill/>
          </a:ln>
        </p:spPr>
        <p:txBody>
          <a:bodyPr anchor="t">
            <a:noAutofit/>
          </a:bodyPr>
          <a:lstStyle/>
          <a:p>
            <a:pPr>
              <a:buNone/>
              <a:defRPr sz="2100" b="1">
                <a:solidFill>
                  <a:srgbClr val="1F6F54"/>
                </a:solidFill>
                <a:latin typeface="Arial"/>
                <a:ea typeface="Arial"/>
                <a:cs typeface="Arial"/>
              </a:defRPr>
            </a:pPr>
            <a:r>
              <a:rPr sz="2100" b="1">
                <a:solidFill>
                  <a:srgbClr val="1F6F54"/>
                </a:solidFill>
                <a:latin typeface="Arial"/>
                <a:ea typeface="Arial"/>
                <a:cs typeface="Arial"/>
              </a:rPr>
              <a:t>Metode 2: Create UI langsung</a:t>
            </a:r>
          </a:p>
        </p:txBody>
      </p:sp>
      <p:sp>
        <p:nvSpPr>
          <p:cNvPr id="10" name="25m 52s">
            <a:extLst>
              <a:ext uri="{FF2B5EF4-FFF2-40B4-BE49-F238E27FC236}">
                <a16:creationId xmlns:a16="http://schemas.microsoft.com/office/drawing/2014/main" id="{69B295F6-6623-43F4-B03B-0BE0FACBD474}"/>
              </a:ext>
            </a:extLst>
          </p:cNvPr>
          <p:cNvSpPr>
            <a:spLocks noGrp="1"/>
          </p:cNvSpPr>
          <p:nvPr/>
        </p:nvSpPr>
        <p:spPr>
          <a:xfrm>
            <a:off x="6477000" y="2667000"/>
            <a:ext cx="5029200" cy="548640"/>
          </a:xfrm>
          <a:prstGeom prst="rect">
            <a:avLst/>
          </a:prstGeom>
          <a:noFill/>
          <a:ln w="0">
            <a:noFill/>
          </a:ln>
        </p:spPr>
        <p:txBody>
          <a:bodyPr anchor="t">
            <a:noAutofit/>
          </a:bodyPr>
          <a:lstStyle/>
          <a:p>
            <a:pPr>
              <a:buNone/>
              <a:defRPr sz="3120" b="1">
                <a:solidFill>
                  <a:srgbClr val="172820"/>
                </a:solidFill>
                <a:latin typeface="Arial"/>
                <a:ea typeface="Arial"/>
                <a:cs typeface="Arial"/>
              </a:defRPr>
            </a:pPr>
            <a:r>
              <a:rPr sz="3120" b="1">
                <a:solidFill>
                  <a:srgbClr val="172820"/>
                </a:solidFill>
                <a:latin typeface="Arial"/>
                <a:ea typeface="Arial"/>
                <a:cs typeface="Arial"/>
              </a:rPr>
              <a:t>25m 52s</a:t>
            </a:r>
          </a:p>
        </p:txBody>
      </p:sp>
      <p:sp>
        <p:nvSpPr>
          <p:cNvPr id="11" name="Urutan ke-2 tercepat">
            <a:extLst>
              <a:ext uri="{FF2B5EF4-FFF2-40B4-BE49-F238E27FC236}">
                <a16:creationId xmlns:a16="http://schemas.microsoft.com/office/drawing/2014/main" id="{6921E8FF-5FC0-4927-B3EF-9E306414DBB9}"/>
              </a:ext>
            </a:extLst>
          </p:cNvPr>
          <p:cNvSpPr>
            <a:spLocks noGrp="1"/>
          </p:cNvSpPr>
          <p:nvPr/>
        </p:nvSpPr>
        <p:spPr>
          <a:xfrm>
            <a:off x="6477000" y="3276600"/>
            <a:ext cx="5029200" cy="335280"/>
          </a:xfrm>
          <a:prstGeom prst="rect">
            <a:avLst/>
          </a:prstGeom>
          <a:noFill/>
          <a:ln w="0">
            <a:noFill/>
          </a:ln>
        </p:spPr>
        <p:txBody>
          <a:bodyPr anchor="t">
            <a:noAutofit/>
          </a:bodyPr>
          <a:lstStyle/>
          <a:p>
            <a:pPr>
              <a:buNone/>
              <a:defRPr sz="1620" b="0">
                <a:solidFill>
                  <a:srgbClr val="64736C"/>
                </a:solidFill>
                <a:latin typeface="Arial"/>
                <a:ea typeface="Arial"/>
                <a:cs typeface="Arial"/>
              </a:defRPr>
            </a:pPr>
            <a:r>
              <a:rPr sz="1620" b="0">
                <a:solidFill>
                  <a:srgbClr val="64736C"/>
                </a:solidFill>
                <a:latin typeface="Arial"/>
                <a:ea typeface="Arial"/>
                <a:cs typeface="Arial"/>
              </a:rPr>
              <a:t>Urutan ke-2 tercepat</a:t>
            </a:r>
          </a:p>
        </p:txBody>
      </p:sp>
      <p:sp>
        <p:nvSpPr>
          <p:cNvPr id="12" name="Hasil sesuai wireframe, tetapi tampilan masih mentah seperti">
            <a:extLst>
              <a:ext uri="{FF2B5EF4-FFF2-40B4-BE49-F238E27FC236}">
                <a16:creationId xmlns:a16="http://schemas.microsoft.com/office/drawing/2014/main" id="{3EE5463D-660C-46CA-B5AF-3A8E969594FE}"/>
              </a:ext>
            </a:extLst>
          </p:cNvPr>
          <p:cNvSpPr>
            <a:spLocks noGrp="1"/>
          </p:cNvSpPr>
          <p:nvPr/>
        </p:nvSpPr>
        <p:spPr>
          <a:xfrm>
            <a:off x="6477000" y="3771900"/>
            <a:ext cx="5029200" cy="1341120"/>
          </a:xfrm>
          <a:prstGeom prst="rect">
            <a:avLst/>
          </a:prstGeom>
          <a:noFill/>
          <a:ln w="0">
            <a:noFill/>
          </a:ln>
        </p:spPr>
        <p:txBody>
          <a:bodyPr anchor="t">
            <a:noAutofit/>
          </a:bodyPr>
          <a:lstStyle/>
          <a:p>
            <a:pPr>
              <a:buNone/>
              <a:defRPr sz="1740" b="0">
                <a:solidFill>
                  <a:srgbClr val="172820"/>
                </a:solidFill>
                <a:latin typeface="Arial"/>
                <a:ea typeface="Arial"/>
                <a:cs typeface="Arial"/>
              </a:defRPr>
            </a:pPr>
            <a:r>
              <a:rPr sz="1740" b="0">
                <a:solidFill>
                  <a:srgbClr val="172820"/>
                </a:solidFill>
                <a:latin typeface="Arial"/>
                <a:ea typeface="Arial"/>
                <a:cs typeface="Arial"/>
              </a:rPr>
              <a:t>Hasil sesuai wireframe, tetapi tampilan masih mentah seperti Metode 3. Menjadi dasar UI yang masih perlu dipoles.</a:t>
            </a:r>
          </a:p>
        </p:txBody>
      </p:sp>
      <p:sp>
        <p:nvSpPr>
          <p:cNvPr id="13" name="Warna mengikuti DESIGN.md. Tambahan card + dummy paling sing">
            <a:extLst>
              <a:ext uri="{FF2B5EF4-FFF2-40B4-BE49-F238E27FC236}">
                <a16:creationId xmlns:a16="http://schemas.microsoft.com/office/drawing/2014/main" id="{211C2246-AFB8-441F-AF3C-9E42F26D0B53}"/>
              </a:ext>
            </a:extLst>
          </p:cNvPr>
          <p:cNvSpPr>
            <a:spLocks noGrp="1"/>
          </p:cNvSpPr>
          <p:nvPr/>
        </p:nvSpPr>
        <p:spPr>
          <a:xfrm>
            <a:off x="6477000" y="5143500"/>
            <a:ext cx="5029200" cy="800100"/>
          </a:xfrm>
          <a:prstGeom prst="rect">
            <a:avLst/>
          </a:prstGeom>
          <a:noFill/>
          <a:ln w="0">
            <a:noFill/>
          </a:ln>
        </p:spPr>
        <p:txBody>
          <a:bodyPr anchor="t">
            <a:noAutofit/>
          </a:bodyPr>
          <a:lstStyle/>
          <a:p>
            <a:pPr>
              <a:buNone/>
              <a:defRPr sz="1560" b="0">
                <a:solidFill>
                  <a:srgbClr val="64736C"/>
                </a:solidFill>
                <a:latin typeface="Arial"/>
                <a:ea typeface="Arial"/>
                <a:cs typeface="Arial"/>
              </a:defRPr>
            </a:pPr>
            <a:r>
              <a:rPr sz="1560" b="0">
                <a:solidFill>
                  <a:srgbClr val="64736C"/>
                </a:solidFill>
                <a:latin typeface="Arial"/>
                <a:ea typeface="Arial"/>
                <a:cs typeface="Arial"/>
              </a:rPr>
              <a:t>Warna mengikuti DESIGN.md. Tambahan card + dummy paling singkat: 2m 27s.</a:t>
            </a:r>
          </a:p>
        </p:txBody>
      </p:sp>
      <p:sp>
        <p:nvSpPr>
          <p:cNvPr id="14" name="Metode 1 lebih matang secara visual. Metode 2 lebih cepat, t">
            <a:extLst>
              <a:ext uri="{FF2B5EF4-FFF2-40B4-BE49-F238E27FC236}">
                <a16:creationId xmlns:a16="http://schemas.microsoft.com/office/drawing/2014/main" id="{2C9356CC-CF69-4929-B2EF-4C4F3DB3ADD1}"/>
              </a:ext>
            </a:extLst>
          </p:cNvPr>
          <p:cNvSpPr>
            <a:spLocks noGrp="1"/>
          </p:cNvSpPr>
          <p:nvPr/>
        </p:nvSpPr>
        <p:spPr>
          <a:xfrm>
            <a:off x="609600" y="6042660"/>
            <a:ext cx="10858500" cy="403860"/>
          </a:xfrm>
          <a:prstGeom prst="rect">
            <a:avLst/>
          </a:prstGeom>
          <a:noFill/>
          <a:ln w="0">
            <a:noFill/>
          </a:ln>
        </p:spPr>
        <p:txBody>
          <a:bodyPr anchor="t">
            <a:noAutofit/>
          </a:bodyPr>
          <a:lstStyle/>
          <a:p>
            <a:pPr>
              <a:buNone/>
              <a:defRPr sz="1560" b="1">
                <a:solidFill>
                  <a:srgbClr val="1F6F54"/>
                </a:solidFill>
                <a:latin typeface="Arial"/>
                <a:ea typeface="Arial"/>
                <a:cs typeface="Arial"/>
              </a:defRPr>
            </a:pPr>
            <a:r>
              <a:rPr sz="1560" b="1">
                <a:solidFill>
                  <a:srgbClr val="1F6F54"/>
                </a:solidFill>
                <a:latin typeface="Arial"/>
                <a:ea typeface="Arial"/>
                <a:cs typeface="Arial"/>
              </a:rPr>
              <a:t>Metode 1 lebih matang secara visual. Metode 2 lebih cepat, tetapi masih perlu dipoles.</a:t>
            </a:r>
          </a:p>
        </p:txBody>
      </p:sp>
      <p:sp>
        <p:nvSpPr>
          <p:cNvPr id="15" name="12">
            <a:extLst>
              <a:ext uri="{FF2B5EF4-FFF2-40B4-BE49-F238E27FC236}">
                <a16:creationId xmlns:a16="http://schemas.microsoft.com/office/drawing/2014/main" id="{A3EA5DF2-71E9-445E-B23C-C1ECB4B3D744}"/>
              </a:ext>
            </a:extLst>
          </p:cNvPr>
          <p:cNvSpPr>
            <a:spLocks noGrp="1"/>
          </p:cNvSpPr>
          <p:nvPr/>
        </p:nvSpPr>
        <p:spPr>
          <a:xfrm>
            <a:off x="11201400" y="6515100"/>
            <a:ext cx="419100" cy="182880"/>
          </a:xfrm>
          <a:prstGeom prst="rect">
            <a:avLst/>
          </a:prstGeom>
          <a:noFill/>
          <a:ln w="0">
            <a:noFill/>
          </a:ln>
        </p:spPr>
        <p:txBody>
          <a:bodyPr anchor="t">
            <a:noAutofit/>
          </a:bodyPr>
          <a:lstStyle/>
          <a:p>
            <a:pPr>
              <a:buNone/>
              <a:defRPr sz="1080" b="0">
                <a:solidFill>
                  <a:srgbClr val="64736C"/>
                </a:solidFill>
                <a:latin typeface="Arial"/>
                <a:ea typeface="Arial"/>
                <a:cs typeface="Arial"/>
              </a:defRPr>
            </a:pPr>
            <a:r>
              <a:rPr sz="1080" b="0">
                <a:solidFill>
                  <a:srgbClr val="64736C"/>
                </a:solidFill>
                <a:latin typeface="Arial"/>
                <a:ea typeface="Arial"/>
                <a:cs typeface="Arial"/>
              </a:rPr>
              <a:t>18</a:t>
            </a:r>
          </a:p>
        </p:txBody>
      </p:sp>
    </p:spTree>
    <p:extLst>
      <p:ext uri="{BB962C8B-B14F-4D97-AF65-F5344CB8AC3E}">
        <p14:creationId xmlns:p14="http://schemas.microsoft.com/office/powerpoint/2010/main" val="12734728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Evaluasi Metode 3 dan 4">
            <a:extLst>
              <a:ext uri="{FF2B5EF4-FFF2-40B4-BE49-F238E27FC236}">
                <a16:creationId xmlns:a16="http://schemas.microsoft.com/office/drawing/2014/main" id="{68B90E8C-AD20-4878-8734-38DB6024201D}"/>
              </a:ext>
            </a:extLst>
          </p:cNvPr>
          <p:cNvSpPr>
            <a:spLocks noGrp="1"/>
          </p:cNvSpPr>
          <p:nvPr/>
        </p:nvSpPr>
        <p:spPr>
          <a:xfrm>
            <a:off x="609600" y="381000"/>
            <a:ext cx="10934700" cy="548640"/>
          </a:xfrm>
          <a:prstGeom prst="rect">
            <a:avLst/>
          </a:prstGeom>
          <a:noFill/>
          <a:ln w="0">
            <a:noFill/>
          </a:ln>
        </p:spPr>
        <p:txBody>
          <a:bodyPr anchor="t">
            <a:noAutofit/>
          </a:bodyPr>
          <a:lstStyle/>
          <a:p>
            <a:pPr>
              <a:buNone/>
              <a:defRPr sz="2880" b="1">
                <a:solidFill>
                  <a:srgbClr val="172820"/>
                </a:solidFill>
                <a:latin typeface="Arial"/>
                <a:ea typeface="Arial"/>
                <a:cs typeface="Arial"/>
              </a:defRPr>
            </a:pPr>
            <a:r>
              <a:rPr sz="2880" b="1">
                <a:solidFill>
                  <a:srgbClr val="172820"/>
                </a:solidFill>
                <a:latin typeface="Arial"/>
                <a:ea typeface="Arial"/>
                <a:cs typeface="Arial"/>
              </a:rPr>
              <a:t>Evaluasi Metode 3 dan 4</a:t>
            </a:r>
          </a:p>
        </p:txBody>
      </p:sp>
      <p:sp>
        <p:nvSpPr>
          <p:cNvPr id="2" name="Waktu total termasuk implementasi card dan pengisian data du">
            <a:extLst>
              <a:ext uri="{FF2B5EF4-FFF2-40B4-BE49-F238E27FC236}">
                <a16:creationId xmlns:a16="http://schemas.microsoft.com/office/drawing/2014/main" id="{67472232-A9EB-45BD-A04B-49E374F3A3C0}"/>
              </a:ext>
            </a:extLst>
          </p:cNvPr>
          <p:cNvSpPr>
            <a:spLocks noGrp="1"/>
          </p:cNvSpPr>
          <p:nvPr/>
        </p:nvSpPr>
        <p:spPr>
          <a:xfrm>
            <a:off x="609600" y="990600"/>
            <a:ext cx="10744200" cy="441960"/>
          </a:xfrm>
          <a:prstGeom prst="rect">
            <a:avLst/>
          </a:prstGeom>
          <a:noFill/>
          <a:ln w="0">
            <a:noFill/>
          </a:ln>
        </p:spPr>
        <p:txBody>
          <a:bodyPr anchor="t">
            <a:noAutofit/>
          </a:bodyPr>
          <a:lstStyle/>
          <a:p>
            <a:pPr>
              <a:buNone/>
              <a:defRPr sz="1500" b="0">
                <a:solidFill>
                  <a:srgbClr val="64736C"/>
                </a:solidFill>
                <a:latin typeface="Arial"/>
                <a:ea typeface="Arial"/>
                <a:cs typeface="Arial"/>
              </a:defRPr>
            </a:pPr>
            <a:r>
              <a:rPr sz="1500" b="0">
                <a:solidFill>
                  <a:srgbClr val="64736C"/>
                </a:solidFill>
                <a:latin typeface="Arial"/>
                <a:ea typeface="Arial"/>
                <a:cs typeface="Arial"/>
              </a:rPr>
              <a:t>Waktu total termasuk implementasi card dan pengisian data dummy</a:t>
            </a:r>
          </a:p>
        </p:txBody>
      </p:sp>
      <p:sp>
        <p:nvSpPr>
          <p:cNvPr id="3" name="HTML-FMX · Healthcare wireframe case study">
            <a:extLst>
              <a:ext uri="{FF2B5EF4-FFF2-40B4-BE49-F238E27FC236}">
                <a16:creationId xmlns:a16="http://schemas.microsoft.com/office/drawing/2014/main" id="{71C36B00-8CCE-45BD-B6C5-8066BB08028D}"/>
              </a:ext>
            </a:extLst>
          </p:cNvPr>
          <p:cNvSpPr>
            <a:spLocks noGrp="1"/>
          </p:cNvSpPr>
          <p:nvPr/>
        </p:nvSpPr>
        <p:spPr>
          <a:xfrm>
            <a:off x="609600" y="6537960"/>
            <a:ext cx="6858000" cy="167640"/>
          </a:xfrm>
          <a:prstGeom prst="rect">
            <a:avLst/>
          </a:prstGeom>
          <a:noFill/>
          <a:ln w="0">
            <a:noFill/>
          </a:ln>
        </p:spPr>
        <p:txBody>
          <a:bodyPr anchor="t">
            <a:noAutofit/>
          </a:bodyPr>
          <a:lstStyle/>
          <a:p>
            <a:pPr>
              <a:buNone/>
              <a:defRPr sz="960" b="0">
                <a:solidFill>
                  <a:srgbClr val="64736C"/>
                </a:solidFill>
                <a:latin typeface="Arial"/>
                <a:ea typeface="Arial"/>
                <a:cs typeface="Arial"/>
              </a:defRPr>
            </a:pPr>
            <a:r>
              <a:rPr sz="960" b="0">
                <a:solidFill>
                  <a:srgbClr val="64736C"/>
                </a:solidFill>
                <a:latin typeface="Arial"/>
                <a:ea typeface="Arial"/>
                <a:cs typeface="Arial"/>
              </a:rPr>
              <a:t>HTML-FMX · Healthcare wireframe case study</a:t>
            </a:r>
          </a:p>
        </p:txBody>
      </p:sp>
      <p:sp>
        <p:nvSpPr>
          <p:cNvPr id="4" name="Metode 3: Mapping terpisah">
            <a:extLst>
              <a:ext uri="{FF2B5EF4-FFF2-40B4-BE49-F238E27FC236}">
                <a16:creationId xmlns:a16="http://schemas.microsoft.com/office/drawing/2014/main" id="{035945F9-82A1-45ED-AF74-5ECB35DF1813}"/>
              </a:ext>
            </a:extLst>
          </p:cNvPr>
          <p:cNvSpPr>
            <a:spLocks noGrp="1"/>
          </p:cNvSpPr>
          <p:nvPr/>
        </p:nvSpPr>
        <p:spPr>
          <a:xfrm>
            <a:off x="609600" y="1699260"/>
            <a:ext cx="5067300" cy="800100"/>
          </a:xfrm>
          <a:prstGeom prst="rect">
            <a:avLst/>
          </a:prstGeom>
          <a:noFill/>
          <a:ln w="0">
            <a:noFill/>
          </a:ln>
        </p:spPr>
        <p:txBody>
          <a:bodyPr anchor="t">
            <a:noAutofit/>
          </a:bodyPr>
          <a:lstStyle/>
          <a:p>
            <a:pPr>
              <a:buNone/>
              <a:defRPr sz="2100" b="1">
                <a:solidFill>
                  <a:srgbClr val="1F6F54"/>
                </a:solidFill>
                <a:latin typeface="Arial"/>
                <a:ea typeface="Arial"/>
                <a:cs typeface="Arial"/>
              </a:defRPr>
            </a:pPr>
            <a:r>
              <a:rPr sz="2100" b="1">
                <a:solidFill>
                  <a:srgbClr val="1F6F54"/>
                </a:solidFill>
                <a:latin typeface="Arial"/>
                <a:ea typeface="Arial"/>
                <a:cs typeface="Arial"/>
              </a:rPr>
              <a:t>Metode 3: Mapping terpisah</a:t>
            </a:r>
          </a:p>
        </p:txBody>
      </p:sp>
      <p:sp>
        <p:nvSpPr>
          <p:cNvPr id="5" name="55m 22s">
            <a:extLst>
              <a:ext uri="{FF2B5EF4-FFF2-40B4-BE49-F238E27FC236}">
                <a16:creationId xmlns:a16="http://schemas.microsoft.com/office/drawing/2014/main" id="{7CFB81CF-DA9F-4C6D-86BB-1448CB79BA1D}"/>
              </a:ext>
            </a:extLst>
          </p:cNvPr>
          <p:cNvSpPr>
            <a:spLocks noGrp="1"/>
          </p:cNvSpPr>
          <p:nvPr/>
        </p:nvSpPr>
        <p:spPr>
          <a:xfrm>
            <a:off x="609600" y="2667000"/>
            <a:ext cx="5067300" cy="548640"/>
          </a:xfrm>
          <a:prstGeom prst="rect">
            <a:avLst/>
          </a:prstGeom>
          <a:noFill/>
          <a:ln w="0">
            <a:noFill/>
          </a:ln>
        </p:spPr>
        <p:txBody>
          <a:bodyPr anchor="t">
            <a:noAutofit/>
          </a:bodyPr>
          <a:lstStyle/>
          <a:p>
            <a:pPr>
              <a:buNone/>
              <a:defRPr sz="3120" b="1">
                <a:solidFill>
                  <a:srgbClr val="172820"/>
                </a:solidFill>
                <a:latin typeface="Arial"/>
                <a:ea typeface="Arial"/>
                <a:cs typeface="Arial"/>
              </a:defRPr>
            </a:pPr>
            <a:r>
              <a:rPr sz="3120" b="1">
                <a:solidFill>
                  <a:srgbClr val="172820"/>
                </a:solidFill>
                <a:latin typeface="Arial"/>
                <a:ea typeface="Arial"/>
                <a:cs typeface="Arial"/>
              </a:rPr>
              <a:t>55m 22s</a:t>
            </a:r>
          </a:p>
        </p:txBody>
      </p:sp>
      <p:sp>
        <p:nvSpPr>
          <p:cNvPr id="6" name="Waktu paling lama">
            <a:extLst>
              <a:ext uri="{FF2B5EF4-FFF2-40B4-BE49-F238E27FC236}">
                <a16:creationId xmlns:a16="http://schemas.microsoft.com/office/drawing/2014/main" id="{CDC40AB7-C560-49F3-A818-AC7379767DF0}"/>
              </a:ext>
            </a:extLst>
          </p:cNvPr>
          <p:cNvSpPr>
            <a:spLocks noGrp="1"/>
          </p:cNvSpPr>
          <p:nvPr/>
        </p:nvSpPr>
        <p:spPr>
          <a:xfrm>
            <a:off x="609600" y="3276600"/>
            <a:ext cx="5067300" cy="335280"/>
          </a:xfrm>
          <a:prstGeom prst="rect">
            <a:avLst/>
          </a:prstGeom>
          <a:noFill/>
          <a:ln w="0">
            <a:noFill/>
          </a:ln>
        </p:spPr>
        <p:txBody>
          <a:bodyPr anchor="t">
            <a:noAutofit/>
          </a:bodyPr>
          <a:lstStyle/>
          <a:p>
            <a:pPr>
              <a:buNone/>
              <a:defRPr sz="1620" b="0">
                <a:solidFill>
                  <a:srgbClr val="64736C"/>
                </a:solidFill>
                <a:latin typeface="Arial"/>
                <a:ea typeface="Arial"/>
                <a:cs typeface="Arial"/>
              </a:defRPr>
            </a:pPr>
            <a:r>
              <a:rPr sz="1620" b="0">
                <a:solidFill>
                  <a:srgbClr val="64736C"/>
                </a:solidFill>
                <a:latin typeface="Arial"/>
                <a:ea typeface="Arial"/>
                <a:cs typeface="Arial"/>
              </a:rPr>
              <a:t>Waktu paling lama</a:t>
            </a:r>
          </a:p>
        </p:txBody>
      </p:sp>
      <p:sp>
        <p:nvSpPr>
          <p:cNvPr id="7" name="Paling sesuai dengan susunan wireframe menurut author. Hasil">
            <a:extLst>
              <a:ext uri="{FF2B5EF4-FFF2-40B4-BE49-F238E27FC236}">
                <a16:creationId xmlns:a16="http://schemas.microsoft.com/office/drawing/2014/main" id="{46496687-E61E-450D-AA33-30C4C99D8366}"/>
              </a:ext>
            </a:extLst>
          </p:cNvPr>
          <p:cNvSpPr>
            <a:spLocks noGrp="1"/>
          </p:cNvSpPr>
          <p:nvPr/>
        </p:nvSpPr>
        <p:spPr>
          <a:xfrm>
            <a:off x="609600" y="3771900"/>
            <a:ext cx="5067300" cy="1341120"/>
          </a:xfrm>
          <a:prstGeom prst="rect">
            <a:avLst/>
          </a:prstGeom>
          <a:noFill/>
          <a:ln w="0">
            <a:noFill/>
          </a:ln>
        </p:spPr>
        <p:txBody>
          <a:bodyPr anchor="t">
            <a:noAutofit/>
          </a:bodyPr>
          <a:lstStyle/>
          <a:p>
            <a:pPr>
              <a:buNone/>
              <a:defRPr sz="1740" b="0">
                <a:solidFill>
                  <a:srgbClr val="172820"/>
                </a:solidFill>
                <a:latin typeface="Arial"/>
                <a:ea typeface="Arial"/>
                <a:cs typeface="Arial"/>
              </a:defRPr>
            </a:pPr>
            <a:r>
              <a:rPr sz="1740" b="0">
                <a:solidFill>
                  <a:srgbClr val="172820"/>
                </a:solidFill>
                <a:latin typeface="Arial"/>
                <a:ea typeface="Arial"/>
                <a:cs typeface="Arial"/>
              </a:rPr>
              <a:t>Paling sesuai dengan susunan wireframe menurut author. Hasil visual masih mentah. Tahap mapping terpisah belum memberi peningkatan visual pada percobaan ini.</a:t>
            </a:r>
          </a:p>
        </p:txBody>
      </p:sp>
      <p:sp>
        <p:nvSpPr>
          <p:cNvPr id="8" name="Warna mengikuti DESIGN.md. UI awal: 8m 16s mapping + 41m 54s">
            <a:extLst>
              <a:ext uri="{FF2B5EF4-FFF2-40B4-BE49-F238E27FC236}">
                <a16:creationId xmlns:a16="http://schemas.microsoft.com/office/drawing/2014/main" id="{E305706A-641A-472A-AC74-D208D133A4AD}"/>
              </a:ext>
            </a:extLst>
          </p:cNvPr>
          <p:cNvSpPr>
            <a:spLocks noGrp="1"/>
          </p:cNvSpPr>
          <p:nvPr/>
        </p:nvSpPr>
        <p:spPr>
          <a:xfrm>
            <a:off x="609600" y="5143500"/>
            <a:ext cx="5067300" cy="800100"/>
          </a:xfrm>
          <a:prstGeom prst="rect">
            <a:avLst/>
          </a:prstGeom>
          <a:noFill/>
          <a:ln w="0">
            <a:noFill/>
          </a:ln>
        </p:spPr>
        <p:txBody>
          <a:bodyPr anchor="t">
            <a:noAutofit/>
          </a:bodyPr>
          <a:lstStyle/>
          <a:p>
            <a:pPr>
              <a:buNone/>
              <a:defRPr sz="1560" b="0">
                <a:solidFill>
                  <a:srgbClr val="64736C"/>
                </a:solidFill>
                <a:latin typeface="Arial"/>
                <a:ea typeface="Arial"/>
                <a:cs typeface="Arial"/>
              </a:defRPr>
            </a:pPr>
            <a:r>
              <a:rPr sz="1560" b="0">
                <a:solidFill>
                  <a:srgbClr val="64736C"/>
                </a:solidFill>
                <a:latin typeface="Arial"/>
                <a:ea typeface="Arial"/>
                <a:cs typeface="Arial"/>
              </a:rPr>
              <a:t>Warna mengikuti DESIGN.md. UI awal: 8m 16s mapping + 41m 54s implementasi.</a:t>
            </a:r>
          </a:p>
        </p:txBody>
      </p:sp>
      <p:sp>
        <p:nvSpPr>
          <p:cNvPr id="9" name="Metode 4: HTML buatan agent">
            <a:extLst>
              <a:ext uri="{FF2B5EF4-FFF2-40B4-BE49-F238E27FC236}">
                <a16:creationId xmlns:a16="http://schemas.microsoft.com/office/drawing/2014/main" id="{370695B5-3B4A-4317-92C1-B2A5D2605714}"/>
              </a:ext>
            </a:extLst>
          </p:cNvPr>
          <p:cNvSpPr>
            <a:spLocks noGrp="1"/>
          </p:cNvSpPr>
          <p:nvPr/>
        </p:nvSpPr>
        <p:spPr>
          <a:xfrm>
            <a:off x="6477000" y="1699260"/>
            <a:ext cx="5029200" cy="800100"/>
          </a:xfrm>
          <a:prstGeom prst="rect">
            <a:avLst/>
          </a:prstGeom>
          <a:noFill/>
          <a:ln w="0">
            <a:noFill/>
          </a:ln>
        </p:spPr>
        <p:txBody>
          <a:bodyPr anchor="t">
            <a:noAutofit/>
          </a:bodyPr>
          <a:lstStyle/>
          <a:p>
            <a:pPr>
              <a:buNone/>
              <a:defRPr sz="2100" b="1">
                <a:solidFill>
                  <a:srgbClr val="1F6F54"/>
                </a:solidFill>
                <a:latin typeface="Arial"/>
                <a:ea typeface="Arial"/>
                <a:cs typeface="Arial"/>
              </a:defRPr>
            </a:pPr>
            <a:r>
              <a:rPr sz="2100" b="1">
                <a:solidFill>
                  <a:srgbClr val="1F6F54"/>
                </a:solidFill>
                <a:latin typeface="Arial"/>
                <a:ea typeface="Arial"/>
                <a:cs typeface="Arial"/>
              </a:rPr>
              <a:t>Metode 4: HTML buatan agent</a:t>
            </a:r>
          </a:p>
        </p:txBody>
      </p:sp>
      <p:sp>
        <p:nvSpPr>
          <p:cNvPr id="10" name="23m 33s">
            <a:extLst>
              <a:ext uri="{FF2B5EF4-FFF2-40B4-BE49-F238E27FC236}">
                <a16:creationId xmlns:a16="http://schemas.microsoft.com/office/drawing/2014/main" id="{C73B2C76-A93F-4ECF-B6DF-4D5A5F51FAE3}"/>
              </a:ext>
            </a:extLst>
          </p:cNvPr>
          <p:cNvSpPr>
            <a:spLocks noGrp="1"/>
          </p:cNvSpPr>
          <p:nvPr/>
        </p:nvSpPr>
        <p:spPr>
          <a:xfrm>
            <a:off x="6477000" y="2667000"/>
            <a:ext cx="5029200" cy="548640"/>
          </a:xfrm>
          <a:prstGeom prst="rect">
            <a:avLst/>
          </a:prstGeom>
          <a:noFill/>
          <a:ln w="0">
            <a:noFill/>
          </a:ln>
        </p:spPr>
        <p:txBody>
          <a:bodyPr anchor="t">
            <a:noAutofit/>
          </a:bodyPr>
          <a:lstStyle/>
          <a:p>
            <a:pPr>
              <a:buNone/>
              <a:defRPr sz="3120" b="1">
                <a:solidFill>
                  <a:srgbClr val="172820"/>
                </a:solidFill>
                <a:latin typeface="Arial"/>
                <a:ea typeface="Arial"/>
                <a:cs typeface="Arial"/>
              </a:defRPr>
            </a:pPr>
            <a:r>
              <a:rPr sz="3120" b="1">
                <a:solidFill>
                  <a:srgbClr val="172820"/>
                </a:solidFill>
                <a:latin typeface="Arial"/>
                <a:ea typeface="Arial"/>
                <a:cs typeface="Arial"/>
              </a:rPr>
              <a:t>23m 33s</a:t>
            </a:r>
          </a:p>
        </p:txBody>
      </p:sp>
      <p:sp>
        <p:nvSpPr>
          <p:cNvPr id="11" name="Waktu paling cepat">
            <a:extLst>
              <a:ext uri="{FF2B5EF4-FFF2-40B4-BE49-F238E27FC236}">
                <a16:creationId xmlns:a16="http://schemas.microsoft.com/office/drawing/2014/main" id="{C9E979F6-3FAB-4DBB-852E-C4BDB7F4C1AB}"/>
              </a:ext>
            </a:extLst>
          </p:cNvPr>
          <p:cNvSpPr>
            <a:spLocks noGrp="1"/>
          </p:cNvSpPr>
          <p:nvPr/>
        </p:nvSpPr>
        <p:spPr>
          <a:xfrm>
            <a:off x="6477000" y="3276600"/>
            <a:ext cx="5029200" cy="335280"/>
          </a:xfrm>
          <a:prstGeom prst="rect">
            <a:avLst/>
          </a:prstGeom>
          <a:noFill/>
          <a:ln w="0">
            <a:noFill/>
          </a:ln>
        </p:spPr>
        <p:txBody>
          <a:bodyPr anchor="t">
            <a:noAutofit/>
          </a:bodyPr>
          <a:lstStyle/>
          <a:p>
            <a:pPr>
              <a:buNone/>
              <a:defRPr sz="1620" b="0">
                <a:solidFill>
                  <a:srgbClr val="64736C"/>
                </a:solidFill>
                <a:latin typeface="Arial"/>
                <a:ea typeface="Arial"/>
                <a:cs typeface="Arial"/>
              </a:defRPr>
            </a:pPr>
            <a:r>
              <a:rPr sz="1620" b="0">
                <a:solidFill>
                  <a:srgbClr val="64736C"/>
                </a:solidFill>
                <a:latin typeface="Arial"/>
                <a:ea typeface="Arial"/>
                <a:cs typeface="Arial"/>
              </a:rPr>
              <a:t>Waktu paling cepat</a:t>
            </a:r>
          </a:p>
        </p:txBody>
      </p:sp>
      <p:sp>
        <p:nvSpPr>
          <p:cNvPr id="12" name="Hasil visual cukup memuaskan dan total waktu paling singkat.">
            <a:extLst>
              <a:ext uri="{FF2B5EF4-FFF2-40B4-BE49-F238E27FC236}">
                <a16:creationId xmlns:a16="http://schemas.microsoft.com/office/drawing/2014/main" id="{DC9F4827-5C2F-4798-8D71-AC77F4146138}"/>
              </a:ext>
            </a:extLst>
          </p:cNvPr>
          <p:cNvSpPr>
            <a:spLocks noGrp="1"/>
          </p:cNvSpPr>
          <p:nvPr/>
        </p:nvSpPr>
        <p:spPr>
          <a:xfrm>
            <a:off x="6477000" y="3771900"/>
            <a:ext cx="5029200" cy="1341120"/>
          </a:xfrm>
          <a:prstGeom prst="rect">
            <a:avLst/>
          </a:prstGeom>
          <a:noFill/>
          <a:ln w="0">
            <a:noFill/>
          </a:ln>
        </p:spPr>
        <p:txBody>
          <a:bodyPr anchor="t">
            <a:noAutofit/>
          </a:bodyPr>
          <a:lstStyle/>
          <a:p>
            <a:pPr>
              <a:buNone/>
              <a:defRPr sz="1740" b="0">
                <a:solidFill>
                  <a:srgbClr val="172820"/>
                </a:solidFill>
                <a:latin typeface="Arial"/>
                <a:ea typeface="Arial"/>
                <a:cs typeface="Arial"/>
              </a:defRPr>
            </a:pPr>
            <a:r>
              <a:rPr sz="1740" b="0">
                <a:solidFill>
                  <a:srgbClr val="172820"/>
                </a:solidFill>
                <a:latin typeface="Arial"/>
                <a:ea typeface="Arial"/>
                <a:cs typeface="Arial"/>
              </a:rPr>
              <a:t>Hasil visual cukup memuaskan dan total waktu paling singkat. Paletnya berbeda dari aturan warna DESIGN.md.</a:t>
            </a:r>
          </a:p>
        </p:txBody>
      </p:sp>
      <p:sp>
        <p:nvSpPr>
          <p:cNvPr id="13" name="Prompt HTML tidak merujuk DESIGN.md secara eksplisit. Kepatu">
            <a:extLst>
              <a:ext uri="{FF2B5EF4-FFF2-40B4-BE49-F238E27FC236}">
                <a16:creationId xmlns:a16="http://schemas.microsoft.com/office/drawing/2014/main" id="{CB80082F-B6CF-4AE0-B311-F476B843D067}"/>
              </a:ext>
            </a:extLst>
          </p:cNvPr>
          <p:cNvSpPr>
            <a:spLocks noGrp="1"/>
          </p:cNvSpPr>
          <p:nvPr/>
        </p:nvSpPr>
        <p:spPr>
          <a:xfrm>
            <a:off x="6477000" y="5143500"/>
            <a:ext cx="5029200" cy="800100"/>
          </a:xfrm>
          <a:prstGeom prst="rect">
            <a:avLst/>
          </a:prstGeom>
          <a:noFill/>
          <a:ln w="0">
            <a:noFill/>
          </a:ln>
        </p:spPr>
        <p:txBody>
          <a:bodyPr anchor="t">
            <a:noAutofit/>
          </a:bodyPr>
          <a:lstStyle/>
          <a:p>
            <a:pPr>
              <a:buNone/>
              <a:defRPr sz="1560" b="0">
                <a:solidFill>
                  <a:srgbClr val="64736C"/>
                </a:solidFill>
                <a:latin typeface="Arial"/>
                <a:ea typeface="Arial"/>
                <a:cs typeface="Arial"/>
              </a:defRPr>
            </a:pPr>
            <a:r>
              <a:rPr sz="1560" b="0">
                <a:solidFill>
                  <a:srgbClr val="64736C"/>
                </a:solidFill>
                <a:latin typeface="Arial"/>
                <a:ea typeface="Arial"/>
                <a:cs typeface="Arial"/>
              </a:rPr>
              <a:t>Prompt HTML tidak merujuk DESIGN.md secara eksplisit. Kepatuhan warna perlu diminta sejak tahap HTML.</a:t>
            </a:r>
          </a:p>
        </p:txBody>
      </p:sp>
      <p:sp>
        <p:nvSpPr>
          <p:cNvPr id="14" name="Kesesuaian wireframe, kematangan visual, dan kepatuhan warna">
            <a:extLst>
              <a:ext uri="{FF2B5EF4-FFF2-40B4-BE49-F238E27FC236}">
                <a16:creationId xmlns:a16="http://schemas.microsoft.com/office/drawing/2014/main" id="{55DFAE62-3A99-4834-AE50-98FAACE1F279}"/>
              </a:ext>
            </a:extLst>
          </p:cNvPr>
          <p:cNvSpPr>
            <a:spLocks noGrp="1"/>
          </p:cNvSpPr>
          <p:nvPr/>
        </p:nvSpPr>
        <p:spPr>
          <a:xfrm>
            <a:off x="609600" y="6042660"/>
            <a:ext cx="10858500" cy="403860"/>
          </a:xfrm>
          <a:prstGeom prst="rect">
            <a:avLst/>
          </a:prstGeom>
          <a:noFill/>
          <a:ln w="0">
            <a:noFill/>
          </a:ln>
        </p:spPr>
        <p:txBody>
          <a:bodyPr anchor="t">
            <a:noAutofit/>
          </a:bodyPr>
          <a:lstStyle/>
          <a:p>
            <a:pPr>
              <a:buNone/>
              <a:defRPr sz="1560" b="1">
                <a:solidFill>
                  <a:srgbClr val="1F6F54"/>
                </a:solidFill>
                <a:latin typeface="Arial"/>
                <a:ea typeface="Arial"/>
                <a:cs typeface="Arial"/>
              </a:defRPr>
            </a:pPr>
            <a:r>
              <a:rPr sz="1560" b="1">
                <a:solidFill>
                  <a:srgbClr val="1F6F54"/>
                </a:solidFill>
                <a:latin typeface="Arial"/>
                <a:ea typeface="Arial"/>
                <a:cs typeface="Arial"/>
              </a:rPr>
              <a:t>Kesesuaian wireframe, kematangan visual, dan kepatuhan warna memberi penilaian yang berbeda.</a:t>
            </a:r>
          </a:p>
        </p:txBody>
      </p:sp>
      <p:sp>
        <p:nvSpPr>
          <p:cNvPr id="15" name="13">
            <a:extLst>
              <a:ext uri="{FF2B5EF4-FFF2-40B4-BE49-F238E27FC236}">
                <a16:creationId xmlns:a16="http://schemas.microsoft.com/office/drawing/2014/main" id="{55F6B0CA-30D5-4477-9675-6580D46F91E2}"/>
              </a:ext>
            </a:extLst>
          </p:cNvPr>
          <p:cNvSpPr>
            <a:spLocks noGrp="1"/>
          </p:cNvSpPr>
          <p:nvPr/>
        </p:nvSpPr>
        <p:spPr>
          <a:xfrm>
            <a:off x="11201400" y="6515100"/>
            <a:ext cx="419100" cy="182880"/>
          </a:xfrm>
          <a:prstGeom prst="rect">
            <a:avLst/>
          </a:prstGeom>
          <a:noFill/>
          <a:ln w="0">
            <a:noFill/>
          </a:ln>
        </p:spPr>
        <p:txBody>
          <a:bodyPr anchor="t">
            <a:noAutofit/>
          </a:bodyPr>
          <a:lstStyle/>
          <a:p>
            <a:pPr>
              <a:buNone/>
              <a:defRPr sz="1080" b="0">
                <a:solidFill>
                  <a:srgbClr val="64736C"/>
                </a:solidFill>
                <a:latin typeface="Arial"/>
                <a:ea typeface="Arial"/>
                <a:cs typeface="Arial"/>
              </a:defRPr>
            </a:pPr>
            <a:r>
              <a:rPr sz="1080" b="0">
                <a:solidFill>
                  <a:srgbClr val="64736C"/>
                </a:solidFill>
                <a:latin typeface="Arial"/>
                <a:ea typeface="Arial"/>
                <a:cs typeface="Arial"/>
              </a:rPr>
              <a:t>19</a:t>
            </a:r>
          </a:p>
        </p:txBody>
      </p:sp>
    </p:spTree>
    <p:extLst>
      <p:ext uri="{BB962C8B-B14F-4D97-AF65-F5344CB8AC3E}">
        <p14:creationId xmlns:p14="http://schemas.microsoft.com/office/powerpoint/2010/main" val="12988094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6F1DD5B-7F95-4384-9925-6257A55AAB29}"/>
              </a:ext>
            </a:extLst>
          </p:cNvPr>
          <p:cNvSpPr>
            <a:spLocks noGrp="1"/>
          </p:cNvSpPr>
          <p:nvPr/>
        </p:nvSpPr>
        <p:spPr>
          <a:xfrm>
            <a:off x="685800" y="6477000"/>
            <a:ext cx="5715000" cy="190500"/>
          </a:xfrm>
          <a:prstGeom prst="rect">
            <a:avLst/>
          </a:prstGeom>
          <a:noFill/>
          <a:ln w="0">
            <a:noFill/>
          </a:ln>
        </p:spPr>
        <p:txBody>
          <a:bodyPr anchor="t">
            <a:normAutofit fontScale="78788" lnSpcReduction="10000"/>
          </a:bodyPr>
          <a:lstStyle/>
          <a:p>
            <a:pPr algn="l">
              <a:buNone/>
              <a:defRPr sz="825" b="0">
                <a:solidFill>
                  <a:srgbClr val="64736C"/>
                </a:solidFill>
                <a:latin typeface="Arial"/>
                <a:ea typeface="Arial"/>
                <a:cs typeface="Arial"/>
              </a:defRPr>
            </a:pPr>
            <a:r>
              <a:rPr sz="825" b="0">
                <a:solidFill>
                  <a:srgbClr val="64736C"/>
                </a:solidFill>
                <a:latin typeface="Arial"/>
                <a:ea typeface="Arial"/>
                <a:cs typeface="Arial"/>
              </a:rPr>
              <a:t>HTML-FMX · Healthcare wireframe case study</a:t>
            </a:r>
          </a:p>
        </p:txBody>
      </p:sp>
      <p:sp>
        <p:nvSpPr>
          <p:cNvPr id="2" name="Rectangle 1">
            <a:extLst>
              <a:ext uri="{FF2B5EF4-FFF2-40B4-BE49-F238E27FC236}">
                <a16:creationId xmlns:a16="http://schemas.microsoft.com/office/drawing/2014/main" id="{CA1F331B-64BE-41CC-A5F9-CD855558CCD0}"/>
              </a:ext>
            </a:extLst>
          </p:cNvPr>
          <p:cNvSpPr>
            <a:spLocks noGrp="1"/>
          </p:cNvSpPr>
          <p:nvPr/>
        </p:nvSpPr>
        <p:spPr>
          <a:xfrm>
            <a:off x="11049000" y="6438900"/>
            <a:ext cx="457200" cy="190500"/>
          </a:xfrm>
          <a:prstGeom prst="rect">
            <a:avLst/>
          </a:prstGeom>
          <a:noFill/>
          <a:ln w="0">
            <a:noFill/>
          </a:ln>
        </p:spPr>
        <p:txBody>
          <a:bodyPr anchor="t">
            <a:normAutofit fontScale="78788" lnSpcReduction="10000"/>
          </a:bodyPr>
          <a:lstStyle/>
          <a:p>
            <a:pPr algn="r">
              <a:buNone/>
              <a:defRPr sz="825" b="0">
                <a:solidFill>
                  <a:srgbClr val="64736C"/>
                </a:solidFill>
                <a:latin typeface="Arial"/>
                <a:ea typeface="Arial"/>
                <a:cs typeface="Arial"/>
              </a:defRPr>
            </a:pPr>
            <a:r>
              <a:rPr sz="825" b="0">
                <a:solidFill>
                  <a:srgbClr val="64736C"/>
                </a:solidFill>
                <a:latin typeface="Arial"/>
                <a:ea typeface="Arial"/>
                <a:cs typeface="Arial"/>
              </a:rPr>
              <a:t>20</a:t>
            </a:r>
          </a:p>
        </p:txBody>
      </p:sp>
      <p:sp>
        <p:nvSpPr>
          <p:cNvPr id="3" name="Rectangle 2">
            <a:extLst>
              <a:ext uri="{FF2B5EF4-FFF2-40B4-BE49-F238E27FC236}">
                <a16:creationId xmlns:a16="http://schemas.microsoft.com/office/drawing/2014/main" id="{1A0B0F66-C24E-4F07-B7A7-70E987F1DD69}"/>
              </a:ext>
            </a:extLst>
          </p:cNvPr>
          <p:cNvSpPr>
            <a:spLocks noGrp="1"/>
          </p:cNvSpPr>
          <p:nvPr/>
        </p:nvSpPr>
        <p:spPr>
          <a:xfrm>
            <a:off x="685800" y="514350"/>
            <a:ext cx="10668000" cy="495300"/>
          </a:xfrm>
          <a:prstGeom prst="rect">
            <a:avLst/>
          </a:prstGeom>
          <a:noFill/>
          <a:ln w="0">
            <a:noFill/>
          </a:ln>
        </p:spPr>
        <p:txBody>
          <a:bodyPr anchor="t">
            <a:normAutofit/>
          </a:bodyPr>
          <a:lstStyle/>
          <a:p>
            <a:pPr algn="l">
              <a:buNone/>
              <a:defRPr sz="2400" b="1">
                <a:solidFill>
                  <a:srgbClr val="172820"/>
                </a:solidFill>
                <a:latin typeface="Arial"/>
                <a:ea typeface="Arial"/>
                <a:cs typeface="Arial"/>
              </a:defRPr>
            </a:pPr>
            <a:r>
              <a:rPr sz="2400" b="1">
                <a:solidFill>
                  <a:srgbClr val="172820"/>
                </a:solidFill>
                <a:latin typeface="Arial"/>
                <a:ea typeface="Arial"/>
                <a:cs typeface="Arial"/>
              </a:rPr>
              <a:t>HTML-FMX sebagai governance layer untuk UI AI</a:t>
            </a:r>
          </a:p>
        </p:txBody>
      </p:sp>
      <p:sp>
        <p:nvSpPr>
          <p:cNvPr id="4" name="Rectangle 3">
            <a:extLst>
              <a:ext uri="{FF2B5EF4-FFF2-40B4-BE49-F238E27FC236}">
                <a16:creationId xmlns:a16="http://schemas.microsoft.com/office/drawing/2014/main" id="{99DC73C0-3DFC-4737-95CD-CD1EBA0B9F6C}"/>
              </a:ext>
            </a:extLst>
          </p:cNvPr>
          <p:cNvSpPr>
            <a:spLocks noGrp="1"/>
          </p:cNvSpPr>
          <p:nvPr/>
        </p:nvSpPr>
        <p:spPr>
          <a:xfrm>
            <a:off x="685800" y="1066800"/>
            <a:ext cx="10287000" cy="323850"/>
          </a:xfrm>
          <a:prstGeom prst="rect">
            <a:avLst/>
          </a:prstGeom>
          <a:noFill/>
          <a:ln w="0">
            <a:noFill/>
          </a:ln>
        </p:spPr>
        <p:txBody>
          <a:bodyPr anchor="t">
            <a:normAutofit/>
          </a:bodyPr>
          <a:lstStyle/>
          <a:p>
            <a:pPr algn="l">
              <a:buNone/>
              <a:defRPr sz="1200" b="0">
                <a:solidFill>
                  <a:srgbClr val="64736C"/>
                </a:solidFill>
                <a:latin typeface="Arial"/>
                <a:ea typeface="Arial"/>
                <a:cs typeface="Arial"/>
              </a:defRPr>
            </a:pPr>
            <a:r>
              <a:rPr sz="1200" b="0">
                <a:solidFill>
                  <a:srgbClr val="64736C"/>
                </a:solidFill>
                <a:latin typeface="Arial"/>
                <a:ea typeface="Arial"/>
                <a:cs typeface="Arial"/>
              </a:rPr>
              <a:t>Skill memberi agent batas yang dapat diperiksa: pilihan input boleh berbeda, tetapi hasilnya tetap mengikuti aturan native FMX.</a:t>
            </a:r>
          </a:p>
        </p:txBody>
      </p:sp>
      <p:sp>
        <p:nvSpPr>
          <p:cNvPr id="5" name="Rectangle 4">
            <a:extLst>
              <a:ext uri="{FF2B5EF4-FFF2-40B4-BE49-F238E27FC236}">
                <a16:creationId xmlns:a16="http://schemas.microsoft.com/office/drawing/2014/main" id="{C1C467FD-529A-4936-9582-80D8AB4D5D4A}"/>
              </a:ext>
            </a:extLst>
          </p:cNvPr>
          <p:cNvSpPr>
            <a:spLocks noGrp="1"/>
          </p:cNvSpPr>
          <p:nvPr/>
        </p:nvSpPr>
        <p:spPr>
          <a:xfrm>
            <a:off x="685800" y="2000250"/>
            <a:ext cx="2667000" cy="342900"/>
          </a:xfrm>
          <a:prstGeom prst="rect">
            <a:avLst/>
          </a:prstGeom>
          <a:noFill/>
          <a:ln w="0">
            <a:noFill/>
          </a:ln>
        </p:spPr>
        <p:txBody>
          <a:bodyPr anchor="t">
            <a:normAutofit fontScale="95652"/>
          </a:bodyPr>
          <a:lstStyle/>
          <a:p>
            <a:pPr algn="l">
              <a:buNone/>
              <a:defRPr sz="1725" b="1">
                <a:solidFill>
                  <a:srgbClr val="1F6F54"/>
                </a:solidFill>
                <a:latin typeface="Arial"/>
                <a:ea typeface="Arial"/>
                <a:cs typeface="Arial"/>
              </a:defRPr>
            </a:pPr>
            <a:r>
              <a:rPr sz="1725" b="1">
                <a:solidFill>
                  <a:srgbClr val="1F6F54"/>
                </a:solidFill>
                <a:latin typeface="Arial"/>
                <a:ea typeface="Arial"/>
                <a:cs typeface="Arial"/>
              </a:rPr>
              <a:t>Bukan transpiler</a:t>
            </a:r>
          </a:p>
        </p:txBody>
      </p:sp>
      <p:sp>
        <p:nvSpPr>
          <p:cNvPr id="6" name="Rectangle 5">
            <a:extLst>
              <a:ext uri="{FF2B5EF4-FFF2-40B4-BE49-F238E27FC236}">
                <a16:creationId xmlns:a16="http://schemas.microsoft.com/office/drawing/2014/main" id="{CAC0D19D-72E7-42EB-9891-AF032CD3B70F}"/>
              </a:ext>
            </a:extLst>
          </p:cNvPr>
          <p:cNvSpPr>
            <a:spLocks noGrp="1"/>
          </p:cNvSpPr>
          <p:nvPr/>
        </p:nvSpPr>
        <p:spPr>
          <a:xfrm>
            <a:off x="685800" y="2495550"/>
            <a:ext cx="3000375" cy="781050"/>
          </a:xfrm>
          <a:prstGeom prst="rect">
            <a:avLst/>
          </a:prstGeom>
          <a:noFill/>
          <a:ln w="0">
            <a:noFill/>
          </a:ln>
        </p:spPr>
        <p:txBody>
          <a:bodyPr anchor="t">
            <a:normAutofit fontScale="86419"/>
          </a:bodyPr>
          <a:lstStyle/>
          <a:p>
            <a:pPr algn="l">
              <a:buNone/>
              <a:defRPr sz="1350" b="0">
                <a:solidFill>
                  <a:srgbClr val="172820"/>
                </a:solidFill>
                <a:latin typeface="Arial"/>
                <a:ea typeface="Arial"/>
                <a:cs typeface="Arial"/>
              </a:defRPr>
            </a:pPr>
            <a:r>
              <a:rPr sz="1350" b="0">
                <a:solidFill>
                  <a:srgbClr val="172820"/>
                </a:solidFill>
                <a:latin typeface="Arial"/>
                <a:ea typeface="Arial"/>
                <a:cs typeface="Arial"/>
              </a:rPr>
              <a:t>Menerjemahkan HTML atau wireframe secara harfiah akan membawa wrapper dan asumsi web ke proyek Delphi.</a:t>
            </a:r>
          </a:p>
        </p:txBody>
      </p:sp>
      <p:sp>
        <p:nvSpPr>
          <p:cNvPr id="7" name="Rectangle 6">
            <a:extLst>
              <a:ext uri="{FF2B5EF4-FFF2-40B4-BE49-F238E27FC236}">
                <a16:creationId xmlns:a16="http://schemas.microsoft.com/office/drawing/2014/main" id="{191E6C4E-4B3C-4B30-AD72-0B1E5FA92085}"/>
              </a:ext>
            </a:extLst>
          </p:cNvPr>
          <p:cNvSpPr>
            <a:spLocks noGrp="1"/>
          </p:cNvSpPr>
          <p:nvPr/>
        </p:nvSpPr>
        <p:spPr>
          <a:xfrm>
            <a:off x="4438650" y="2000250"/>
            <a:ext cx="3238500" cy="342900"/>
          </a:xfrm>
          <a:prstGeom prst="rect">
            <a:avLst/>
          </a:prstGeom>
          <a:noFill/>
          <a:ln w="0">
            <a:noFill/>
          </a:ln>
        </p:spPr>
        <p:txBody>
          <a:bodyPr anchor="t">
            <a:normAutofit fontScale="95652"/>
          </a:bodyPr>
          <a:lstStyle/>
          <a:p>
            <a:pPr algn="l">
              <a:buNone/>
              <a:defRPr sz="1725" b="1">
                <a:solidFill>
                  <a:srgbClr val="1F6F54"/>
                </a:solidFill>
                <a:latin typeface="Arial"/>
                <a:ea typeface="Arial"/>
                <a:cs typeface="Arial"/>
              </a:defRPr>
            </a:pPr>
            <a:r>
              <a:rPr sz="1725" b="1">
                <a:solidFill>
                  <a:srgbClr val="1F6F54"/>
                </a:solidFill>
                <a:latin typeface="Arial"/>
                <a:ea typeface="Arial"/>
                <a:cs typeface="Arial"/>
              </a:rPr>
              <a:t>Bukan generator sekali pakai</a:t>
            </a:r>
          </a:p>
        </p:txBody>
      </p:sp>
      <p:sp>
        <p:nvSpPr>
          <p:cNvPr id="8" name="Rectangle 7">
            <a:extLst>
              <a:ext uri="{FF2B5EF4-FFF2-40B4-BE49-F238E27FC236}">
                <a16:creationId xmlns:a16="http://schemas.microsoft.com/office/drawing/2014/main" id="{7912F7DA-446F-4311-ACF0-2266A0E513F4}"/>
              </a:ext>
            </a:extLst>
          </p:cNvPr>
          <p:cNvSpPr>
            <a:spLocks noGrp="1"/>
          </p:cNvSpPr>
          <p:nvPr/>
        </p:nvSpPr>
        <p:spPr>
          <a:xfrm>
            <a:off x="4438650" y="2495550"/>
            <a:ext cx="3143250" cy="781050"/>
          </a:xfrm>
          <a:prstGeom prst="rect">
            <a:avLst/>
          </a:prstGeom>
          <a:noFill/>
          <a:ln w="0">
            <a:noFill/>
          </a:ln>
        </p:spPr>
        <p:txBody>
          <a:bodyPr anchor="t">
            <a:normAutofit/>
          </a:bodyPr>
          <a:lstStyle/>
          <a:p>
            <a:pPr algn="l">
              <a:buNone/>
              <a:defRPr sz="1350" b="0">
                <a:solidFill>
                  <a:srgbClr val="172820"/>
                </a:solidFill>
                <a:latin typeface="Arial"/>
                <a:ea typeface="Arial"/>
                <a:cs typeface="Arial"/>
              </a:defRPr>
            </a:pPr>
            <a:r>
              <a:rPr sz="1350" b="0">
                <a:solidFill>
                  <a:srgbClr val="172820"/>
                </a:solidFill>
                <a:latin typeface="Arial"/>
                <a:ea typeface="Arial"/>
                <a:cs typeface="Arial"/>
              </a:rPr>
              <a:t>Hasil harus dapat dibuka, dipahami, dan diubah oleh developer Delphi berikutnya di RAD Studio Designer.</a:t>
            </a:r>
          </a:p>
        </p:txBody>
      </p:sp>
      <p:sp>
        <p:nvSpPr>
          <p:cNvPr id="9" name="Rectangle 8">
            <a:extLst>
              <a:ext uri="{FF2B5EF4-FFF2-40B4-BE49-F238E27FC236}">
                <a16:creationId xmlns:a16="http://schemas.microsoft.com/office/drawing/2014/main" id="{10B52881-C971-4D47-835D-F1E4EE0A0727}"/>
              </a:ext>
            </a:extLst>
          </p:cNvPr>
          <p:cNvSpPr>
            <a:spLocks noGrp="1"/>
          </p:cNvSpPr>
          <p:nvPr/>
        </p:nvSpPr>
        <p:spPr>
          <a:xfrm>
            <a:off x="8191500" y="2000250"/>
            <a:ext cx="2095500" cy="342900"/>
          </a:xfrm>
          <a:prstGeom prst="rect">
            <a:avLst/>
          </a:prstGeom>
          <a:noFill/>
          <a:ln w="0">
            <a:noFill/>
          </a:ln>
        </p:spPr>
        <p:txBody>
          <a:bodyPr anchor="t">
            <a:normAutofit fontScale="95652"/>
          </a:bodyPr>
          <a:lstStyle/>
          <a:p>
            <a:pPr algn="l">
              <a:buNone/>
              <a:defRPr sz="1725" b="1">
                <a:solidFill>
                  <a:srgbClr val="1F6F54"/>
                </a:solidFill>
                <a:latin typeface="Arial"/>
                <a:ea typeface="Arial"/>
                <a:cs typeface="Arial"/>
              </a:defRPr>
            </a:pPr>
            <a:r>
              <a:rPr sz="1725" b="1">
                <a:solidFill>
                  <a:srgbClr val="1F6F54"/>
                </a:solidFill>
                <a:latin typeface="Arial"/>
                <a:ea typeface="Arial"/>
                <a:cs typeface="Arial"/>
              </a:rPr>
              <a:t>Arah V2</a:t>
            </a:r>
          </a:p>
        </p:txBody>
      </p:sp>
      <p:sp>
        <p:nvSpPr>
          <p:cNvPr id="10" name="Rectangle 9">
            <a:extLst>
              <a:ext uri="{FF2B5EF4-FFF2-40B4-BE49-F238E27FC236}">
                <a16:creationId xmlns:a16="http://schemas.microsoft.com/office/drawing/2014/main" id="{2F7687D2-3B19-4B1D-B9E5-D82A783F0EA0}"/>
              </a:ext>
            </a:extLst>
          </p:cNvPr>
          <p:cNvSpPr>
            <a:spLocks noGrp="1"/>
          </p:cNvSpPr>
          <p:nvPr/>
        </p:nvSpPr>
        <p:spPr>
          <a:xfrm>
            <a:off x="8191500" y="2495550"/>
            <a:ext cx="2857500" cy="781050"/>
          </a:xfrm>
          <a:prstGeom prst="rect">
            <a:avLst/>
          </a:prstGeom>
          <a:noFill/>
          <a:ln w="0">
            <a:noFill/>
          </a:ln>
        </p:spPr>
        <p:txBody>
          <a:bodyPr anchor="t">
            <a:normAutofit/>
          </a:bodyPr>
          <a:lstStyle/>
          <a:p>
            <a:pPr algn="l">
              <a:buNone/>
              <a:defRPr sz="1350" b="0">
                <a:solidFill>
                  <a:srgbClr val="172820"/>
                </a:solidFill>
                <a:latin typeface="Arial"/>
                <a:ea typeface="Arial"/>
                <a:cs typeface="Arial"/>
              </a:defRPr>
            </a:pPr>
            <a:r>
              <a:rPr sz="1350" b="0">
                <a:solidFill>
                  <a:srgbClr val="172820"/>
                </a:solidFill>
                <a:latin typeface="Arial"/>
                <a:ea typeface="Arial"/>
                <a:cs typeface="Arial"/>
              </a:rPr>
              <a:t>Berbagai entry point: HTML, brief, screenshot, wireframe, serta review UI FMX yang sudah ada.</a:t>
            </a:r>
          </a:p>
        </p:txBody>
      </p:sp>
      <p:sp>
        <p:nvSpPr>
          <p:cNvPr id="11" name="Rectangle: Rounded Corners 10">
            <a:extLst>
              <a:ext uri="{FF2B5EF4-FFF2-40B4-BE49-F238E27FC236}">
                <a16:creationId xmlns:a16="http://schemas.microsoft.com/office/drawing/2014/main" id="{155F93AF-2E88-4203-85F0-033EE0743828}"/>
              </a:ext>
            </a:extLst>
          </p:cNvPr>
          <p:cNvSpPr>
            <a:spLocks noGrp="1"/>
          </p:cNvSpPr>
          <p:nvPr/>
        </p:nvSpPr>
        <p:spPr>
          <a:xfrm>
            <a:off x="685800" y="4495800"/>
            <a:ext cx="10001250" cy="876300"/>
          </a:xfrm>
          <a:prstGeom prst="roundRect">
            <a:avLst>
              <a:gd name="adj" fmla="val 13043"/>
            </a:avLst>
          </a:prstGeom>
          <a:solidFill>
            <a:srgbClr val="172820"/>
          </a:solidFill>
          <a:ln w="0">
            <a:noFill/>
          </a:ln>
        </p:spPr>
      </p:sp>
      <p:sp>
        <p:nvSpPr>
          <p:cNvPr id="12" name="Rectangle 11">
            <a:extLst>
              <a:ext uri="{FF2B5EF4-FFF2-40B4-BE49-F238E27FC236}">
                <a16:creationId xmlns:a16="http://schemas.microsoft.com/office/drawing/2014/main" id="{98C8618D-EE44-4863-8AB5-245CDC8B4B9A}"/>
              </a:ext>
            </a:extLst>
          </p:cNvPr>
          <p:cNvSpPr>
            <a:spLocks noGrp="1"/>
          </p:cNvSpPr>
          <p:nvPr/>
        </p:nvSpPr>
        <p:spPr>
          <a:xfrm>
            <a:off x="1028700" y="4762500"/>
            <a:ext cx="9334500" cy="333375"/>
          </a:xfrm>
          <a:prstGeom prst="rect">
            <a:avLst/>
          </a:prstGeom>
          <a:noFill/>
          <a:ln w="0">
            <a:noFill/>
          </a:ln>
        </p:spPr>
        <p:txBody>
          <a:bodyPr anchor="t">
            <a:normAutofit fontScale="82978" lnSpcReduction="10000"/>
          </a:bodyPr>
          <a:lstStyle/>
          <a:p>
            <a:pPr algn="ctr">
              <a:buNone/>
              <a:defRPr sz="1875" b="1">
                <a:solidFill>
                  <a:srgbClr val="FFFFFF"/>
                </a:solidFill>
                <a:latin typeface="Arial"/>
                <a:ea typeface="Arial"/>
                <a:cs typeface="Arial"/>
              </a:defRPr>
            </a:pPr>
            <a:r>
              <a:rPr sz="1875" b="1">
                <a:solidFill>
                  <a:srgbClr val="FFFFFF"/>
                </a:solidFill>
                <a:latin typeface="Arial"/>
                <a:ea typeface="Arial"/>
                <a:cs typeface="Arial"/>
              </a:rPr>
              <a:t>Satu wireframe, empat metode, satu pertanyaan: apakah hasil AI tetap menjadi UI FMX yang dapat dirawat?</a:t>
            </a:r>
          </a:p>
        </p:txBody>
      </p:sp>
    </p:spTree>
    <p:extLst>
      <p:ext uri="{BB962C8B-B14F-4D97-AF65-F5344CB8AC3E}">
        <p14:creationId xmlns:p14="http://schemas.microsoft.com/office/powerpoint/2010/main" val="140666839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3957</Words>
  <Application>Microsoft Office PowerPoint</Application>
  <DocSecurity>0</DocSecurity>
  <PresentationFormat>Widescreen</PresentationFormat>
  <Paragraphs>316</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Fajar Donny</cp:lastModifiedBy>
  <cp:revision>2</cp:revision>
  <dcterms:created xsi:type="dcterms:W3CDTF">2026-10-03T01:42:50Z</dcterms:created>
  <dcterms:modified xsi:type="dcterms:W3CDTF">2026-10-03T01:55:18Z</dcterms:modified>
</cp:coreProperties>
</file>