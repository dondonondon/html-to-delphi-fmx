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23bf1be6b9467b" /><Relationship Type="http://schemas.openxmlformats.org/officeDocument/2006/relationships/extended-properties" Target="/docProps/app.xml" Id="R536cfd4342bb4b90" /><Relationship Type="http://schemas.openxmlformats.org/officeDocument/2006/relationships/officeDocument" Target="/ppt/presentation.xml" Id="Rcef24ee0920f4f5d" /></Relationships>
</file>

<file path=ppt/presentation.xml><?xml version="1.0" encoding="utf-8"?>
<p:presentation xmlns:p="http://schemas.openxmlformats.org/presentationml/2006/main">
  <p:sldMasterIdLst>
    <p:sldMasterId xmlns:r="http://schemas.openxmlformats.org/officeDocument/2006/relationships" id="2147483648" r:id="R1bf926f315c34901"/>
  </p:sldMasterIdLst>
  <p:notesMasterIdLst>
    <p:notesMasterId xmlns:r="http://schemas.openxmlformats.org/officeDocument/2006/relationships" r:id="Rd341ec5757f84037"/>
  </p:notesMasterIdLst>
  <p:sldIdLst>
    <p:sldId xmlns:r="http://schemas.openxmlformats.org/officeDocument/2006/relationships" id="256" r:id="Ra41708a4d999457f"/>
    <p:sldId xmlns:r="http://schemas.openxmlformats.org/officeDocument/2006/relationships" id="257" r:id="Rc5ba666c2bcf4d81"/>
    <p:sldId xmlns:r="http://schemas.openxmlformats.org/officeDocument/2006/relationships" id="258" r:id="Rb2aa14ab15b44c36"/>
    <p:sldId xmlns:r="http://schemas.openxmlformats.org/officeDocument/2006/relationships" id="259" r:id="Reb3888af909e487a"/>
    <p:sldId xmlns:r="http://schemas.openxmlformats.org/officeDocument/2006/relationships" id="260" r:id="R66d9ce3af4194c4f"/>
    <p:sldId xmlns:r="http://schemas.openxmlformats.org/officeDocument/2006/relationships" id="261" r:id="Rbfd49f1b06544b5b"/>
    <p:sldId xmlns:r="http://schemas.openxmlformats.org/officeDocument/2006/relationships" id="262" r:id="Re77bec910a754128"/>
    <p:sldId xmlns:r="http://schemas.openxmlformats.org/officeDocument/2006/relationships" id="263" r:id="R5f7764007d4847e3"/>
    <p:sldId xmlns:r="http://schemas.openxmlformats.org/officeDocument/2006/relationships" id="264" r:id="Rb7b4de17ee2445b0"/>
    <p:sldId xmlns:r="http://schemas.openxmlformats.org/officeDocument/2006/relationships" id="265" r:id="Rda0e60fef2074c4b"/>
    <p:sldId xmlns:r="http://schemas.openxmlformats.org/officeDocument/2006/relationships" id="266" r:id="Rcbe8f400a0e54ba8"/>
    <p:sldId xmlns:r="http://schemas.openxmlformats.org/officeDocument/2006/relationships" id="267" r:id="R321f01cb0eb24041"/>
    <p:sldId xmlns:r="http://schemas.openxmlformats.org/officeDocument/2006/relationships" id="268" r:id="Rd101d2c875994683"/>
    <p:sldId xmlns:r="http://schemas.openxmlformats.org/officeDocument/2006/relationships" id="269" r:id="R0c20a4a0852f4c32"/>
    <p:sldId xmlns:r="http://schemas.openxmlformats.org/officeDocument/2006/relationships" id="270" r:id="Rfdfe103bbeb147e6"/>
    <p:sldId xmlns:r="http://schemas.openxmlformats.org/officeDocument/2006/relationships" id="271" r:id="R08188b60fce14193"/>
    <p:sldId xmlns:r="http://schemas.openxmlformats.org/officeDocument/2006/relationships" id="272" r:id="R1841ebd642d2469f"/>
    <p:sldId xmlns:r="http://schemas.openxmlformats.org/officeDocument/2006/relationships" id="273" r:id="R067af1dbeafd4b55"/>
    <p:sldId xmlns:r="http://schemas.openxmlformats.org/officeDocument/2006/relationships" id="274" r:id="R04f036fb864b42c9"/>
    <p:sldId xmlns:r="http://schemas.openxmlformats.org/officeDocument/2006/relationships" id="275" r:id="Rd23cf404e639413c"/>
    <p:sldId xmlns:r="http://schemas.openxmlformats.org/officeDocument/2006/relationships" id="276" r:id="Rde99433c30bf4946"/>
    <p:sldId xmlns:r="http://schemas.openxmlformats.org/officeDocument/2006/relationships" id="277" r:id="Rd4ceca47332042e0"/>
    <p:sldId xmlns:r="http://schemas.openxmlformats.org/officeDocument/2006/relationships" id="278" r:id="R67084a650e0b43c4"/>
    <p:sldId xmlns:r="http://schemas.openxmlformats.org/officeDocument/2006/relationships" id="279" r:id="R9493cb7fd65641dc"/>
    <p:sldId xmlns:r="http://schemas.openxmlformats.org/officeDocument/2006/relationships" id="280" r:id="Rdb6d642337294b78"/>
    <p:sldId xmlns:r="http://schemas.openxmlformats.org/officeDocument/2006/relationships" id="281" r:id="R89c44493a7d145d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f36ee4577404136" /><Relationship Type="http://schemas.openxmlformats.org/officeDocument/2006/relationships/slideMaster" Target="/ppt/slideMasters/slideMaster1.xml" Id="R1bf926f315c34901" /><Relationship Type="http://schemas.openxmlformats.org/officeDocument/2006/relationships/notesMaster" Target="/ppt/notesMasters/notesMaster1.xml" Id="Rd341ec5757f84037" /><Relationship Type="http://schemas.openxmlformats.org/officeDocument/2006/relationships/presProps" Target="/ppt/presProps.xml" Id="R8666a5f27f094825" /><Relationship Type="http://schemas.openxmlformats.org/officeDocument/2006/relationships/tableStyles" Target="/ppt/tableStyles.xml" Id="R5079468fd47e45f1" /><Relationship Type="http://schemas.openxmlformats.org/officeDocument/2006/relationships/slide" Target="/ppt/slides/slide1.xml" Id="Ra41708a4d999457f" /><Relationship Type="http://schemas.openxmlformats.org/officeDocument/2006/relationships/slide" Target="/ppt/slides/slide2.xml" Id="Rc5ba666c2bcf4d81" /><Relationship Type="http://schemas.openxmlformats.org/officeDocument/2006/relationships/slide" Target="/ppt/slides/slide3.xml" Id="Rb2aa14ab15b44c36" /><Relationship Type="http://schemas.openxmlformats.org/officeDocument/2006/relationships/slide" Target="/ppt/slides/slide4.xml" Id="Reb3888af909e487a" /><Relationship Type="http://schemas.openxmlformats.org/officeDocument/2006/relationships/slide" Target="/ppt/slides/slide5.xml" Id="R66d9ce3af4194c4f" /><Relationship Type="http://schemas.openxmlformats.org/officeDocument/2006/relationships/slide" Target="/ppt/slides/slide6.xml" Id="Rbfd49f1b06544b5b" /><Relationship Type="http://schemas.openxmlformats.org/officeDocument/2006/relationships/slide" Target="/ppt/slides/slide7.xml" Id="Re77bec910a754128" /><Relationship Type="http://schemas.openxmlformats.org/officeDocument/2006/relationships/slide" Target="/ppt/slides/slide8.xml" Id="R5f7764007d4847e3" /><Relationship Type="http://schemas.openxmlformats.org/officeDocument/2006/relationships/slide" Target="/ppt/slides/slide9.xml" Id="Rb7b4de17ee2445b0" /><Relationship Type="http://schemas.openxmlformats.org/officeDocument/2006/relationships/slide" Target="/ppt/slides/slide10.xml" Id="Rda0e60fef2074c4b" /><Relationship Type="http://schemas.openxmlformats.org/officeDocument/2006/relationships/slide" Target="/ppt/slides/slide11.xml" Id="Rcbe8f400a0e54ba8" /><Relationship Type="http://schemas.openxmlformats.org/officeDocument/2006/relationships/slide" Target="/ppt/slides/slide12.xml" Id="R321f01cb0eb24041" /><Relationship Type="http://schemas.openxmlformats.org/officeDocument/2006/relationships/slide" Target="/ppt/slides/slide13.xml" Id="Rd101d2c875994683" /><Relationship Type="http://schemas.openxmlformats.org/officeDocument/2006/relationships/slide" Target="/ppt/slides/slide14.xml" Id="R0c20a4a0852f4c32" /><Relationship Type="http://schemas.openxmlformats.org/officeDocument/2006/relationships/slide" Target="/ppt/slides/slide15.xml" Id="Rfdfe103bbeb147e6" /><Relationship Type="http://schemas.openxmlformats.org/officeDocument/2006/relationships/slide" Target="/ppt/slides/slide16.xml" Id="R08188b60fce14193" /><Relationship Type="http://schemas.openxmlformats.org/officeDocument/2006/relationships/slide" Target="/ppt/slides/slide17.xml" Id="R1841ebd642d2469f" /><Relationship Type="http://schemas.openxmlformats.org/officeDocument/2006/relationships/slide" Target="/ppt/slides/slide18.xml" Id="R067af1dbeafd4b55" /><Relationship Type="http://schemas.openxmlformats.org/officeDocument/2006/relationships/slide" Target="/ppt/slides/slide19.xml" Id="R04f036fb864b42c9" /><Relationship Type="http://schemas.openxmlformats.org/officeDocument/2006/relationships/slide" Target="/ppt/slides/slide20.xml" Id="Rd23cf404e639413c" /><Relationship Type="http://schemas.openxmlformats.org/officeDocument/2006/relationships/slide" Target="/ppt/slides/slide21.xml" Id="Rde99433c30bf4946" /><Relationship Type="http://schemas.openxmlformats.org/officeDocument/2006/relationships/slide" Target="/ppt/slides/slide22.xml" Id="Rd4ceca47332042e0" /><Relationship Type="http://schemas.openxmlformats.org/officeDocument/2006/relationships/slide" Target="/ppt/slides/slide23.xml" Id="R67084a650e0b43c4" /><Relationship Type="http://schemas.openxmlformats.org/officeDocument/2006/relationships/slide" Target="/ppt/slides/slide24.xml" Id="R9493cb7fd65641dc" /><Relationship Type="http://schemas.openxmlformats.org/officeDocument/2006/relationships/slide" Target="/ppt/slides/slide25.xml" Id="Rdb6d642337294b78" /><Relationship Type="http://schemas.openxmlformats.org/officeDocument/2006/relationships/slide" Target="/ppt/slides/slide26.xml" Id="R89c44493a7d145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adcfcfa00c4a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fef9f581de4b72" /><Relationship Type="http://schemas.openxmlformats.org/officeDocument/2006/relationships/notesMaster" Target="/ppt/notesMasters/notesMaster1.xml" Id="R495b9dde5f7f44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680af909ba4893" /><Relationship Type="http://schemas.openxmlformats.org/officeDocument/2006/relationships/notesMaster" Target="/ppt/notesMasters/notesMaster1.xml" Id="R1f7d74b879c84b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5d9a44c8504b1a" /><Relationship Type="http://schemas.openxmlformats.org/officeDocument/2006/relationships/notesMaster" Target="/ppt/notesMasters/notesMaster1.xml" Id="R2be0e43123654d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5fdc3eef3b49c6" /><Relationship Type="http://schemas.openxmlformats.org/officeDocument/2006/relationships/notesMaster" Target="/ppt/notesMasters/notesMaster1.xml" Id="R79868518c02443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d82821cf5f4766" /><Relationship Type="http://schemas.openxmlformats.org/officeDocument/2006/relationships/notesMaster" Target="/ppt/notesMasters/notesMaster1.xml" Id="Ref63705724cb45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531e16e27b4144" /><Relationship Type="http://schemas.openxmlformats.org/officeDocument/2006/relationships/notesMaster" Target="/ppt/notesMasters/notesMaster1.xml" Id="R7ceaa029d0d641e1"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cefda3be33491d" /><Relationship Type="http://schemas.openxmlformats.org/officeDocument/2006/relationships/notesMaster" Target="/ppt/notesMasters/notesMaster1.xml" Id="R8b13699ae9b84b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5eee870d764297" /><Relationship Type="http://schemas.openxmlformats.org/officeDocument/2006/relationships/notesMaster" Target="/ppt/notesMasters/notesMaster1.xml" Id="R6a097bf029654511" /></Relationships>
</file>

<file path=ppt/notesSlides/_rels/notesSlide9.xml.rels>&#65279;<?xml version="1.0" encoding="utf-8"?><Relationships xmlns="http://schemas.openxmlformats.org/package/2006/relationships"><Relationship Type="http://schemas.openxmlformats.org/officeDocument/2006/relationships/slide" Target="/ppt/slides/slide9.xml" Id="R5467dc46d9c14250" /><Relationship Type="http://schemas.openxmlformats.org/officeDocument/2006/relationships/notesMaster" Target="/ppt/notesMasters/notesMaster1.xml" Id="R8d2483004ff4470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6833deef1c4c7c" /><Relationship Type="http://schemas.openxmlformats.org/officeDocument/2006/relationships/notesMaster" Target="/ppt/notesMasters/notesMaster1.xml" Id="R956e7ce7bd9948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8264b251b04ffc" /><Relationship Type="http://schemas.openxmlformats.org/officeDocument/2006/relationships/notesMaster" Target="/ppt/notesMasters/notesMaster1.xml" Id="R2c8c4276e66d49c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197b60b2f54ebc" /><Relationship Type="http://schemas.openxmlformats.org/officeDocument/2006/relationships/notesMaster" Target="/ppt/notesMasters/notesMaster1.xml" Id="Rb85bfff1c31f4d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153c95db4b4179" /><Relationship Type="http://schemas.openxmlformats.org/officeDocument/2006/relationships/notesMaster" Target="/ppt/notesMasters/notesMaster1.xml" Id="R687e5c95064543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3d6dd853e94f89" /><Relationship Type="http://schemas.openxmlformats.org/officeDocument/2006/relationships/notesMaster" Target="/ppt/notesMasters/notesMaster1.xml" Id="R7094a094a3864fd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309ad5a9fa4867" /><Relationship Type="http://schemas.openxmlformats.org/officeDocument/2006/relationships/notesMaster" Target="/ppt/notesMasters/notesMaster1.xml" Id="Re1b01cea91c44d2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d5c6f5c38b4d85" /><Relationship Type="http://schemas.openxmlformats.org/officeDocument/2006/relationships/notesMaster" Target="/ppt/notesMasters/notesMaster1.xml" Id="R35560c85037a41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4455878753644db" /><Relationship Type="http://schemas.openxmlformats.org/officeDocument/2006/relationships/notesMaster" Target="/ppt/notesMasters/notesMaster1.xml" Id="R75f66603c8fd4f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c46ca6baa24ae1" /><Relationship Type="http://schemas.openxmlformats.org/officeDocument/2006/relationships/notesMaster" Target="/ppt/notesMasters/notesMaster1.xml" Id="R009d1a4d563e4c8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50b37e62534afb" /><Relationship Type="http://schemas.openxmlformats.org/officeDocument/2006/relationships/notesMaster" Target="/ppt/notesMasters/notesMaster1.xml" Id="Rd4883677b55b4d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0f4d81749f941b9" /><Relationship Type="http://schemas.openxmlformats.org/officeDocument/2006/relationships/notesMaster" Target="/ppt/notesMasters/notesMaster1.xml" Id="R1a3f6ca435024e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9f3044bdeaa4a6b" /><Relationship Type="http://schemas.openxmlformats.org/officeDocument/2006/relationships/notesMaster" Target="/ppt/notesMasters/notesMaster1.xml" Id="R7beab41c298249f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2c51d2b882d4938" /><Relationship Type="http://schemas.openxmlformats.org/officeDocument/2006/relationships/notesMaster" Target="/ppt/notesMasters/notesMaster1.xml" Id="Rf2433c4b2af54a4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0c6d6e8e30042b7" /><Relationship Type="http://schemas.openxmlformats.org/officeDocument/2006/relationships/notesMaster" Target="/ppt/notesMasters/notesMaster1.xml" Id="Ra1bb519c181e46e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a544df723e4643" /><Relationship Type="http://schemas.openxmlformats.org/officeDocument/2006/relationships/notesMaster" Target="/ppt/notesMasters/notesMaster1.xml" Id="Raa98ae01d4ca47d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353bd02a18b46bb" /><Relationship Type="http://schemas.openxmlformats.org/officeDocument/2006/relationships/notesMaster" Target="/ppt/notesMasters/notesMaster1.xml" Id="R6bbba3d85a1b4200"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c24de8337e747f0" /><Relationship Type="http://schemas.openxmlformats.org/officeDocument/2006/relationships/notesMaster" Target="/ppt/notesMasters/notesMaster1.xml" Id="R8c5df4f4ad7e40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Pembukaan: alasan skill ini lahir adalah kebutuhan membuat UI FMX mobile yang tetap mudah diubah dan ditelusuri di Designer. Studi kasus V2 memperlihatkan empat alur dari wireframe yang sama. Presentasi ini memakai capture yang disediakan author.</a:t>
            </a:r>
          </a:p>
          <a:p xmlns:a="http://schemas.openxmlformats.org/drawingml/2006/main">
            <a:r>
              <a:t/>
            </a:r>
          </a:p>
          <a:p xmlns:a="http://schemas.openxmlformats.org/drawingml/2006/main">
            <a:r>
              <a:t>Sumber: Percakapan author, 3 Oktober 2026; docs/result/VERSION.2.0.0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Sampaikan sebagai pengamatan author, bukan statistik tentang seluruh komunitas Delphi. VCL sendiri sesuai untuk desktop. Permasalahan yang dibahas adalah kebiasaan layout desktop yang terbawa tanpa adaptasi saat membuat aplikasi mobile.</a:t>
            </a:r>
          </a:p>
          <a:p xmlns:a="http://schemas.openxmlformats.org/drawingml/2006/main">
            <a:r>
              <a:t/>
            </a:r>
          </a:p>
          <a:p xmlns:a="http://schemas.openxmlformats.org/drawingml/2006/main">
            <a:r>
              <a:t>Sumber: Percakapan author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Hierarchy ini menyatakan pola ownership, bukan usulan meratakan semua container. Jumlah atau kedalaman komponen saja tidak membuktikan performa. Hierarchy yang sehat tetap menggunakan nesting ketika fungsi layout memang memerlukannya.</a:t>
            </a:r>
          </a:p>
          <a:p xmlns:a="http://schemas.openxmlformats.org/drawingml/2006/main">
            <a:r>
              <a:t/>
            </a:r>
          </a:p>
          <a:p xmlns:a="http://schemas.openxmlformats.org/drawingml/2006/main">
            <a:r>
              <a:t>Sumber: README-ID.md; .agents/skills/html-to-fmx/references/dynamic-items.md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V1 diposisikan sebagai awal perjalanan, bukan perbandingan waktu dengan V2 karena desain dan kondisi berbeda. Gambar di slide adalah tampilan HTML sumber NovaPOS, bukan runtime FMX.</a:t>
            </a:r>
          </a:p>
          <a:p xmlns:a="http://schemas.openxmlformats.org/drawingml/2006/main">
            <a:r>
              <a:t/>
            </a:r>
          </a:p>
          <a:p xmlns:a="http://schemas.openxmlformats.org/drawingml/2006/main">
            <a:r>
              <a:t>Sumber: D:\Github\MyProject\Skill\HTML-FMX\docs\result\VERSION.1.0.0\UI-HTML.png; Percakapan author; https://github.com/dondonondon/HTML-To-Delphi-FMX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Dokumentasi lokal menunjukkan enam skill. Skill create-fmx-ui memanggil screenshot-to-fmx-mapping secara internal untuk input gambar. review-fmx-ui tersedia untuk existing FMX, namun bukan salah satu dari empat metode penciptaan UI pada eksperimen ini.</a:t>
            </a:r>
          </a:p>
          <a:p xmlns:a="http://schemas.openxmlformats.org/drawingml/2006/main">
            <a:r>
              <a:t/>
            </a:r>
          </a:p>
          <a:p xmlns:a="http://schemas.openxmlformats.org/drawingml/2006/main">
            <a:r>
              <a:t>Sumber: README-ID.md; .agents/skills/create-fmx-ui/SKILL.md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 author: Healthcare Appointment App, aplikasi pasien untuk mencari dokter, melihat konsultasi mendatang, kategori kesehatan, dan akses komunikasi/profil. Garis pada coretan menetapkan struktur besar. Copy, warna, aset foto, dan sebagian detail merupakan interpretasi tiap jalur. Nama dokter, tanggal, rating, dan fasilitas dalam screenshot adalah data contoh demo.</a:t>
            </a:r>
          </a:p>
          <a:p xmlns:a="http://schemas.openxmlformats.org/drawingml/2006/main">
            <a:r>
              <a:t/>
            </a:r>
          </a:p>
          <a:p xmlns:a="http://schemas.openxmlformats.org/drawingml/2006/main">
            <a:r>
              <a:t>Sumber: D:\Github\MyProject\Skill\HTML-FMX\docs\result\VERSION.2.0.0\wireframe.png; Detail description dari author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yang sama mengacu pada agent yang menjalankan workflow. Jalur pertama juga memakai layanan generasi desain Google Stitch. Catatan eksperimen tidak menetapkan model internal Stitch. Jangan menyebut perbandingan model AI atau mengasumsikan semua tahapan memakai model yang identik.</a:t>
            </a:r>
          </a:p>
          <a:p xmlns:a="http://schemas.openxmlformats.org/drawingml/2006/main">
            <a:r>
              <a:t/>
            </a:r>
          </a:p>
          <a:p xmlns:a="http://schemas.openxmlformats.org/drawingml/2006/main">
            <a:r>
              <a:t>Sumber: Percakapan author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xmlns:a="http://schemas.openxmlformats.org/drawingml/2006/main">
            <a:r>
              <a:t/>
            </a:r>
          </a:p>
          <a:p xmlns:a="http://schemas.openxmlformats.org/drawingml/2006/main">
            <a:r>
              <a:t>Sumber: brief dan alur author dalam percakapan. Instruksi skill create-fmx-ui dan html-to-fmx lokal. project/DESIGN.md.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xmlns:a="http://schemas.openxmlformats.org/drawingml/2006/main">
            <a:r>
              <a:t/>
            </a:r>
          </a:p>
          <a:p xmlns:a="http://schemas.openxmlformats.org/drawingml/2006/main">
            <a:r>
              <a:t>Agent dapat membaca DESIGN.md terlebih dahulu dan menyampaikan aturan warna tersebut ke Google Stitch. Kemudian ekspor HTML/CSS dan aset sebelum menjalankan html-to-fmx. Nama atau cara ekspor mengikuti integrasi Stitch yang tersedia. Ini panduan alur, tanpa menjanjikan hasil visual atau durasi yang identik.</a:t>
            </a:r>
          </a:p>
          <a:p xmlns:a="http://schemas.openxmlformats.org/drawingml/2006/main">
            <a:r>
              <a:t/>
            </a:r>
          </a:p>
          <a:p xmlns:a="http://schemas.openxmlformats.org/drawingml/2006/main">
            <a:r>
              <a:t>1. Buat desain melalui MCP Google Stitch</a:t>
            </a:r>
          </a:p>
          <a:p xmlns:a="http://schemas.openxmlformats.org/drawingml/2006/main">
            <a:r>
              <a:t>Gunakan MCP Google Stitch untuk membuat UI Healthcare Appointment App dari wireframe dan brief ini. Pertahankan susunan area utama. Ikuti aturan warna project/DESIGN.md, lalu lengkapi aset visual yang relevan.</a:t>
            </a:r>
          </a:p>
          <a:p xmlns:a="http://schemas.openxmlformats.org/drawingml/2006/main">
            <a:r>
              <a:t/>
            </a:r>
          </a:p>
          <a:p xmlns:a="http://schemas.openxmlformats.org/drawingml/2006/main">
            <a:r>
              <a:t>2. Ekspor HTML, lalu konversi ke FMX</a:t>
            </a:r>
          </a:p>
          <a:p xmlns:a="http://schemas.openxmlformats.org/drawingml/2006/main">
            <a:r>
              <a:t>Ekspor desain tadi sebagai HTML/CSS. Gunakan skill html-to-fmx untuk mengonversinya ke UI native Delphi FMX. Pertahankan visual sumber. Buat page dan reusable doctor card sebagai pasangan .fmx dan .pas yang dapat diedit di Designer.</a:t>
            </a:r>
          </a:p>
          <a:p xmlns:a="http://schemas.openxmlformats.org/drawingml/2006/main">
            <a:r>
              <a:t/>
            </a:r>
          </a:p>
          <a:p xmlns:a="http://schemas.openxmlformats.org/drawingml/2006/main">
            <a:r>
              <a:t>Sumber: brief dan alur author dalam percakapan. Instruksi skill create-fmx-ui dan html-to-fmx lokal. project/DESIGN.md.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xmlns:a="http://schemas.openxmlformats.org/drawingml/2006/main">
            <a:r>
              <a:t/>
            </a:r>
          </a:p>
          <a:p xmlns:a="http://schemas.openxmlformats.org/drawingml/2006/main">
            <a:r>
              <a:t>Menurut skill create-fmx-ui lokal, input screenshot/wireframe memerlukan screenshot-to-fmx-mapping di dalam workflow. Langkah mapping tetap ada meskipun pengguna memberi satu permintaan create UI.</a:t>
            </a:r>
          </a:p>
          <a:p xmlns:a="http://schemas.openxmlformats.org/drawingml/2006/main">
            <a:r>
              <a:t/>
            </a:r>
          </a:p>
          <a:p xmlns:a="http://schemas.openxmlformats.org/drawingml/2006/main">
            <a:r>
              <a:t>Gunakan skill create-fmx-ui untuk membuat halaman Healthcare Appointment App langsung dari wireframe.png dan brief ini. Ikuti susunan wireframe dan aturan warna project/DESIGN.md.</a:t>
            </a:r>
          </a:p>
          <a:p xmlns:a="http://schemas.openxmlformats.org/drawingml/2006/main">
            <a:r>
              <a:t/>
            </a:r>
          </a:p>
          <a:p xmlns:a="http://schemas.openxmlformats.org/drawingml/2006/main">
            <a:r>
              <a:t>Simpan struktur tetap sebagai pasangan .fmx dan .pas yang dapat diedit di Designer. Buat doctor card reusable untuk daftar dokter dan siapkan binding agar page dapat memakai card tersebut. Ikuti struktur proyek serta StyleBook yang ada.</a:t>
            </a:r>
          </a:p>
          <a:p xmlns:a="http://schemas.openxmlformats.org/drawingml/2006/main">
            <a:r>
              <a:t/>
            </a:r>
          </a:p>
          <a:p xmlns:a="http://schemas.openxmlformats.org/drawingml/2006/main">
            <a:r>
              <a:t>Sumber: brief dan alur author dalam percakapan. Instruksi skill create-fmx-ui dan html-to-fmx lokal. project/DESIGN.md.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xmlns:a="http://schemas.openxmlformats.org/drawingml/2006/main">
            <a:r>
              <a:t/>
            </a:r>
          </a:p>
          <a:p xmlns:a="http://schemas.openxmlformats.org/drawingml/2006/main">
            <a:r>
              <a:t>Mapping terpisah menghasilkan dokumen Markdown sebelum tahap implementasi. Bawa dokumen tersebut beserta wireframe dan brief ke tahap create-fmx-ui. Waktu mapping dan implementasi dapat dicatat terpisah.</a:t>
            </a:r>
          </a:p>
          <a:p xmlns:a="http://schemas.openxmlformats.org/drawingml/2006/main">
            <a:r>
              <a:t/>
            </a:r>
          </a:p>
          <a:p xmlns:a="http://schemas.openxmlformats.org/drawingml/2006/main">
            <a:r>
              <a:t>1. Jalankan screenshot-to-fmx-mapping</a:t>
            </a:r>
          </a:p>
          <a:p xmlns:a="http://schemas.openxmlformats.org/drawingml/2006/main">
            <a:r>
              <a:t>Gunakan skill screenshot-to-fmx-mapping untuk memetakan wireframe dan brief ke hierarki komponen FMX. Pisahkan area tetap, area scroll, navigasi bawah, dan daftar dokter dengan card reusable. Simpan hasilnya sebagai dokumen mapping.</a:t>
            </a:r>
          </a:p>
          <a:p xmlns:a="http://schemas.openxmlformats.org/drawingml/2006/main">
            <a:r>
              <a:t/>
            </a:r>
          </a:p>
          <a:p xmlns:a="http://schemas.openxmlformats.org/drawingml/2006/main">
            <a:r>
              <a:t>2. Implementasikan mapping dengan create-fmx-ui</a:t>
            </a:r>
          </a:p>
          <a:p xmlns:a="http://schemas.openxmlformats.org/drawingml/2006/main">
            <a:r>
              <a:t>Gunakan skill create-fmx-ui untuk membangun UI berdasarkan mapping tadi. Ikuti aturan warna project/DESIGN.md. Buat pasangan .fmx dan .pas yang dapat diedit di Designer, lalu siapkan binding page dan doctor card.</a:t>
            </a:r>
          </a:p>
          <a:p xmlns:a="http://schemas.openxmlformats.org/drawingml/2006/main">
            <a:r>
              <a:t/>
            </a:r>
          </a:p>
          <a:p xmlns:a="http://schemas.openxmlformats.org/drawingml/2006/main">
            <a:r>
              <a:t>Sumber: brief dan alur author dalam percakapan. Instruksi skill create-fmx-ui dan html-to-fmx lokal. project/DESIGN.md.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Panduan ini merapikan prompt berdasarkan brief wireframe dan empat alur yang dijelaskan author dalam percakapan. Panduan bukan transkrip kata-per-kata dari seluruh prompt awal. Detail langkah yang diperjelas berfungsi sebagai template agar audience dapat mencoba workflow. Gunakan sumber wireframe asli di docs/result/VERSION.2.0.0/wireframe.png. Agent eksperimen: GPT-6.1 Sol, reasoning High. Istilah skill saat ini adalah create-fmx-ui. Deskripsi tujuan berasal dari brief Healthcare Appointment App author.</a:t>
            </a:r>
          </a:p>
          <a:p xmlns:a="http://schemas.openxmlformats.org/drawingml/2006/main">
            <a:r>
              <a:t/>
            </a:r>
          </a:p>
          <a:p xmlns:a="http://schemas.openxmlformats.org/drawingml/2006/main">
            <a:r>
              <a:t>Prompt HTML sengaja tidak memuat DESIGN.md agar panduan tetap konsisten dengan penjelasan author tentang percobaan Metode 4. html-to-fmx mempertahankan HTML/CSS sebagai sumber visual, sehingga perbedaan palet dapat terbawa ke hasil FMX. Tambahan rujukan DESIGN.md hanya muncul sebagai saran perbaikan untuk percobaan berikutnya.</a:t>
            </a:r>
          </a:p>
          <a:p xmlns:a="http://schemas.openxmlformats.org/drawingml/2006/main">
            <a:r>
              <a:t/>
            </a:r>
          </a:p>
          <a:p xmlns:a="http://schemas.openxmlformats.org/drawingml/2006/main">
            <a:r>
              <a:t>1. Minta agent membuat HTML/CSS</a:t>
            </a:r>
          </a:p>
          <a:p xmlns:a="http://schemas.openxmlformats.org/drawingml/2006/main">
            <a:r>
              <a:t>Ubah wireframe dan brief Healthcare Appointment App menjadi halaman HTML/CSS mobile. Pertahankan susunan area utama dan buat tampilan modern serta sederhana. Lengkapi aset yang diperlukan, lalu simpan sumber HTML/CSS.</a:t>
            </a:r>
          </a:p>
          <a:p xmlns:a="http://schemas.openxmlformats.org/drawingml/2006/main">
            <a:r>
              <a:t/>
            </a:r>
          </a:p>
          <a:p xmlns:a="http://schemas.openxmlformats.org/drawingml/2006/main">
            <a:r>
              <a:t>2. Konversi HTML/CSS dengan html-to-fmx</a:t>
            </a:r>
          </a:p>
          <a:p xmlns:a="http://schemas.openxmlformats.org/drawingml/2006/main">
            <a:r>
              <a:t>Gunakan skill html-to-fmx untuk mengonversi HTML/CSS tadi ke UI native Delphi FMX. Pertahankan visual sumber. Buat page dan reusable doctor card sebagai pasangan .fmx dan .pas yang dapat diedit di Designer.</a:t>
            </a:r>
          </a:p>
          <a:p xmlns:a="http://schemas.openxmlformats.org/drawingml/2006/main">
            <a:r>
              <a:t/>
            </a:r>
          </a:p>
          <a:p xmlns:a="http://schemas.openxmlformats.org/drawingml/2006/main">
            <a:r>
              <a:t>Sumber: brief dan alur author dalam percakapan. Instruksi skill create-fmx-ui dan html-to-fmx lokal. project/DESIGN.md.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 asli author: “Tambahkan Data dummy nya dengan card yang sudah anda buat”. Versi panduan memperjelas bahwa page harus membuat item, memasang card, dan mengisi data menggunakan binding yang sudah ada. Data demo bersifat fiktif dan tidak membuktikan integrasi API. Aturan satu kali pemuatan dan perlindungan binding berikutnya merupakan refinement panduan yang mengikuti pola implementasi lokal. Bagian DESIGN.md untuk Metode 4 adalah usulan percobaan lanjutan, tanpa hasil validasi baru.</a:t>
            </a:r>
          </a:p>
          <a:p xmlns:a="http://schemas.openxmlformats.org/drawingml/2006/main">
            <a:r>
              <a:t/>
            </a:r>
          </a:p>
          <a:p xmlns:a="http://schemas.openxmlformats.org/drawingml/2006/main">
            <a:r>
              <a:t>Sumber: brief dan alur author dalam percakapan. Instruksi skill create-fmx-ui dan html-to-fmx lokal. project/DESIGN.md.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Nuansa ini penting agar audiens tidak salah mengira metode langsung berarti agent membuat UI tanpa mapping. Definisi dibuktikan oleh dependency pada create-fmx-ui. Durasi lebih besar pada jalur ketiga tidak dapat seluruhnya dijelaskan oleh waktu mapping 8m16s. Selain mapping, implementasi sendiri tercatat 41m54s. Faktor penyebabnya belum dianalisis.</a:t>
            </a:r>
          </a:p>
          <a:p xmlns:a="http://schemas.openxmlformats.org/drawingml/2006/main">
            <a:r>
              <a:t/>
            </a:r>
          </a:p>
          <a:p xmlns:a="http://schemas.openxmlformats.org/drawingml/2006/main">
            <a:r>
              <a:t>Sumber: .agents/skills/create-fmx-ui/SKILL.md; Catatan waktu author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Appointment biru, foto dokter, serta tombol View profile memberi detail visual paling menonjol pada capture ini.</a:t>
            </a:r>
          </a:p>
          <a:p xmlns:a="http://schemas.openxmlformats.org/drawingml/2006/main">
            <a:r>
              <a:t>Designer memperlihatkan section appointment, categories, doctors, header, dan search dalam ContentRegion.</a:t>
            </a:r>
          </a:p>
          <a:p xmlns:a="http://schemas.openxmlformats.org/drawingml/2006/main">
            <a:r>
              <a:t>Waktu UI awal: 32m 49s. Tambahan card dan data dummy: 6m 06s. Total: 38m 55s.</a:t>
            </a:r>
          </a:p>
          <a:p xmlns:a="http://schemas.openxmlformats.org/drawingml/2006/main">
            <a:r>
              <a:t>Designer memperlihatkan section tetap dan empty state. Capture runtime memperlihatkan data demo. Screenshot adalah evidence tampilan, bukan bukti seluruh callback atau device matrix. Caption hanya menyebut runtime karena platform device tidak diberikan untuk capture ini. File runtime berukuran 360 x 1002 px.</a:t>
            </a:r>
          </a:p>
          <a:p xmlns:a="http://schemas.openxmlformats.org/drawingml/2006/main">
            <a:r>
              <a:t/>
            </a:r>
          </a:p>
          <a:p xmlns:a="http://schemas.openxmlformats.org/drawingml/2006/main">
            <a:r>
              <a:t>Sumber: D:\Github\MyProject\Skill\HTML-FMX\docs\result\VERSION.2.0.0\design-time\SS-STRUKTUR-HIERARKI-MCPSTITCHHTMLHTMLTOFMX.png; D:\Github\MyProject\Skill\HTML-FMX\docs\result\VERSION.2.0.0\run-time\MCPSTITCHHTMLHTMLTOFMX.png; Waktu yang dicatat author</a:t>
            </a:r>
          </a:p>
          <a:p xmlns:a="http://schemas.openxmlformats.org/drawingml/2006/main">
            <a:r>
              <a:t/>
            </a:r>
          </a:p>
          <a:p xmlns:a="http://schemas.openxmlformats.org/drawingml/2006/main">
            <a:r>
              <a:t>Visual lebih matang, pengelompokan rapi, dan aset lebih lengkap. Sesuai wireframe serta aturan warna DESIGN.md.</a:t>
            </a:r>
          </a:p>
          <a:p xmlns:a="http://schemas.openxmlformats.org/drawingml/2006/main">
            <a:r>
              <a:t>Sumber: kesimpulan tambahan author dalam percakapan.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Layout memakai label Indonesia. Doctor row menampilkan nama, fasilitas, ketersediaan, dan rating dengan area foto placeholder.</a:t>
            </a:r>
          </a:p>
          <a:p xmlns:a="http://schemas.openxmlformats.org/drawingml/2006/main">
            <a:r>
              <a:t>PageScroll menaungi ContentRegion. BottomNavRegion menjadi area terpisah dari section yang dapat di-scroll.</a:t>
            </a:r>
          </a:p>
          <a:p xmlns:a="http://schemas.openxmlformats.org/drawingml/2006/main">
            <a:r>
              <a:t>Waktu UI awal: 23m 25s. Tambahan card dan data dummy: 2m 27s. Total: 25m 52s.</a:t>
            </a:r>
          </a:p>
          <a:p xmlns:a="http://schemas.openxmlformats.org/drawingml/2006/main">
            <a:r>
              <a:t>Designer memperlihatkan section tetap dan empty state. Capture runtime memperlihatkan data demo. Screenshot adalah evidence tampilan, bukan bukti seluruh callback atau device matrix. Caption hanya menyebut runtime karena platform device tidak diberikan untuk capture ini. File runtime berukuran 360 x 1002 px.</a:t>
            </a:r>
          </a:p>
          <a:p xmlns:a="http://schemas.openxmlformats.org/drawingml/2006/main">
            <a:r>
              <a:t/>
            </a:r>
          </a:p>
          <a:p xmlns:a="http://schemas.openxmlformats.org/drawingml/2006/main">
            <a:r>
              <a:t>Sumber: D:\Github\MyProject\Skill\HTML-FMX\docs\result\VERSION.2.0.0\design-time\SS-STRUKTUR-HIERARKI-CREATEUI.png; D:\Github\MyProject\Skill\HTML-FMX\docs\result\VERSION.2.0.0\run-time\CREATEUI.png; Waktu yang dicatat author</a:t>
            </a:r>
          </a:p>
          <a:p xmlns:a="http://schemas.openxmlformats.org/drawingml/2006/main">
            <a:r>
              <a:t/>
            </a:r>
          </a:p>
          <a:p xmlns:a="http://schemas.openxmlformats.org/drawingml/2006/main">
            <a:r>
              <a:t>Kedua tercepat secara total. Sesuai wireframe dan warna DESIGN.md, tetapi visual masih mentah seperti Metode 3.</a:t>
            </a:r>
          </a:p>
          <a:p xmlns:a="http://schemas.openxmlformats.org/drawingml/2006/main">
            <a:r>
              <a:t>Sumber: kesimpulan tambahan author dalam percakapan.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Appointment memakai lapisan card seperti coretan awal. Doctor row memakai ikon dan label Demo.</a:t>
            </a:r>
          </a:p>
          <a:p xmlns:a="http://schemas.openxmlformats.org/drawingml/2006/main">
            <a:r>
              <a:t>Designer memperlihatkan loHeader, loSearch, loHealthCategories, loUpcomingSection, dan loPopularDoctorsSection.</a:t>
            </a:r>
          </a:p>
          <a:p xmlns:a="http://schemas.openxmlformats.org/drawingml/2006/main">
            <a:r>
              <a:t>Waktu UI awal: 50m 10s. Tambahan card dan data dummy: 5m 12s. Total: 55m 22s.</a:t>
            </a:r>
          </a:p>
          <a:p xmlns:a="http://schemas.openxmlformats.org/drawingml/2006/main">
            <a:r>
              <a:t>Designer memperlihatkan section tetap dan empty state. Capture runtime memperlihatkan data demo. Screenshot adalah evidence tampilan, bukan bukti seluruh callback atau device matrix. Caption hanya menyebut runtime karena platform device tidak diberikan untuk capture ini. File runtime berukuran 360 x 1002 px.</a:t>
            </a:r>
          </a:p>
          <a:p xmlns:a="http://schemas.openxmlformats.org/drawingml/2006/main">
            <a:r>
              <a:t/>
            </a:r>
          </a:p>
          <a:p xmlns:a="http://schemas.openxmlformats.org/drawingml/2006/main">
            <a:r>
              <a:t>Sumber: D:\Github\MyProject\Skill\HTML-FMX\docs\result\VERSION.2.0.0\design-time\SS-STRUKTUR-HIERARKI-MAPPINGCREATEUI.png; D:\Github\MyProject\Skill\HTML-FMX\docs\result\VERSION.2.0.0\run-time\MAPPINGCREATEUI.png; Waktu yang dicatat author</a:t>
            </a:r>
          </a:p>
          <a:p xmlns:a="http://schemas.openxmlformats.org/drawingml/2006/main">
            <a:r>
              <a:t/>
            </a:r>
          </a:p>
          <a:p xmlns:a="http://schemas.openxmlformats.org/drawingml/2006/main">
            <a:r>
              <a:t>Paling sesuai wireframe menurut author. Visual masih mentah dan waktu paling lama, tanpa peningkatan visual yang terlihat dari mapping terpisah.</a:t>
            </a:r>
          </a:p>
          <a:p xmlns:a="http://schemas.openxmlformats.org/drawingml/2006/main">
            <a:r>
              <a:t>Sumber: kesimpulan tambahan author dalam percakapan.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Palet hijau gelap, ilustrasi dokter, bookmark, dan appointment berlapis menunjukkan interpretasi visual tersendiri.</a:t>
            </a:r>
          </a:p>
          <a:p xmlns:a="http://schemas.openxmlformats.org/drawingml/2006/main">
            <a:r>
              <a:t>PageRegion membagi FooterRegion, OverlayRegion, dan PageScroll. DoctorsSection memiliki DoctorsList.</a:t>
            </a:r>
          </a:p>
          <a:p xmlns:a="http://schemas.openxmlformats.org/drawingml/2006/main">
            <a:r>
              <a:t>Waktu UI awal: 14m 40s. Tambahan card dan data dummy: 8m 53s. Total: 23m 33s.</a:t>
            </a:r>
          </a:p>
          <a:p xmlns:a="http://schemas.openxmlformats.org/drawingml/2006/main">
            <a:r>
              <a:t>Designer memperlihatkan section tetap dan empty state. Capture runtime memperlihatkan data demo. Screenshot adalah evidence tampilan, bukan bukti seluruh callback atau device matrix. Caption hanya menyebut runtime karena platform device tidak diberikan untuk capture ini. File runtime berukuran 360 x 1002 px.</a:t>
            </a:r>
          </a:p>
          <a:p xmlns:a="http://schemas.openxmlformats.org/drawingml/2006/main">
            <a:r>
              <a:t/>
            </a:r>
          </a:p>
          <a:p xmlns:a="http://schemas.openxmlformats.org/drawingml/2006/main">
            <a:r>
              <a:t>Sumber: D:\Github\MyProject\Skill\HTML-FMX\docs\result\VERSION.2.0.0\design-time\SS-STRUKTUR-HIERARKI-HTMLHTMLTOFMX.png; D:\Github\MyProject\Skill\HTML-FMX\docs\result\VERSION.2.0.0\run-time\HTMLHTMLTOFMX.png; Waktu yang dicatat author</a:t>
            </a:r>
          </a:p>
          <a:p xmlns:a="http://schemas.openxmlformats.org/drawingml/2006/main">
            <a:r>
              <a:t/>
            </a:r>
          </a:p>
          <a:p xmlns:a="http://schemas.openxmlformats.org/drawingml/2006/main">
            <a:r>
              <a:t>Paling cepat secara total dan visual cukup memuaskan. Palet berbeda karena prompt HTML tidak menyebut DESIGN.md secara eksplisit.</a:t>
            </a:r>
          </a:p>
          <a:p xmlns:a="http://schemas.openxmlformats.org/drawingml/2006/main">
            <a:r>
              <a:t>Sumber: kesimpulan tambahan author dalam percakapan.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Nilai asli disimpan dalam detik dan dihitung menjadi menit untuk grafik. Seri UI awal: 1969,1405,3010,880 detik. Seri tambahan card: 366,147,312,533 detik. UI awal jalur mapping terdiri dari 496 detik mapping + 2514 detik implementasi. Pengurutan metode mengikuti daftar author, bukan peringkat. Durasi tidak membuktikan kualitas visual, performa aplikasi, atau sebab perbedaan waktu.</a:t>
            </a:r>
          </a:p>
          <a:p xmlns:a="http://schemas.openxmlformats.org/drawingml/2006/main">
            <a:r>
              <a:t/>
            </a:r>
          </a:p>
          <a:p xmlns:a="http://schemas.openxmlformats.org/drawingml/2006/main">
            <a:r>
              <a:t>Sumber: Catatan waktu author dalam percakapan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Perhitungan total: (32m49s+6m06s)=38m55s. (23m25s+2m27s)=25m52s. (8m16s+41m54s+5m12s)=55m22s. (14m40s+8m53s)=23m33s. Semua angka berasal dari author. Kesimpulan terbatas pada catatan percobaan ini. Tabel adalah objek PowerPoint native, bukan gambar.</a:t>
            </a:r>
          </a:p>
          <a:p xmlns:a="http://schemas.openxmlformats.org/drawingml/2006/main">
            <a:r>
              <a:t/>
            </a:r>
          </a:p>
          <a:p xmlns:a="http://schemas.openxmlformats.org/drawingml/2006/main">
            <a:r>
              <a:t>Sumber: Catatan waktu author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melaporkan hasil keempat workflow cukup baik, tetapi semuanya memerlukan prompt ini. Card sudah dibuat sebelumnya, bukan komponen yang hilang. Kekurangan terdapat pada komposisi di frame halaman dan pemuatan data dummy. Data contoh hanya fixture lokal. Jangan menampilkan ini sebagai defect semua penggunaan skill atau sebagai perubahan skill yang sudah diterapkan.</a:t>
            </a:r>
          </a:p>
          <a:p xmlns:a="http://schemas.openxmlformats.org/drawingml/2006/main">
            <a:r>
              <a:t/>
            </a:r>
          </a:p>
          <a:p xmlns:a="http://schemas.openxmlformats.org/drawingml/2006/main">
            <a:r>
              <a:t>Sumber: Laporan author dalam percakapan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Semua hasil cukup baik adalah penilaian author, bukan skor objektif. Capture Designer dan runtime menunjukkan visual serta hierarchy yang terlihat, tetapi belum menguji semua interaction behavior, integrasi API, device matrix, atau performa. Jalur mapping tidak dinyatakan lebih baik hanya karena lebih lama. Tidak ada klaim V2 telah menjadi GitHub Release formal.</a:t>
            </a:r>
          </a:p>
          <a:p xmlns:a="http://schemas.openxmlformats.org/drawingml/2006/main">
            <a:r>
              <a:t/>
            </a:r>
          </a:p>
          <a:p xmlns:a="http://schemas.openxmlformats.org/drawingml/2006/main">
            <a:r>
              <a:t>Sumber: Percakapan author; Screenshot VERSION.2.0.0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memperkirakan sekitar 90% kemiripan struktur/hierarki komponen secara keseluruhan setelah meninjau empat hasil. Angka ini merupakan estimasi pengamatan, tanpa metode pengukuran atau perbandingan tree formal. Author menilai aturan pewarnaan DESIGN.md diikuti Metode 1, 2, dan 3. Metode 4 memakai palet berbeda karena prompt tahap pembuatan HTML tidak secara eksplisit merujuk DESIGN.md. Pernyataan ini membahas warna dan tidak menyatakan audit seluruh aturan desain. File project/DESIGN.md memuat token warna Toss, termasuk primary #3182f6. Kesimpulan mengikuti hasil dan konteks prompt eksperimen ini.</a:t>
            </a:r>
          </a:p>
          <a:p xmlns:a="http://schemas.openxmlformats.org/drawingml/2006/main">
            <a:r>
              <a:t/>
            </a:r>
          </a:p>
          <a:p xmlns:a="http://schemas.openxmlformats.org/drawingml/2006/main">
            <a:r>
              <a:t>Sumber: kesimpulan tambahan author dalam percakapan. project/DESIGN.md.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Penilaian visual berasal dari author. Istilah lebih terstruktur untuk Metode 1 dipertegas sebagai pengelompokan visual yang lebih rapi, sejalan dengan kemiripan hierarki sekitar 90%. Google Stitch membantu menyediakan desain dan aset yang lebih lengkap. Metode 1: UI awal 32m 49s + card dan dummy 6m 06s = total 38m 55s, urutan ketiga tercepat. Metode 2: 23m 25s + 2m 27s = 25m 52s, urutan kedua tercepat. Metode 2 tetap sesuai wireframe, namun visualnya masih mentah seperti Metode 3. Waktu tambahan card dan dummy paling kecil ada pada Metode 2. Keduanya mengikuti aturan warna DESIGN.md menurut author.</a:t>
            </a:r>
          </a:p>
          <a:p xmlns:a="http://schemas.openxmlformats.org/drawingml/2006/main">
            <a:r>
              <a:t/>
            </a:r>
          </a:p>
          <a:p xmlns:a="http://schemas.openxmlformats.org/drawingml/2006/main">
            <a:r>
              <a:t>Sumber: kesimpulan tambahan author dan catatan waktu dalam percakapan.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Author menilai Metode 3 paling sesuai susunan wireframe, tetapi hasil visualnya masih mentah dan kurang memuaskan. Kesesuaian wireframe dan kematangan visual merupakan dimensi yang berbeda. Mapping terpisah tidak memberi peningkatan visual yang terlihat pada eksperimen ini. UI awal 8m 16s mapping + 41m 54s implementasi = 50m 10s. Tambahan card dan dummy 5m 12s, total 55m 22s, waktu terlama. Tahap implementasinya sendiri lebih lama daripada metode lain, sehingga perbedaan waktu tidak dapat dijelaskan hanya oleh mapping 8m 16s. Metode 4: 14m 40s + 8m 53s = total 23m 33s, waktu tercepat. Author cukup puas dengan visualnya, meski palet menyimpang dari DESIGN.md. Author menjelaskan prompt HTML tidak merujuk DESIGN.md secara eksplisit. Refinement prompt selanjutnya dapat menyebut file tersebut sejak tahap HTML, kemudian memeriksa konsistensi warna setelah konversi FMX. Ini usulan tindak lanjut, bukan hasil percobaan baru.</a:t>
            </a:r>
          </a:p>
          <a:p xmlns:a="http://schemas.openxmlformats.org/drawingml/2006/main">
            <a:r>
              <a:t/>
            </a:r>
          </a:p>
          <a:p xmlns:a="http://schemas.openxmlformats.org/drawingml/2006/main">
            <a:r>
              <a:t>Sumber: kesimpulan tambahan author dan catatan waktu dalam percakapan.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Penutup dan diskusi. Tunjukkan repo sebagai sumber skill. Paket berisi instruksi, referensi, dan contoh. URL repo: https://github.com/dondonondon/HTML-To-Delphi-FMX. Presentasi memakai sumber asli author dan catatan waktunya.</a:t>
            </a:r>
          </a:p>
          <a:p xmlns:a="http://schemas.openxmlformats.org/drawingml/2006/main">
            <a:r>
              <a:t/>
            </a:r>
          </a:p>
          <a:p xmlns:a="http://schemas.openxmlformats.org/drawingml/2006/main">
            <a:r>
              <a:t>Sumber: README-ID.md; https://github.com/dondonondon/HTML-To-Delphi-FMX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9ca2cbd7454d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86f2167cd74962" /><Relationship Type="http://schemas.openxmlformats.org/officeDocument/2006/relationships/slideLayout" Target="/ppt/slideLayouts/slideLayout1.xml" Id="R08760edbb7464f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760edbb7464f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fec2032902b440e" /><Relationship Type="http://schemas.openxmlformats.org/officeDocument/2006/relationships/image" Target="/ppt/media/image.png" Id="R495a73816d6b4faf" /><Relationship Type="http://schemas.openxmlformats.org/officeDocument/2006/relationships/notesSlide" Target="/ppt/notesSlides/notesSlide1.xml" Id="R45e22f1908fb43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3eef3c0a7648b3" /><Relationship Type="http://schemas.openxmlformats.org/officeDocument/2006/relationships/notesSlide" Target="/ppt/notesSlides/notesSlide2.xml" Id="R00ed2df20cc342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5de2ee0aff4bb6" /><Relationship Type="http://schemas.openxmlformats.org/officeDocument/2006/relationships/notesSlide" Target="/ppt/notesSlides/notesSlide3.xml" Id="R7151b6dfd372471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0c40ffd405e449d" /><Relationship Type="http://schemas.openxmlformats.org/officeDocument/2006/relationships/image" Target="/ppt/media/image2.png" Id="Ra4bc2e1707024ee1" /><Relationship Type="http://schemas.openxmlformats.org/officeDocument/2006/relationships/notesSlide" Target="/ppt/notesSlides/notesSlide4.xml" Id="R3eeec959ff2d49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9f9f5e6b444f09" /><Relationship Type="http://schemas.openxmlformats.org/officeDocument/2006/relationships/notesSlide" Target="/ppt/notesSlides/notesSlide5.xml" Id="Rab6d3b03f4db49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f63c64dd1c44ea" /><Relationship Type="http://schemas.openxmlformats.org/officeDocument/2006/relationships/image" Target="/ppt/media/image3.png" Id="Rec6826f08766475a" /><Relationship Type="http://schemas.openxmlformats.org/officeDocument/2006/relationships/notesSlide" Target="/ppt/notesSlides/notesSlide6.xml" Id="Ra949763ee65a435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893a7c59e174f18" /><Relationship Type="http://schemas.openxmlformats.org/officeDocument/2006/relationships/notesSlide" Target="/ppt/notesSlides/notesSlide7.xml" Id="R60c2db3c294546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7c801ebc174aef" /><Relationship Type="http://schemas.openxmlformats.org/officeDocument/2006/relationships/notesSlide" Target="/ppt/notesSlides/notesSlide8.xml" Id="R78a30d0dc48e45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7717a014cfb4442" /><Relationship Type="http://schemas.openxmlformats.org/officeDocument/2006/relationships/notesSlide" Target="/ppt/notesSlides/notesSlide9.xml" Id="Rf0dd936a24ea47a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99d943f9e74e72" /><Relationship Type="http://schemas.openxmlformats.org/officeDocument/2006/relationships/notesSlide" Target="/ppt/notesSlides/notesSlide10.xml" Id="R0e49620eb6e44b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46d640feb144868" /><Relationship Type="http://schemas.openxmlformats.org/officeDocument/2006/relationships/notesSlide" Target="/ppt/notesSlides/notesSlide11.xml" Id="Rf6ae12aff69d48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2c0a7d7492141ea" /><Relationship Type="http://schemas.openxmlformats.org/officeDocument/2006/relationships/notesSlide" Target="/ppt/notesSlides/notesSlide12.xml" Id="R6ebbcffee0624d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74d118b54b4271" /><Relationship Type="http://schemas.openxmlformats.org/officeDocument/2006/relationships/notesSlide" Target="/ppt/notesSlides/notesSlide13.xml" Id="R27e098c3529a4d9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84fe412c2854936" /><Relationship Type="http://schemas.openxmlformats.org/officeDocument/2006/relationships/notesSlide" Target="/ppt/notesSlides/notesSlide14.xml" Id="Rc81cafdc83d943e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61d323a70a34c2e" /><Relationship Type="http://schemas.openxmlformats.org/officeDocument/2006/relationships/image" Target="/ppt/media/image4.png" Id="Rbf77fafa95f340ee" /><Relationship Type="http://schemas.openxmlformats.org/officeDocument/2006/relationships/image" Target="/ppt/media/image5.png" Id="Rd298a279dbde43e1" /><Relationship Type="http://schemas.openxmlformats.org/officeDocument/2006/relationships/notesSlide" Target="/ppt/notesSlides/notesSlide15.xml" Id="Rbd3ecac7c8654ab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3e43f3db5164e95" /><Relationship Type="http://schemas.openxmlformats.org/officeDocument/2006/relationships/image" Target="/ppt/media/image6.png" Id="Rc1b37dd394b74f5f" /><Relationship Type="http://schemas.openxmlformats.org/officeDocument/2006/relationships/image" Target="/ppt/media/image7.png" Id="R303ef9b385be496d" /><Relationship Type="http://schemas.openxmlformats.org/officeDocument/2006/relationships/notesSlide" Target="/ppt/notesSlides/notesSlide16.xml" Id="Ra7c104ab085943a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3efedeae5784082" /><Relationship Type="http://schemas.openxmlformats.org/officeDocument/2006/relationships/image" Target="/ppt/media/image8.png" Id="R16a1dd5110c4477a" /><Relationship Type="http://schemas.openxmlformats.org/officeDocument/2006/relationships/image" Target="/ppt/media/image9.png" Id="R7fa449026f3b4ec6" /><Relationship Type="http://schemas.openxmlformats.org/officeDocument/2006/relationships/notesSlide" Target="/ppt/notesSlides/notesSlide17.xml" Id="R434975a88db6436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4069701d7984344" /><Relationship Type="http://schemas.openxmlformats.org/officeDocument/2006/relationships/image" Target="/ppt/media/image10.png" Id="R419d5d3fc73d4785" /><Relationship Type="http://schemas.openxmlformats.org/officeDocument/2006/relationships/image" Target="/ppt/media/image11.png" Id="R1996310c7f204ed8" /><Relationship Type="http://schemas.openxmlformats.org/officeDocument/2006/relationships/notesSlide" Target="/ppt/notesSlides/notesSlide18.xml" Id="R7f50baa24fcd46c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8e5be61a8b4e26" /><Relationship Type="http://schemas.openxmlformats.org/officeDocument/2006/relationships/chart" Target="/ppt/slides/charts/chart1.xml" Id="Rb5d8293b12394e36" /><Relationship Type="http://schemas.openxmlformats.org/officeDocument/2006/relationships/notesSlide" Target="/ppt/notesSlides/notesSlide19.xml" Id="R4a627bc5c3ef44a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41b71770b4848ea" /><Relationship Type="http://schemas.openxmlformats.org/officeDocument/2006/relationships/notesSlide" Target="/ppt/notesSlides/notesSlide20.xml" Id="Re4a96eb041a24c3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52126f453094f8e" /><Relationship Type="http://schemas.openxmlformats.org/officeDocument/2006/relationships/notesSlide" Target="/ppt/notesSlides/notesSlide21.xml" Id="R7ec227a43255481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6f6980bc0bd4559" /><Relationship Type="http://schemas.openxmlformats.org/officeDocument/2006/relationships/notesSlide" Target="/ppt/notesSlides/notesSlide22.xml" Id="R9badc885af32494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6c58f4665a34b01" /><Relationship Type="http://schemas.openxmlformats.org/officeDocument/2006/relationships/notesSlide" Target="/ppt/notesSlides/notesSlide23.xml" Id="R61234e34d4d4481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821b8abdb574cc9" /><Relationship Type="http://schemas.openxmlformats.org/officeDocument/2006/relationships/notesSlide" Target="/ppt/notesSlides/notesSlide24.xml" Id="R1dcf5ff9a73b43c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4d82b656bf04890" /><Relationship Type="http://schemas.openxmlformats.org/officeDocument/2006/relationships/notesSlide" Target="/ppt/notesSlides/notesSlide25.xml" Id="R81998fe698ca43a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3cb5193bc84647" /><Relationship Type="http://schemas.openxmlformats.org/officeDocument/2006/relationships/notesSlide" Target="/ppt/notesSlides/notesSlide26.xml" Id="Rcd366ca1c3224560" /></Relationships>
</file>

<file path=ppt/slides/charts/chart1.xml><?xml version="1.0" encoding="utf-8"?>
<c:chartSpace xmlns:c="http://schemas.openxmlformats.org/drawingml/2006/chart">
  <c:lang val="en-US"/>
  <c:chart>
    <c:plotArea>
      <c:barChart>
        <c:barDir val="bar"/>
        <c:grouping val="stacked"/>
        <c:varyColors val="0"/>
        <c:ser>
          <c:idx val="0"/>
          <c:order val="0"/>
          <c:tx>
            <c:v>UI awal</c:v>
          </c:tx>
          <c:spPr>
            <a:solidFill xmlns:a="http://schemas.openxmlformats.org/drawingml/2006/main">
              <a:srgbClr val="2466BE"/>
            </a:solidFill>
          </c:spPr>
          <c:cat>
            <c:strLit>
              <c:ptCount val="4"/>
              <c:pt idx="0">
                <c:v>Google Stitch + HTML</c:v>
              </c:pt>
              <c:pt idx="1">
                <c:v>Create UI langsung</c:v>
              </c:pt>
              <c:pt idx="2">
                <c:v>Mapping + Create UI</c:v>
              </c:pt>
              <c:pt idx="3">
                <c:v>Agent HTML + FMX</c:v>
              </c:pt>
            </c:strLit>
          </c:cat>
          <c:val>
            <c:numLit>
              <c:formatCode>0.0</c:formatCode>
              <c:ptCount val="4"/>
              <c:pt idx="0">
                <c:v>32.81666666666667</c:v>
              </c:pt>
              <c:pt idx="1">
                <c:v>23.416666666666668</c:v>
              </c:pt>
              <c:pt idx="2">
                <c:v>50.166666666666664</c:v>
              </c:pt>
              <c:pt idx="3">
                <c:v>14.666666666666666</c:v>
              </c:pt>
            </c:numLit>
          </c:val>
        </c:ser>
        <c:ser>
          <c:idx val="1"/>
          <c:order val="1"/>
          <c:tx>
            <c:v>Card + data dummy</c:v>
          </c:tx>
          <c:spPr>
            <a:solidFill xmlns:a="http://schemas.openxmlformats.org/drawingml/2006/main">
              <a:srgbClr val="DA7955"/>
            </a:solidFill>
          </c:spPr>
          <c:cat>
            <c:strLit>
              <c:ptCount val="4"/>
              <c:pt idx="0">
                <c:v>Google Stitch + HTML</c:v>
              </c:pt>
              <c:pt idx="1">
                <c:v>Create UI langsung</c:v>
              </c:pt>
              <c:pt idx="2">
                <c:v>Mapping + Create UI</c:v>
              </c:pt>
              <c:pt idx="3">
                <c:v>Agent HTML + FMX</c:v>
              </c:pt>
            </c:strLit>
          </c:cat>
          <c:val>
            <c:numLit>
              <c:formatCode>0.0</c:formatCode>
              <c:ptCount val="4"/>
              <c:pt idx="0">
                <c:v>6.1</c:v>
              </c:pt>
              <c:pt idx="1">
                <c:v>2.45</c:v>
              </c:pt>
              <c:pt idx="2">
                <c:v>5.2</c:v>
              </c:pt>
              <c:pt idx="3">
                <c:v>8.883333333333333</c:v>
              </c:pt>
            </c:numLit>
          </c:val>
        </c:ser>
        <c:dLbls>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l"/>
        <c:majorGridlines>
          <c:spPr>
            <a:ln xmlns:a="http://schemas.openxmlformats.org/drawingml/2006/main" w="9525">
              <a:solidFill>
                <a:srgbClr val="DEE5E6"/>
              </a:solidFill>
            </a:ln>
          </c:spPr>
        </c:majorGridlines>
        <c:numFmt formatCode="0&quot; min&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566B70"/>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42C31"/>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42C31"/>
              </a:solidFill>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42C31"/>
        </a:solidFill>
      </p:bgPr>
    </p:bg>
    <p:spTree>
      <p:nvGrpSpPr>
        <p:cNvPr id="1" name=""/>
        <p:cNvGrpSpPr/>
        <p:nvPr/>
      </p:nvGrpSpPr>
      <p:grpSpPr>
        <a:xfrm xmlns:a="http://schemas.openxmlformats.org/drawingml/2006/main"/>
      </p:grpSpPr>
      <p:sp>
        <p:nvSpPr>
          <p:cNvPr id="6" name="HTML-FMX  /  V2 healthcare study">
            <a:extLst xmlns:a="http://schemas.openxmlformats.org/drawingml/2006/main">
              <a:ext uri="{FF2B5EF4-FFF2-40B4-BE49-F238E27FC236}">
                <a16:creationId xmlns:a16="http://schemas.microsoft.com/office/drawing/2014/main" id="{FE80475D-169A-4851-908C-2E11B764EA14}"/>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C6E2DE"/>
                </a:solidFill>
                <a:latin typeface="Arial"/>
                <a:ea typeface="Arial"/>
                <a:cs typeface="Arial"/>
              </a:defRPr>
            </a:pPr>
            <a:r>
              <a:rPr sz="1200" b="0">
                <a:solidFill>
                  <a:srgbClr val="C6E2DE"/>
                </a:solidFill>
                <a:latin typeface="Arial"/>
                <a:ea typeface="Arial"/>
                <a:cs typeface="Arial"/>
              </a:rPr>
              <a:t>HTML-FMX  /  V2 healthcare study</a:t>
            </a:r>
          </a:p>
        </p:txBody>
      </p:sp>
      <p:sp>
        <p:nvSpPr>
          <p:cNvPr id="2" name="01">
            <a:extLst xmlns:a="http://schemas.openxmlformats.org/drawingml/2006/main">
              <a:ext uri="{FF2B5EF4-FFF2-40B4-BE49-F238E27FC236}">
                <a16:creationId xmlns:a16="http://schemas.microsoft.com/office/drawing/2014/main" id="{6D986A9B-3DBB-484F-A633-649865768081}"/>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C6E2DE"/>
                </a:solidFill>
                <a:latin typeface="Arial"/>
                <a:ea typeface="Arial"/>
                <a:cs typeface="Arial"/>
              </a:defRPr>
            </a:pPr>
            <a:r>
              <a:rPr sz="1350" b="0">
                <a:solidFill>
                  <a:srgbClr val="C6E2DE"/>
                </a:solidFill>
                <a:latin typeface="Arial"/>
                <a:ea typeface="Arial"/>
                <a:cs typeface="Arial"/>
              </a:rPr>
              <a:t>01</a:t>
            </a:r>
          </a:p>
        </p:txBody>
      </p:sp>
      <p:sp>
        <p:nvSpPr>
          <p:cNvPr id="3" name="HTML-FMX SKILLS  /  VERSION 2">
            <a:extLst xmlns:a="http://schemas.openxmlformats.org/drawingml/2006/main">
              <a:ext uri="{FF2B5EF4-FFF2-40B4-BE49-F238E27FC236}">
                <a16:creationId xmlns:a16="http://schemas.microsoft.com/office/drawing/2014/main" id="{26172654-8E2D-4D3E-BD31-9A92A7F49376}"/>
              </a:ext>
            </a:extLst>
          </p:cNvPr>
          <p:cNvSpPr>
            <a:spLocks xmlns:a="http://schemas.openxmlformats.org/drawingml/2006/main" noGrp="1"/>
          </p:cNvSpPr>
          <p:nvPr/>
        </p:nvSpPr>
        <p:spPr>
          <a:xfrm xmlns:a="http://schemas.openxmlformats.org/drawingml/2006/main">
            <a:off x="762000" y="885825"/>
            <a:ext cx="1371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725" b="1">
                <a:solidFill>
                  <a:srgbClr val="C6E2DE"/>
                </a:solidFill>
                <a:latin typeface="Arial"/>
                <a:ea typeface="Arial"/>
                <a:cs typeface="Arial"/>
              </a:defRPr>
            </a:pPr>
            <a:r>
              <a:rPr sz="1725" b="1">
                <a:solidFill>
                  <a:srgbClr val="C6E2DE"/>
                </a:solidFill>
                <a:latin typeface="Arial"/>
                <a:ea typeface="Arial"/>
                <a:cs typeface="Arial"/>
              </a:rPr>
              <a:t>HTML-FMX SKILLS  /  VERSION 2</a:t>
            </a:r>
          </a:p>
        </p:txBody>
      </p:sp>
      <p:sp>
        <p:nvSpPr>
          <p:cNvPr id="4" name="Membangun UI FMX&#10;yang dapat dirawat&#10;dengan AI">
            <a:extLst xmlns:a="http://schemas.openxmlformats.org/drawingml/2006/main">
              <a:ext uri="{FF2B5EF4-FFF2-40B4-BE49-F238E27FC236}">
                <a16:creationId xmlns:a16="http://schemas.microsoft.com/office/drawing/2014/main" id="{C532D56B-65B2-45AA-ABD3-8A56B7F18953}"/>
              </a:ext>
            </a:extLst>
          </p:cNvPr>
          <p:cNvSpPr>
            <a:spLocks xmlns:a="http://schemas.openxmlformats.org/drawingml/2006/main" noGrp="1"/>
          </p:cNvSpPr>
          <p:nvPr/>
        </p:nvSpPr>
        <p:spPr>
          <a:xfrm xmlns:a="http://schemas.openxmlformats.org/drawingml/2006/main">
            <a:off x="762000" y="2076450"/>
            <a:ext cx="92868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Membangun UI FMX</a:t>
            </a:r>
          </a:p>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yang dapat dirawat</a:t>
            </a:r>
          </a:p>
          <a:p xmlns:a="http://schemas.openxmlformats.org/drawingml/2006/main">
            <a:pPr>
              <a:buNone/>
              <a:defRPr sz="4950" b="1">
                <a:solidFill>
                  <a:srgbClr val="FFFFFF"/>
                </a:solidFill>
                <a:latin typeface="Arial"/>
                <a:ea typeface="Arial"/>
                <a:cs typeface="Arial"/>
              </a:defRPr>
            </a:pPr>
            <a:r>
              <a:rPr sz="4950" b="1">
                <a:solidFill>
                  <a:srgbClr val="FFFFFF"/>
                </a:solidFill>
                <a:latin typeface="Arial"/>
                <a:ea typeface="Arial"/>
                <a:cs typeface="Arial"/>
              </a:rPr>
              <a:t>dengan AI</a:t>
            </a:r>
          </a:p>
        </p:txBody>
      </p:sp>
      <p:sp>
        <p:nvSpPr>
          <p:cNvPr id="5" name="Studi kasus Healthcare Appointment App&#10;Satu coretan wirefram">
            <a:extLst xmlns:a="http://schemas.openxmlformats.org/drawingml/2006/main">
              <a:ext uri="{FF2B5EF4-FFF2-40B4-BE49-F238E27FC236}">
                <a16:creationId xmlns:a16="http://schemas.microsoft.com/office/drawing/2014/main" id="{B0BE2C28-65C2-48B7-88BE-21F36B557868}"/>
              </a:ext>
            </a:extLst>
          </p:cNvPr>
          <p:cNvSpPr>
            <a:spLocks xmlns:a="http://schemas.openxmlformats.org/drawingml/2006/main" noGrp="1"/>
          </p:cNvSpPr>
          <p:nvPr/>
        </p:nvSpPr>
        <p:spPr>
          <a:xfrm xmlns:a="http://schemas.openxmlformats.org/drawingml/2006/main">
            <a:off x="762000" y="5857875"/>
            <a:ext cx="9477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C6E2DE"/>
                </a:solidFill>
                <a:latin typeface="Arial"/>
                <a:ea typeface="Arial"/>
                <a:cs typeface="Arial"/>
              </a:defRPr>
            </a:pPr>
            <a:r>
              <a:rPr sz="2250" b="0">
                <a:solidFill>
                  <a:srgbClr val="C6E2DE"/>
                </a:solidFill>
                <a:latin typeface="Arial"/>
                <a:ea typeface="Arial"/>
                <a:cs typeface="Arial"/>
              </a:rPr>
              <a:t>Studi kasus Healthcare Appointment App</a:t>
            </a:r>
          </a:p>
          <a:p xmlns:a="http://schemas.openxmlformats.org/drawingml/2006/main">
            <a:pPr>
              <a:buNone/>
              <a:defRPr sz="2250" b="0">
                <a:solidFill>
                  <a:srgbClr val="C6E2DE"/>
                </a:solidFill>
                <a:latin typeface="Arial"/>
                <a:ea typeface="Arial"/>
                <a:cs typeface="Arial"/>
              </a:defRPr>
            </a:pPr>
            <a:r>
              <a:rPr sz="2250" b="0">
                <a:solidFill>
                  <a:srgbClr val="C6E2DE"/>
                </a:solidFill>
                <a:latin typeface="Arial"/>
                <a:ea typeface="Arial"/>
                <a:cs typeface="Arial"/>
              </a:rPr>
              <a:t>Satu coretan wireframe, empat alur implementasi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95a73816d6b4faf"/>
          <a:stretch xmlns:a="http://schemas.openxmlformats.org/drawingml/2006/main"/>
        </p:blipFill>
        <p:spPr>
          <a:xfrm xmlns:a="http://schemas.openxmlformats.org/drawingml/2006/main">
            <a:off x="11158316" y="1809750"/>
            <a:ext cx="2781743" cy="6000750"/>
          </a:xfrm>
          <a:prstGeom xmlns:a="http://schemas.openxmlformats.org/drawingml/2006/main" prst="rect">
            <a:avLst/>
          </a:prstGeom>
        </p:spPr>
      </p:pic>
    </p:spTree>
    <p:extLst>
      <p:ext uri="{BB962C8B-B14F-4D97-AF65-F5344CB8AC3E}">
        <p14:creationId xmlns:p14="http://schemas.microsoft.com/office/powerpoint/2010/main" val="13142194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Mengapa saya membuat skill ini">
            <a:extLst xmlns:a="http://schemas.openxmlformats.org/drawingml/2006/main">
              <a:ext uri="{FF2B5EF4-FFF2-40B4-BE49-F238E27FC236}">
                <a16:creationId xmlns:a16="http://schemas.microsoft.com/office/drawing/2014/main" id="{0D7E6961-80F2-4A78-8204-8BEDABB186A8}"/>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Mengapa saya membuat skill ini</a:t>
            </a:r>
          </a:p>
        </p:txBody>
      </p:sp>
      <p:sp>
        <p:nvSpPr>
          <p:cNvPr id="2" name="Pengamatan pribadi saat melihat cara programmer Delphi memba">
            <a:extLst xmlns:a="http://schemas.openxmlformats.org/drawingml/2006/main">
              <a:ext uri="{FF2B5EF4-FFF2-40B4-BE49-F238E27FC236}">
                <a16:creationId xmlns:a16="http://schemas.microsoft.com/office/drawing/2014/main" id="{0721B949-D5EB-4EDF-9C6D-03129ED8E882}"/>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Pengamatan pribadi saat melihat cara programmer Delphi membangun UI FMX mobile</a:t>
            </a:r>
          </a:p>
        </p:txBody>
      </p:sp>
      <p:sp>
        <p:nvSpPr>
          <p:cNvPr id="3" name="HTML-FMX  /  V2 healthcare study">
            <a:extLst xmlns:a="http://schemas.openxmlformats.org/drawingml/2006/main">
              <a:ext uri="{FF2B5EF4-FFF2-40B4-BE49-F238E27FC236}">
                <a16:creationId xmlns:a16="http://schemas.microsoft.com/office/drawing/2014/main" id="{548184C9-4E84-4A97-822B-6BD7098F3820}"/>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2">
            <a:extLst xmlns:a="http://schemas.openxmlformats.org/drawingml/2006/main">
              <a:ext uri="{FF2B5EF4-FFF2-40B4-BE49-F238E27FC236}">
                <a16:creationId xmlns:a16="http://schemas.microsoft.com/office/drawing/2014/main" id="{68D5AED6-D146-4896-93F4-A0AC2D96BD1F}"/>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02</a:t>
            </a:r>
          </a:p>
        </p:txBody>
      </p:sp>
      <p:sp>
        <p:nvSpPr>
          <p:cNvPr id="5" name="Kebiasaan desain desktop ikut terbawa">
            <a:extLst xmlns:a="http://schemas.openxmlformats.org/drawingml/2006/main">
              <a:ext uri="{FF2B5EF4-FFF2-40B4-BE49-F238E27FC236}">
                <a16:creationId xmlns:a16="http://schemas.microsoft.com/office/drawing/2014/main" id="{8121D087-E65A-486A-9526-5AB32DD6BA4E}"/>
              </a:ext>
            </a:extLst>
          </p:cNvPr>
          <p:cNvSpPr>
            <a:spLocks xmlns:a="http://schemas.openxmlformats.org/drawingml/2006/main" noGrp="1"/>
          </p:cNvSpPr>
          <p:nvPr/>
        </p:nvSpPr>
        <p:spPr>
          <a:xfrm xmlns:a="http://schemas.openxmlformats.org/drawingml/2006/main">
            <a:off x="762000" y="2143125"/>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007F79"/>
                </a:solidFill>
                <a:latin typeface="Arial"/>
                <a:ea typeface="Arial"/>
                <a:cs typeface="Arial"/>
              </a:defRPr>
            </a:pPr>
            <a:r>
              <a:rPr sz="2400" b="1">
                <a:solidFill>
                  <a:srgbClr val="007F79"/>
                </a:solidFill>
                <a:latin typeface="Arial"/>
                <a:ea typeface="Arial"/>
                <a:cs typeface="Arial"/>
              </a:rPr>
              <a:t>Kebiasaan desain desktop ikut terbawa</a:t>
            </a:r>
          </a:p>
        </p:txBody>
      </p:sp>
      <p:sp>
        <p:nvSpPr>
          <p:cNvPr id="6" name="Ukuran kontrol, kepadatan informasi, dan penempatan elemen s">
            <a:extLst xmlns:a="http://schemas.openxmlformats.org/drawingml/2006/main">
              <a:ext uri="{FF2B5EF4-FFF2-40B4-BE49-F238E27FC236}">
                <a16:creationId xmlns:a16="http://schemas.microsoft.com/office/drawing/2014/main" id="{0A5B61EE-80C5-4A71-B435-7496247A2A1C}"/>
              </a:ext>
            </a:extLst>
          </p:cNvPr>
          <p:cNvSpPr>
            <a:spLocks xmlns:a="http://schemas.openxmlformats.org/drawingml/2006/main" noGrp="1"/>
          </p:cNvSpPr>
          <p:nvPr/>
        </p:nvSpPr>
        <p:spPr>
          <a:xfrm xmlns:a="http://schemas.openxmlformats.org/drawingml/2006/main">
            <a:off x="762000" y="2686050"/>
            <a:ext cx="1314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C31"/>
                </a:solidFill>
                <a:latin typeface="Arial"/>
                <a:ea typeface="Arial"/>
                <a:cs typeface="Arial"/>
              </a:defRPr>
            </a:pPr>
            <a:r>
              <a:rPr sz="2100" b="0">
                <a:solidFill>
                  <a:srgbClr val="142C31"/>
                </a:solidFill>
                <a:latin typeface="Arial"/>
                <a:ea typeface="Arial"/>
                <a:cs typeface="Arial"/>
              </a:rPr>
              <a:t>Ukuran kontrol, kepadatan informasi, dan penempatan elemen sering masih mengikuti pola form VCL. Layar mobile membutuhkan keputusan layout yang berbeda.</a:t>
            </a:r>
          </a:p>
        </p:txBody>
      </p:sp>
      <p:sp>
        <p:nvSpPr>
          <p:cNvPr id="7" name="Hierarchy sulit menjelaskan tanggung jawab">
            <a:extLst xmlns:a="http://schemas.openxmlformats.org/drawingml/2006/main">
              <a:ext uri="{FF2B5EF4-FFF2-40B4-BE49-F238E27FC236}">
                <a16:creationId xmlns:a16="http://schemas.microsoft.com/office/drawing/2014/main" id="{6112FA78-F77D-412A-A041-2B49554771C0}"/>
              </a:ext>
            </a:extLst>
          </p:cNvPr>
          <p:cNvSpPr>
            <a:spLocks xmlns:a="http://schemas.openxmlformats.org/drawingml/2006/main" noGrp="1"/>
          </p:cNvSpPr>
          <p:nvPr/>
        </p:nvSpPr>
        <p:spPr>
          <a:xfrm xmlns:a="http://schemas.openxmlformats.org/drawingml/2006/main">
            <a:off x="762000" y="4000500"/>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007F79"/>
                </a:solidFill>
                <a:latin typeface="Arial"/>
                <a:ea typeface="Arial"/>
                <a:cs typeface="Arial"/>
              </a:defRPr>
            </a:pPr>
            <a:r>
              <a:rPr sz="2400" b="1">
                <a:solidFill>
                  <a:srgbClr val="007F79"/>
                </a:solidFill>
                <a:latin typeface="Arial"/>
                <a:ea typeface="Arial"/>
                <a:cs typeface="Arial"/>
              </a:rPr>
              <a:t>Hierarchy sulit menjelaskan tanggung jawab</a:t>
            </a:r>
          </a:p>
        </p:txBody>
      </p:sp>
      <p:sp>
        <p:nvSpPr>
          <p:cNvPr id="8" name="Container bertumpuk membuat developer sulit menemukan pemili">
            <a:extLst xmlns:a="http://schemas.openxmlformats.org/drawingml/2006/main">
              <a:ext uri="{FF2B5EF4-FFF2-40B4-BE49-F238E27FC236}">
                <a16:creationId xmlns:a16="http://schemas.microsoft.com/office/drawing/2014/main" id="{38775706-E8D0-43C4-B6B2-AC59C0B76D81}"/>
              </a:ext>
            </a:extLst>
          </p:cNvPr>
          <p:cNvSpPr>
            <a:spLocks xmlns:a="http://schemas.openxmlformats.org/drawingml/2006/main" noGrp="1"/>
          </p:cNvSpPr>
          <p:nvPr/>
        </p:nvSpPr>
        <p:spPr>
          <a:xfrm xmlns:a="http://schemas.openxmlformats.org/drawingml/2006/main">
            <a:off x="762000" y="4543425"/>
            <a:ext cx="1314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C31"/>
                </a:solidFill>
                <a:latin typeface="Arial"/>
                <a:ea typeface="Arial"/>
                <a:cs typeface="Arial"/>
              </a:defRPr>
            </a:pPr>
            <a:r>
              <a:rPr sz="2100" b="0">
                <a:solidFill>
                  <a:srgbClr val="142C31"/>
                </a:solidFill>
                <a:latin typeface="Arial"/>
                <a:ea typeface="Arial"/>
                <a:cs typeface="Arial"/>
              </a:rPr>
              <a:t>Container bertumpuk membuat developer sulit menemukan pemilik suatu area dan menilai dampak perubahan layout.</a:t>
            </a:r>
          </a:p>
        </p:txBody>
      </p:sp>
      <p:sp>
        <p:nvSpPr>
          <p:cNvPr id="9" name="Output AI membutuhkan aturan proyek">
            <a:extLst xmlns:a="http://schemas.openxmlformats.org/drawingml/2006/main">
              <a:ext uri="{FF2B5EF4-FFF2-40B4-BE49-F238E27FC236}">
                <a16:creationId xmlns:a16="http://schemas.microsoft.com/office/drawing/2014/main" id="{ADA4B05C-FE0D-4780-A964-BC97FDFB00F2}"/>
              </a:ext>
            </a:extLst>
          </p:cNvPr>
          <p:cNvSpPr>
            <a:spLocks xmlns:a="http://schemas.openxmlformats.org/drawingml/2006/main" noGrp="1"/>
          </p:cNvSpPr>
          <p:nvPr/>
        </p:nvSpPr>
        <p:spPr>
          <a:xfrm xmlns:a="http://schemas.openxmlformats.org/drawingml/2006/main">
            <a:off x="762000" y="5857875"/>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007F79"/>
                </a:solidFill>
                <a:latin typeface="Arial"/>
                <a:ea typeface="Arial"/>
                <a:cs typeface="Arial"/>
              </a:defRPr>
            </a:pPr>
            <a:r>
              <a:rPr sz="2400" b="1">
                <a:solidFill>
                  <a:srgbClr val="007F79"/>
                </a:solidFill>
                <a:latin typeface="Arial"/>
                <a:ea typeface="Arial"/>
                <a:cs typeface="Arial"/>
              </a:rPr>
              <a:t>Output AI membutuhkan aturan proyek</a:t>
            </a:r>
          </a:p>
        </p:txBody>
      </p:sp>
      <p:sp>
        <p:nvSpPr>
          <p:cNvPr id="10" name="Developer tetap perlu memahami, mengedit, dan menghubungkan ">
            <a:extLst xmlns:a="http://schemas.openxmlformats.org/drawingml/2006/main">
              <a:ext uri="{FF2B5EF4-FFF2-40B4-BE49-F238E27FC236}">
                <a16:creationId xmlns:a16="http://schemas.microsoft.com/office/drawing/2014/main" id="{41F0C53D-E572-42F0-91E9-1E7A747CC6FF}"/>
              </a:ext>
            </a:extLst>
          </p:cNvPr>
          <p:cNvSpPr>
            <a:spLocks xmlns:a="http://schemas.openxmlformats.org/drawingml/2006/main" noGrp="1"/>
          </p:cNvSpPr>
          <p:nvPr/>
        </p:nvSpPr>
        <p:spPr>
          <a:xfrm xmlns:a="http://schemas.openxmlformats.org/drawingml/2006/main">
            <a:off x="762000" y="6400800"/>
            <a:ext cx="1314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C31"/>
                </a:solidFill>
                <a:latin typeface="Arial"/>
                <a:ea typeface="Arial"/>
                <a:cs typeface="Arial"/>
              </a:defRPr>
            </a:pPr>
            <a:r>
              <a:rPr sz="2100" b="0">
                <a:solidFill>
                  <a:srgbClr val="142C31"/>
                </a:solidFill>
                <a:latin typeface="Arial"/>
                <a:ea typeface="Arial"/>
                <a:cs typeface="Arial"/>
              </a:rPr>
              <a:t>Developer tetap perlu memahami, mengedit, dan menghubungkan UI hasil agent ke aplikasi Delphi yang sudah ada.</a:t>
            </a:r>
          </a:p>
        </p:txBody>
      </p:sp>
    </p:spTree>
    <p:extLst>
      <p:ext uri="{BB962C8B-B14F-4D97-AF65-F5344CB8AC3E}">
        <p14:creationId xmlns:p14="http://schemas.microsoft.com/office/powerpoint/2010/main" val="8275212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Hierarchy mengikuti fungsi UI">
            <a:extLst xmlns:a="http://schemas.openxmlformats.org/drawingml/2006/main">
              <a:ext uri="{FF2B5EF4-FFF2-40B4-BE49-F238E27FC236}">
                <a16:creationId xmlns:a16="http://schemas.microsoft.com/office/drawing/2014/main" id="{52C246C8-68CD-4128-9245-794AE7B55D7B}"/>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Hierarchy mengikuti fungsi UI</a:t>
            </a:r>
          </a:p>
        </p:txBody>
      </p:sp>
      <p:sp>
        <p:nvSpPr>
          <p:cNvPr id="2" name="Setiap container memiliki alasan untuk layout, grouping, scr">
            <a:extLst xmlns:a="http://schemas.openxmlformats.org/drawingml/2006/main">
              <a:ext uri="{FF2B5EF4-FFF2-40B4-BE49-F238E27FC236}">
                <a16:creationId xmlns:a16="http://schemas.microsoft.com/office/drawing/2014/main" id="{1FB36BC6-ACA9-43D9-9D61-05DEA29E0B41}"/>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Setiap container memiliki alasan untuk layout, grouping, scroll, atau interaksi</a:t>
            </a:r>
          </a:p>
        </p:txBody>
      </p:sp>
      <p:sp>
        <p:nvSpPr>
          <p:cNvPr id="3" name="HTML-FMX  /  V2 healthcare study">
            <a:extLst xmlns:a="http://schemas.openxmlformats.org/drawingml/2006/main">
              <a:ext uri="{FF2B5EF4-FFF2-40B4-BE49-F238E27FC236}">
                <a16:creationId xmlns:a16="http://schemas.microsoft.com/office/drawing/2014/main" id="{B4A72CAD-1B3C-45E0-B0D1-D61E96CB18C1}"/>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3">
            <a:extLst xmlns:a="http://schemas.openxmlformats.org/drawingml/2006/main">
              <a:ext uri="{FF2B5EF4-FFF2-40B4-BE49-F238E27FC236}">
                <a16:creationId xmlns:a16="http://schemas.microsoft.com/office/drawing/2014/main" id="{43A95E04-D8E1-4A82-AEF0-E87CFD1A175A}"/>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03</a:t>
            </a:r>
          </a:p>
        </p:txBody>
      </p:sp>
      <p:sp>
        <p:nvSpPr>
          <p:cNvPr id="5" name="Section halaman">
            <a:extLst xmlns:a="http://schemas.openxmlformats.org/drawingml/2006/main">
              <a:ext uri="{FF2B5EF4-FFF2-40B4-BE49-F238E27FC236}">
                <a16:creationId xmlns:a16="http://schemas.microsoft.com/office/drawing/2014/main" id="{AC1101A2-59FE-459E-B8FD-E4278A858FC8}"/>
              </a:ext>
            </a:extLst>
          </p:cNvPr>
          <p:cNvSpPr>
            <a:spLocks xmlns:a="http://schemas.openxmlformats.org/drawingml/2006/main" noGrp="1"/>
          </p:cNvSpPr>
          <p:nvPr/>
        </p:nvSpPr>
        <p:spPr>
          <a:xfrm xmlns:a="http://schemas.openxmlformats.org/drawingml/2006/main">
            <a:off x="762000" y="2247900"/>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F79"/>
                </a:solidFill>
                <a:latin typeface="Arial"/>
                <a:ea typeface="Arial"/>
                <a:cs typeface="Arial"/>
              </a:defRPr>
            </a:pPr>
            <a:r>
              <a:rPr sz="2850" b="1">
                <a:solidFill>
                  <a:srgbClr val="007F79"/>
                </a:solidFill>
                <a:latin typeface="Arial"/>
                <a:ea typeface="Arial"/>
                <a:cs typeface="Arial"/>
              </a:rPr>
              <a:t>Section halaman</a:t>
            </a:r>
          </a:p>
        </p:txBody>
      </p:sp>
      <p:sp>
        <p:nvSpPr>
          <p:cNvPr id="6" name="Header, pencarian, kategori, appointment, daftar dokter, dan">
            <a:extLst xmlns:a="http://schemas.openxmlformats.org/drawingml/2006/main">
              <a:ext uri="{FF2B5EF4-FFF2-40B4-BE49-F238E27FC236}">
                <a16:creationId xmlns:a16="http://schemas.microsoft.com/office/drawing/2014/main" id="{39571C6D-C589-40EF-88DF-8A807D6E7717}"/>
              </a:ext>
            </a:extLst>
          </p:cNvPr>
          <p:cNvSpPr>
            <a:spLocks xmlns:a="http://schemas.openxmlformats.org/drawingml/2006/main" noGrp="1"/>
          </p:cNvSpPr>
          <p:nvPr/>
        </p:nvSpPr>
        <p:spPr>
          <a:xfrm xmlns:a="http://schemas.openxmlformats.org/drawingml/2006/main">
            <a:off x="762000" y="2952750"/>
            <a:ext cx="628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Header, pencarian, kategori, appointment, daftar dokter, dan navigasi bawah memiliki ownership yang dapat ditelusuri.</a:t>
            </a:r>
          </a:p>
        </p:txBody>
      </p:sp>
      <p:sp>
        <p:nvSpPr>
          <p:cNvPr id="7" name="Komponen tetap">
            <a:extLst xmlns:a="http://schemas.openxmlformats.org/drawingml/2006/main">
              <a:ext uri="{FF2B5EF4-FFF2-40B4-BE49-F238E27FC236}">
                <a16:creationId xmlns:a16="http://schemas.microsoft.com/office/drawing/2014/main" id="{87BD7324-1B57-43E7-94D9-F85B0ED5C7A9}"/>
              </a:ext>
            </a:extLst>
          </p:cNvPr>
          <p:cNvSpPr>
            <a:spLocks xmlns:a="http://schemas.openxmlformats.org/drawingml/2006/main" noGrp="1"/>
          </p:cNvSpPr>
          <p:nvPr/>
        </p:nvSpPr>
        <p:spPr>
          <a:xfrm xmlns:a="http://schemas.openxmlformats.org/drawingml/2006/main">
            <a:off x="762000" y="5162550"/>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F79"/>
                </a:solidFill>
                <a:latin typeface="Arial"/>
                <a:ea typeface="Arial"/>
                <a:cs typeface="Arial"/>
              </a:defRPr>
            </a:pPr>
            <a:r>
              <a:rPr sz="2850" b="1">
                <a:solidFill>
                  <a:srgbClr val="007F79"/>
                </a:solidFill>
                <a:latin typeface="Arial"/>
                <a:ea typeface="Arial"/>
                <a:cs typeface="Arial"/>
              </a:rPr>
              <a:t>Komponen tetap</a:t>
            </a:r>
          </a:p>
        </p:txBody>
      </p:sp>
      <p:sp>
        <p:nvSpPr>
          <p:cNvPr id="8" name="Kontrol dan susunan tetap berada di .fmx agar developer dapa">
            <a:extLst xmlns:a="http://schemas.openxmlformats.org/drawingml/2006/main">
              <a:ext uri="{FF2B5EF4-FFF2-40B4-BE49-F238E27FC236}">
                <a16:creationId xmlns:a16="http://schemas.microsoft.com/office/drawing/2014/main" id="{D110347B-B0F9-4F5B-BA51-4833D743D7CB}"/>
              </a:ext>
            </a:extLst>
          </p:cNvPr>
          <p:cNvSpPr>
            <a:spLocks xmlns:a="http://schemas.openxmlformats.org/drawingml/2006/main" noGrp="1"/>
          </p:cNvSpPr>
          <p:nvPr/>
        </p:nvSpPr>
        <p:spPr>
          <a:xfrm xmlns:a="http://schemas.openxmlformats.org/drawingml/2006/main">
            <a:off x="762000" y="5857875"/>
            <a:ext cx="628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Kontrol dan susunan tetap berada di .fmx agar developer dapat mengeditnya di RAD Studio Designer.</a:t>
            </a:r>
          </a:p>
        </p:txBody>
      </p:sp>
      <p:sp>
        <p:nvSpPr>
          <p:cNvPr id="9" name="Data berulang">
            <a:extLst xmlns:a="http://schemas.openxmlformats.org/drawingml/2006/main">
              <a:ext uri="{FF2B5EF4-FFF2-40B4-BE49-F238E27FC236}">
                <a16:creationId xmlns:a16="http://schemas.microsoft.com/office/drawing/2014/main" id="{2D62913A-0ED4-4060-A70E-2234506DD2D7}"/>
              </a:ext>
            </a:extLst>
          </p:cNvPr>
          <p:cNvSpPr>
            <a:spLocks xmlns:a="http://schemas.openxmlformats.org/drawingml/2006/main" noGrp="1"/>
          </p:cNvSpPr>
          <p:nvPr/>
        </p:nvSpPr>
        <p:spPr>
          <a:xfrm xmlns:a="http://schemas.openxmlformats.org/drawingml/2006/main">
            <a:off x="8334375" y="2247900"/>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F79"/>
                </a:solidFill>
                <a:latin typeface="Arial"/>
                <a:ea typeface="Arial"/>
                <a:cs typeface="Arial"/>
              </a:defRPr>
            </a:pPr>
            <a:r>
              <a:rPr sz="2850" b="1">
                <a:solidFill>
                  <a:srgbClr val="007F79"/>
                </a:solidFill>
                <a:latin typeface="Arial"/>
                <a:ea typeface="Arial"/>
                <a:cs typeface="Arial"/>
              </a:rPr>
              <a:t>Data berulang</a:t>
            </a:r>
          </a:p>
        </p:txBody>
      </p:sp>
      <p:sp>
        <p:nvSpPr>
          <p:cNvPr id="10" name="Daftar dokter memakai reusable card. Page frame membuat item">
            <a:extLst xmlns:a="http://schemas.openxmlformats.org/drawingml/2006/main">
              <a:ext uri="{FF2B5EF4-FFF2-40B4-BE49-F238E27FC236}">
                <a16:creationId xmlns:a16="http://schemas.microsoft.com/office/drawing/2014/main" id="{4505FB6C-027D-4DC7-954B-6DDF5FBA5141}"/>
              </a:ext>
            </a:extLst>
          </p:cNvPr>
          <p:cNvSpPr>
            <a:spLocks xmlns:a="http://schemas.openxmlformats.org/drawingml/2006/main" noGrp="1"/>
          </p:cNvSpPr>
          <p:nvPr/>
        </p:nvSpPr>
        <p:spPr>
          <a:xfrm xmlns:a="http://schemas.openxmlformats.org/drawingml/2006/main">
            <a:off x="8334375" y="2952750"/>
            <a:ext cx="5953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Daftar dokter memakai reusable card. Page frame membuat item daftar dan mengisi instance card sesuai data.</a:t>
            </a:r>
          </a:p>
        </p:txBody>
      </p:sp>
      <p:sp>
        <p:nvSpPr>
          <p:cNvPr id="11" name="TListBox&#10;  TListBoxItem&#10;    DoctorCard: TFrame">
            <a:extLst xmlns:a="http://schemas.openxmlformats.org/drawingml/2006/main">
              <a:ext uri="{FF2B5EF4-FFF2-40B4-BE49-F238E27FC236}">
                <a16:creationId xmlns:a16="http://schemas.microsoft.com/office/drawing/2014/main" id="{AF0EBD68-CD30-4347-809C-64C2F0D4306A}"/>
              </a:ext>
            </a:extLst>
          </p:cNvPr>
          <p:cNvSpPr>
            <a:spLocks xmlns:a="http://schemas.openxmlformats.org/drawingml/2006/main" noGrp="1"/>
          </p:cNvSpPr>
          <p:nvPr/>
        </p:nvSpPr>
        <p:spPr>
          <a:xfrm xmlns:a="http://schemas.openxmlformats.org/drawingml/2006/main">
            <a:off x="8334375" y="5219700"/>
            <a:ext cx="59531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142C31"/>
                </a:solidFill>
                <a:latin typeface="Arial"/>
                <a:ea typeface="Arial"/>
                <a:cs typeface="Arial"/>
              </a:defRPr>
            </a:pPr>
            <a:r>
              <a:rPr sz="2625" b="1">
                <a:solidFill>
                  <a:srgbClr val="142C31"/>
                </a:solidFill>
                <a:latin typeface="Arial"/>
                <a:ea typeface="Arial"/>
                <a:cs typeface="Arial"/>
              </a:rPr>
              <a:t>TListBox</a:t>
            </a:r>
          </a:p>
          <a:p xmlns:a="http://schemas.openxmlformats.org/drawingml/2006/main">
            <a:pPr>
              <a:buNone/>
              <a:defRPr sz="2625" b="1">
                <a:solidFill>
                  <a:srgbClr val="142C31"/>
                </a:solidFill>
                <a:latin typeface="Arial"/>
                <a:ea typeface="Arial"/>
                <a:cs typeface="Arial"/>
              </a:defRPr>
            </a:pPr>
            <a:r>
              <a:rPr sz="2625" b="1">
                <a:solidFill>
                  <a:srgbClr val="142C31"/>
                </a:solidFill>
                <a:latin typeface="Arial"/>
                <a:ea typeface="Arial"/>
                <a:cs typeface="Arial"/>
              </a:rPr>
              <a:t>  TListBoxItem</a:t>
            </a:r>
          </a:p>
          <a:p xmlns:a="http://schemas.openxmlformats.org/drawingml/2006/main">
            <a:pPr>
              <a:buNone/>
              <a:defRPr sz="2625" b="1">
                <a:solidFill>
                  <a:srgbClr val="142C31"/>
                </a:solidFill>
                <a:latin typeface="Arial"/>
                <a:ea typeface="Arial"/>
                <a:cs typeface="Arial"/>
              </a:defRPr>
            </a:pPr>
            <a:r>
              <a:rPr sz="2625" b="1">
                <a:solidFill>
                  <a:srgbClr val="142C31"/>
                </a:solidFill>
                <a:latin typeface="Arial"/>
                <a:ea typeface="Arial"/>
                <a:cs typeface="Arial"/>
              </a:rPr>
              <a:t>    DoctorCard: TFrame</a:t>
            </a:r>
          </a:p>
        </p:txBody>
      </p:sp>
    </p:spTree>
    <p:extLst>
      <p:ext uri="{BB962C8B-B14F-4D97-AF65-F5344CB8AC3E}">
        <p14:creationId xmlns:p14="http://schemas.microsoft.com/office/powerpoint/2010/main" val="807039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V1: NovaPOS dari Google Stitch">
            <a:extLst xmlns:a="http://schemas.openxmlformats.org/drawingml/2006/main">
              <a:ext uri="{FF2B5EF4-FFF2-40B4-BE49-F238E27FC236}">
                <a16:creationId xmlns:a16="http://schemas.microsoft.com/office/drawing/2014/main" id="{DAF4302D-F989-4C76-822A-4A520D844A2F}"/>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V1: NovaPOS dari Google Stitch</a:t>
            </a:r>
          </a:p>
        </p:txBody>
      </p:sp>
      <p:sp>
        <p:nvSpPr>
          <p:cNvPr id="2" name="Desain HTML/CSS menjadi acuan visual untuk UI Delphi FireMon">
            <a:extLst xmlns:a="http://schemas.openxmlformats.org/drawingml/2006/main">
              <a:ext uri="{FF2B5EF4-FFF2-40B4-BE49-F238E27FC236}">
                <a16:creationId xmlns:a16="http://schemas.microsoft.com/office/drawing/2014/main" id="{C27B4A59-B728-44E5-A70E-7E88D965DD79}"/>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Desain HTML/CSS menjadi acuan visual untuk UI Delphi FireMonkey native</a:t>
            </a:r>
          </a:p>
        </p:txBody>
      </p:sp>
      <p:sp>
        <p:nvSpPr>
          <p:cNvPr id="3" name="HTML-FMX  /  V2 healthcare study">
            <a:extLst xmlns:a="http://schemas.openxmlformats.org/drawingml/2006/main">
              <a:ext uri="{FF2B5EF4-FFF2-40B4-BE49-F238E27FC236}">
                <a16:creationId xmlns:a16="http://schemas.microsoft.com/office/drawing/2014/main" id="{EE533524-D11A-4894-BEAC-CA5FDFCDED77}"/>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4">
            <a:extLst xmlns:a="http://schemas.openxmlformats.org/drawingml/2006/main">
              <a:ext uri="{FF2B5EF4-FFF2-40B4-BE49-F238E27FC236}">
                <a16:creationId xmlns:a16="http://schemas.microsoft.com/office/drawing/2014/main" id="{78AF0DCA-BAD1-4105-94EC-5D3B16735F6A}"/>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04</a:t>
            </a:r>
          </a:p>
        </p:txBody>
      </p:sp>
      <p:sp>
        <p:nvSpPr>
          <p:cNvPr id="5" name="Eksperimen pertama">
            <a:extLst xmlns:a="http://schemas.openxmlformats.org/drawingml/2006/main">
              <a:ext uri="{FF2B5EF4-FFF2-40B4-BE49-F238E27FC236}">
                <a16:creationId xmlns:a16="http://schemas.microsoft.com/office/drawing/2014/main" id="{6E1E03BF-FA66-4933-8F6A-390DBBEA7E99}"/>
              </a:ext>
            </a:extLst>
          </p:cNvPr>
          <p:cNvSpPr>
            <a:spLocks xmlns:a="http://schemas.openxmlformats.org/drawingml/2006/main" noGrp="1"/>
          </p:cNvSpPr>
          <p:nvPr/>
        </p:nvSpPr>
        <p:spPr>
          <a:xfrm xmlns:a="http://schemas.openxmlformats.org/drawingml/2006/main">
            <a:off x="762000" y="2314575"/>
            <a:ext cx="733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F79"/>
                </a:solidFill>
                <a:latin typeface="Arial"/>
                <a:ea typeface="Arial"/>
                <a:cs typeface="Arial"/>
              </a:defRPr>
            </a:pPr>
            <a:r>
              <a:rPr sz="2850" b="1">
                <a:solidFill>
                  <a:srgbClr val="007F79"/>
                </a:solidFill>
                <a:latin typeface="Arial"/>
                <a:ea typeface="Arial"/>
                <a:cs typeface="Arial"/>
              </a:rPr>
              <a:t>Eksperimen pertama</a:t>
            </a:r>
          </a:p>
        </p:txBody>
      </p:sp>
      <p:sp>
        <p:nvSpPr>
          <p:cNvPr id="6" name="Saya generate NovaPOS dengan Google Stitch, ekspor HTML, lal">
            <a:extLst xmlns:a="http://schemas.openxmlformats.org/drawingml/2006/main">
              <a:ext uri="{FF2B5EF4-FFF2-40B4-BE49-F238E27FC236}">
                <a16:creationId xmlns:a16="http://schemas.microsoft.com/office/drawing/2014/main" id="{01EA60B5-B667-435C-BABB-F0CD15AB568B}"/>
              </a:ext>
            </a:extLst>
          </p:cNvPr>
          <p:cNvSpPr>
            <a:spLocks xmlns:a="http://schemas.openxmlformats.org/drawingml/2006/main" noGrp="1"/>
          </p:cNvSpPr>
          <p:nvPr/>
        </p:nvSpPr>
        <p:spPr>
          <a:xfrm xmlns:a="http://schemas.openxmlformats.org/drawingml/2006/main">
            <a:off x="762000" y="3000375"/>
            <a:ext cx="7429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Saya generate NovaPOS dengan Google Stitch, ekspor HTML, lalu gunakan workflow html-to-fmx.</a:t>
            </a:r>
          </a:p>
        </p:txBody>
      </p:sp>
      <p:sp>
        <p:nvSpPr>
          <p:cNvPr id="7" name="Tiga skill awal">
            <a:extLst xmlns:a="http://schemas.openxmlformats.org/drawingml/2006/main">
              <a:ext uri="{FF2B5EF4-FFF2-40B4-BE49-F238E27FC236}">
                <a16:creationId xmlns:a16="http://schemas.microsoft.com/office/drawing/2014/main" id="{19BD47E7-576D-44CB-AE36-03501409D850}"/>
              </a:ext>
            </a:extLst>
          </p:cNvPr>
          <p:cNvSpPr>
            <a:spLocks xmlns:a="http://schemas.openxmlformats.org/drawingml/2006/main" noGrp="1"/>
          </p:cNvSpPr>
          <p:nvPr/>
        </p:nvSpPr>
        <p:spPr>
          <a:xfrm xmlns:a="http://schemas.openxmlformats.org/drawingml/2006/main">
            <a:off x="762000" y="4933950"/>
            <a:ext cx="733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F79"/>
                </a:solidFill>
                <a:latin typeface="Arial"/>
                <a:ea typeface="Arial"/>
                <a:cs typeface="Arial"/>
              </a:defRPr>
            </a:pPr>
            <a:r>
              <a:rPr sz="2850" b="1">
                <a:solidFill>
                  <a:srgbClr val="007F79"/>
                </a:solidFill>
                <a:latin typeface="Arial"/>
                <a:ea typeface="Arial"/>
                <a:cs typeface="Arial"/>
              </a:rPr>
              <a:t>Tiga skill awal</a:t>
            </a:r>
          </a:p>
        </p:txBody>
      </p:sp>
      <p:sp>
        <p:nvSpPr>
          <p:cNvPr id="8" name="html-to-fmx-mapping&#10;css-to-fmx-style&#10;html-to-fmx">
            <a:extLst xmlns:a="http://schemas.openxmlformats.org/drawingml/2006/main">
              <a:ext uri="{FF2B5EF4-FFF2-40B4-BE49-F238E27FC236}">
                <a16:creationId xmlns:a16="http://schemas.microsoft.com/office/drawing/2014/main" id="{048234C6-5701-4036-BB79-8B7DBBD98C48}"/>
              </a:ext>
            </a:extLst>
          </p:cNvPr>
          <p:cNvSpPr>
            <a:spLocks xmlns:a="http://schemas.openxmlformats.org/drawingml/2006/main" noGrp="1"/>
          </p:cNvSpPr>
          <p:nvPr/>
        </p:nvSpPr>
        <p:spPr>
          <a:xfrm xmlns:a="http://schemas.openxmlformats.org/drawingml/2006/main">
            <a:off x="762000" y="5619750"/>
            <a:ext cx="7429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html-to-fmx-mapping</a:t>
            </a:r>
          </a:p>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css-to-fmx-style</a:t>
            </a:r>
          </a:p>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html-to-fmx</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4bc2e1707024ee1"/>
          <a:stretch xmlns:a="http://schemas.openxmlformats.org/drawingml/2006/main"/>
        </p:blipFill>
        <p:spPr>
          <a:xfrm xmlns:a="http://schemas.openxmlformats.org/drawingml/2006/main">
            <a:off x="10514740" y="1790700"/>
            <a:ext cx="2735396" cy="5972175"/>
          </a:xfrm>
          <a:prstGeom xmlns:a="http://schemas.openxmlformats.org/drawingml/2006/main" prst="rect">
            <a:avLst/>
          </a:prstGeom>
        </p:spPr>
      </p:pic>
      <p:sp>
        <p:nvSpPr>
          <p:cNvPr id="10" name="Referensi HTML NovaPOS">
            <a:extLst xmlns:a="http://schemas.openxmlformats.org/drawingml/2006/main">
              <a:ext uri="{FF2B5EF4-FFF2-40B4-BE49-F238E27FC236}">
                <a16:creationId xmlns:a16="http://schemas.microsoft.com/office/drawing/2014/main" id="{30647653-885C-4693-A5F3-993733CAD21A}"/>
              </a:ext>
            </a:extLst>
          </p:cNvPr>
          <p:cNvSpPr>
            <a:spLocks xmlns:a="http://schemas.openxmlformats.org/drawingml/2006/main" noGrp="1"/>
          </p:cNvSpPr>
          <p:nvPr/>
        </p:nvSpPr>
        <p:spPr>
          <a:xfrm xmlns:a="http://schemas.openxmlformats.org/drawingml/2006/main">
            <a:off x="9906000" y="7800975"/>
            <a:ext cx="3952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425" b="0">
                <a:solidFill>
                  <a:srgbClr val="566B70"/>
                </a:solidFill>
                <a:latin typeface="Arial"/>
                <a:ea typeface="Arial"/>
                <a:cs typeface="Arial"/>
              </a:defRPr>
            </a:pPr>
            <a:r>
              <a:rPr sz="1425" b="0">
                <a:solidFill>
                  <a:srgbClr val="566B70"/>
                </a:solidFill>
                <a:latin typeface="Arial"/>
                <a:ea typeface="Arial"/>
                <a:cs typeface="Arial"/>
              </a:rPr>
              <a:t>Referensi HTML NovaPOS</a:t>
            </a:r>
          </a:p>
        </p:txBody>
      </p:sp>
    </p:spTree>
    <p:extLst>
      <p:ext uri="{BB962C8B-B14F-4D97-AF65-F5344CB8AC3E}">
        <p14:creationId xmlns:p14="http://schemas.microsoft.com/office/powerpoint/2010/main" val="177338488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V2 memperluas input dan tahap review">
            <a:extLst xmlns:a="http://schemas.openxmlformats.org/drawingml/2006/main">
              <a:ext uri="{FF2B5EF4-FFF2-40B4-BE49-F238E27FC236}">
                <a16:creationId xmlns:a16="http://schemas.microsoft.com/office/drawing/2014/main" id="{88C66229-5B40-433C-9DD9-616051B2BEAE}"/>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V2 memperluas input dan tahap review</a:t>
            </a:r>
          </a:p>
        </p:txBody>
      </p:sp>
      <p:sp>
        <p:nvSpPr>
          <p:cNvPr id="2" name="Enam skill berbagi aturan native FMX, design-time editing, d">
            <a:extLst xmlns:a="http://schemas.openxmlformats.org/drawingml/2006/main">
              <a:ext uri="{FF2B5EF4-FFF2-40B4-BE49-F238E27FC236}">
                <a16:creationId xmlns:a16="http://schemas.microsoft.com/office/drawing/2014/main" id="{5DDF531E-DBA8-4BBF-AF56-010DB5582C20}"/>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Enam skill berbagi aturan native FMX, design-time editing, dan dokumentasi mapping</a:t>
            </a:r>
          </a:p>
        </p:txBody>
      </p:sp>
      <p:sp>
        <p:nvSpPr>
          <p:cNvPr id="3" name="HTML-FMX  /  V2 healthcare study">
            <a:extLst xmlns:a="http://schemas.openxmlformats.org/drawingml/2006/main">
              <a:ext uri="{FF2B5EF4-FFF2-40B4-BE49-F238E27FC236}">
                <a16:creationId xmlns:a16="http://schemas.microsoft.com/office/drawing/2014/main" id="{AAF97E94-ED57-42E3-87BE-B227DC72954B}"/>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5">
            <a:extLst xmlns:a="http://schemas.openxmlformats.org/drawingml/2006/main">
              <a:ext uri="{FF2B5EF4-FFF2-40B4-BE49-F238E27FC236}">
                <a16:creationId xmlns:a16="http://schemas.microsoft.com/office/drawing/2014/main" id="{5A4AD704-5A08-427E-8670-BF1CD449AD28}"/>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05</a:t>
            </a:r>
          </a:p>
        </p:txBody>
      </p:sp>
      <p:graphicFrame>
        <p:nvGraphicFramePr>
          <p:cNvPr id="13" name=""/>
          <p:cNvGraphicFramePr/>
          <p:nvPr/>
        </p:nvGraphicFramePr>
        <p:xfrm>
          <a:off xmlns:a="http://schemas.openxmlformats.org/drawingml/2006/main" x="762000" y="1990725"/>
          <a:ext xmlns:a="http://schemas.openxmlformats.org/drawingml/2006/main" cx="13716000" cy="5429250"/>
        </p:xfrm>
        <a:graphic xmlns:a="http://schemas.openxmlformats.org/drawingml/2006/main">
          <a:graphicData uri="http://schemas.openxmlformats.org/drawingml/2006/table">
            <a:tbl>
              <a:tblPr/>
              <a:tblGrid>
                <a:gridCol w="5286375"/>
                <a:gridCol w="8429625"/>
              </a:tblGrid>
              <a:tr h="775607">
                <a:tc>
                  <a:txBody>
                    <a:bodyPr>
                      <a:noAutofit/>
                    </a:bodyPr>
                    <a:lstStyle/>
                    <a:p>
                      <a:r>
                        <a:rPr sz="1950" b="1">
                          <a:solidFill>
                            <a:srgbClr val="FFFFFF"/>
                          </a:solidFill>
                          <a:latin typeface="Arial"/>
                          <a:ea typeface="Arial"/>
                          <a:cs typeface="Arial"/>
                        </a:rPr>
                        <a:t>Skill</a:t>
                      </a:r>
                    </a:p>
                  </a:txBody>
                  <a:tcPr marL="190500" marR="171450" marT="152400" marB="114300" anchor="ctr">
                    <a:solidFill>
                      <a:srgbClr val="142C31"/>
                    </a:solidFill>
                  </a:tcPr>
                </a:tc>
                <a:tc>
                  <a:txBody>
                    <a:bodyPr>
                      <a:noAutofit/>
                    </a:bodyPr>
                    <a:lstStyle/>
                    <a:p>
                      <a:r>
                        <a:rPr sz="1950" b="1">
                          <a:solidFill>
                            <a:srgbClr val="FFFFFF"/>
                          </a:solidFill>
                          <a:latin typeface="Arial"/>
                          <a:ea typeface="Arial"/>
                          <a:cs typeface="Arial"/>
                        </a:rPr>
                        <a:t>Tugas</a:t>
                      </a:r>
                    </a:p>
                  </a:txBody>
                  <a:tcPr marL="190500" marR="171450" marT="152400" marB="114300" anchor="ctr">
                    <a:solidFill>
                      <a:srgbClr val="142C31"/>
                    </a:solidFill>
                  </a:tcPr>
                </a:tc>
              </a:tr>
              <a:tr h="775607">
                <a:tc>
                  <a:txBody>
                    <a:bodyPr>
                      <a:noAutofit/>
                    </a:bodyPr>
                    <a:lstStyle/>
                    <a:p>
                      <a:r>
                        <a:rPr sz="1950" b="1">
                          <a:solidFill>
                            <a:srgbClr val="142C31"/>
                          </a:solidFill>
                          <a:latin typeface="Arial"/>
                          <a:ea typeface="Arial"/>
                          <a:cs typeface="Arial"/>
                        </a:rPr>
                        <a:t>html-to-fmx-mapping</a:t>
                      </a:r>
                    </a:p>
                  </a:txBody>
                  <a:tcPr marL="190500" marR="171450" marT="152400" marB="114300" anchor="ctr">
                    <a:solidFill>
                      <a:srgbClr val="F5F7F7"/>
                    </a:solidFill>
                  </a:tcPr>
                </a:tc>
                <a:tc>
                  <a:txBody>
                    <a:bodyPr>
                      <a:noAutofit/>
                    </a:bodyPr>
                    <a:lstStyle/>
                    <a:p>
                      <a:r>
                        <a:rPr sz="1950" b="0">
                          <a:solidFill>
                            <a:srgbClr val="142C31"/>
                          </a:solidFill>
                          <a:latin typeface="Arial"/>
                          <a:ea typeface="Arial"/>
                          <a:cs typeface="Arial"/>
                        </a:rPr>
                        <a:t>Memetakan HTML ke hierarchy FMX</a:t>
                      </a:r>
                    </a:p>
                  </a:txBody>
                  <a:tcPr marL="190500" marR="171450" marT="152400" marB="114300" anchor="ctr">
                    <a:solidFill>
                      <a:srgbClr val="F5F7F7"/>
                    </a:solidFill>
                  </a:tcPr>
                </a:tc>
              </a:tr>
              <a:tr h="775607">
                <a:tc>
                  <a:txBody>
                    <a:bodyPr>
                      <a:noAutofit/>
                    </a:bodyPr>
                    <a:lstStyle/>
                    <a:p>
                      <a:r>
                        <a:rPr sz="1950" b="1">
                          <a:solidFill>
                            <a:srgbClr val="142C31"/>
                          </a:solidFill>
                          <a:latin typeface="Arial"/>
                          <a:ea typeface="Arial"/>
                          <a:cs typeface="Arial"/>
                        </a:rPr>
                        <a:t>screenshot-to-fmx-mapping</a:t>
                      </a:r>
                    </a:p>
                  </a:txBody>
                  <a:tcPr marL="190500" marR="171450" marT="152400" marB="114300" anchor="ctr">
                    <a:solidFill>
                      <a:srgbClr val="FFFFFF"/>
                    </a:solidFill>
                  </a:tcPr>
                </a:tc>
                <a:tc>
                  <a:txBody>
                    <a:bodyPr>
                      <a:noAutofit/>
                    </a:bodyPr>
                    <a:lstStyle/>
                    <a:p>
                      <a:r>
                        <a:rPr sz="1950" b="0">
                          <a:solidFill>
                            <a:srgbClr val="142C31"/>
                          </a:solidFill>
                          <a:latin typeface="Arial"/>
                          <a:ea typeface="Arial"/>
                          <a:cs typeface="Arial"/>
                        </a:rPr>
                        <a:t>Memetakan screenshot atau wireframe</a:t>
                      </a:r>
                    </a:p>
                  </a:txBody>
                  <a:tcPr marL="190500" marR="171450" marT="152400" marB="114300" anchor="ctr">
                    <a:solidFill>
                      <a:srgbClr val="FFFFFF"/>
                    </a:solidFill>
                  </a:tcPr>
                </a:tc>
              </a:tr>
              <a:tr h="775607">
                <a:tc>
                  <a:txBody>
                    <a:bodyPr>
                      <a:noAutofit/>
                    </a:bodyPr>
                    <a:lstStyle/>
                    <a:p>
                      <a:r>
                        <a:rPr sz="1950" b="1">
                          <a:solidFill>
                            <a:srgbClr val="142C31"/>
                          </a:solidFill>
                          <a:latin typeface="Arial"/>
                          <a:ea typeface="Arial"/>
                          <a:cs typeface="Arial"/>
                        </a:rPr>
                        <a:t>css-to-fmx-style</a:t>
                      </a:r>
                    </a:p>
                  </a:txBody>
                  <a:tcPr marL="190500" marR="171450" marT="152400" marB="114300" anchor="ctr">
                    <a:solidFill>
                      <a:srgbClr val="F5F7F7"/>
                    </a:solidFill>
                  </a:tcPr>
                </a:tc>
                <a:tc>
                  <a:txBody>
                    <a:bodyPr>
                      <a:noAutofit/>
                    </a:bodyPr>
                    <a:lstStyle/>
                    <a:p>
                      <a:r>
                        <a:rPr sz="1950" b="0">
                          <a:solidFill>
                            <a:srgbClr val="142C31"/>
                          </a:solidFill>
                          <a:latin typeface="Arial"/>
                          <a:ea typeface="Arial"/>
                          <a:cs typeface="Arial"/>
                        </a:rPr>
                        <a:t>Memetakan CSS ke resource style native</a:t>
                      </a:r>
                    </a:p>
                  </a:txBody>
                  <a:tcPr marL="190500" marR="171450" marT="152400" marB="114300" anchor="ctr">
                    <a:solidFill>
                      <a:srgbClr val="F5F7F7"/>
                    </a:solidFill>
                  </a:tcPr>
                </a:tc>
              </a:tr>
              <a:tr h="775607">
                <a:tc>
                  <a:txBody>
                    <a:bodyPr>
                      <a:noAutofit/>
                    </a:bodyPr>
                    <a:lstStyle/>
                    <a:p>
                      <a:r>
                        <a:rPr sz="1950" b="1">
                          <a:solidFill>
                            <a:srgbClr val="142C31"/>
                          </a:solidFill>
                          <a:latin typeface="Arial"/>
                          <a:ea typeface="Arial"/>
                          <a:cs typeface="Arial"/>
                        </a:rPr>
                        <a:t>html-to-fmx</a:t>
                      </a:r>
                    </a:p>
                  </a:txBody>
                  <a:tcPr marL="190500" marR="171450" marT="152400" marB="114300" anchor="ctr">
                    <a:solidFill>
                      <a:srgbClr val="FFFFFF"/>
                    </a:solidFill>
                  </a:tcPr>
                </a:tc>
                <a:tc>
                  <a:txBody>
                    <a:bodyPr>
                      <a:noAutofit/>
                    </a:bodyPr>
                    <a:lstStyle/>
                    <a:p>
                      <a:r>
                        <a:rPr sz="1950" b="0">
                          <a:solidFill>
                            <a:srgbClr val="142C31"/>
                          </a:solidFill>
                          <a:latin typeface="Arial"/>
                          <a:ea typeface="Arial"/>
                          <a:cs typeface="Arial"/>
                        </a:rPr>
                        <a:t>Mengimplementasikan HTML/CSS sebagai FMX</a:t>
                      </a:r>
                    </a:p>
                  </a:txBody>
                  <a:tcPr marL="190500" marR="171450" marT="152400" marB="114300" anchor="ctr">
                    <a:solidFill>
                      <a:srgbClr val="FFFFFF"/>
                    </a:solidFill>
                  </a:tcPr>
                </a:tc>
              </a:tr>
              <a:tr h="775607">
                <a:tc>
                  <a:txBody>
                    <a:bodyPr>
                      <a:noAutofit/>
                    </a:bodyPr>
                    <a:lstStyle/>
                    <a:p>
                      <a:r>
                        <a:rPr sz="1950" b="1">
                          <a:solidFill>
                            <a:srgbClr val="142C31"/>
                          </a:solidFill>
                          <a:latin typeface="Arial"/>
                          <a:ea typeface="Arial"/>
                          <a:cs typeface="Arial"/>
                        </a:rPr>
                        <a:t>create-fmx-ui</a:t>
                      </a:r>
                    </a:p>
                  </a:txBody>
                  <a:tcPr marL="190500" marR="171450" marT="152400" marB="114300" anchor="ctr">
                    <a:solidFill>
                      <a:srgbClr val="F5F7F7"/>
                    </a:solidFill>
                  </a:tcPr>
                </a:tc>
                <a:tc>
                  <a:txBody>
                    <a:bodyPr>
                      <a:noAutofit/>
                    </a:bodyPr>
                    <a:lstStyle/>
                    <a:p>
                      <a:r>
                        <a:rPr sz="1950" b="0">
                          <a:solidFill>
                            <a:srgbClr val="142C31"/>
                          </a:solidFill>
                          <a:latin typeface="Arial"/>
                          <a:ea typeface="Arial"/>
                          <a:cs typeface="Arial"/>
                        </a:rPr>
                        <a:t>Membuat FMX dari brief, screenshot, atau wireframe</a:t>
                      </a:r>
                    </a:p>
                  </a:txBody>
                  <a:tcPr marL="190500" marR="171450" marT="152400" marB="114300" anchor="ctr">
                    <a:solidFill>
                      <a:srgbClr val="F5F7F7"/>
                    </a:solidFill>
                  </a:tcPr>
                </a:tc>
              </a:tr>
              <a:tr h="775607">
                <a:tc>
                  <a:txBody>
                    <a:bodyPr>
                      <a:noAutofit/>
                    </a:bodyPr>
                    <a:lstStyle/>
                    <a:p>
                      <a:r>
                        <a:rPr sz="1950" b="1">
                          <a:solidFill>
                            <a:srgbClr val="142C31"/>
                          </a:solidFill>
                          <a:latin typeface="Arial"/>
                          <a:ea typeface="Arial"/>
                          <a:cs typeface="Arial"/>
                        </a:rPr>
                        <a:t>review-fmx-ui</a:t>
                      </a:r>
                    </a:p>
                  </a:txBody>
                  <a:tcPr marL="190500" marR="171450" marT="152400" marB="114300" anchor="ctr">
                    <a:solidFill>
                      <a:srgbClr val="FFFFFF"/>
                    </a:solidFill>
                  </a:tcPr>
                </a:tc>
                <a:tc>
                  <a:txBody>
                    <a:bodyPr>
                      <a:noAutofit/>
                    </a:bodyPr>
                    <a:lstStyle/>
                    <a:p>
                      <a:r>
                        <a:rPr sz="1950" b="0">
                          <a:solidFill>
                            <a:srgbClr val="142C31"/>
                          </a:solidFill>
                          <a:latin typeface="Arial"/>
                          <a:ea typeface="Arial"/>
                          <a:cs typeface="Arial"/>
                        </a:rPr>
                        <a:t>Review, refine, dan enhance UI FMX existing</a:t>
                      </a:r>
                    </a:p>
                  </a:txBody>
                  <a:tcPr marL="190500" marR="171450" marT="152400" marB="114300" anchor="ctr">
                    <a:solidFill>
                      <a:srgbClr val="FFFFFF"/>
                    </a:solidFill>
                  </a:tcPr>
                </a:tc>
              </a:tr>
            </a:tbl>
          </a:graphicData>
        </a:graphic>
      </p:graphicFrame>
      <p:sp>
        <p:nvSpPr>
          <p:cNvPr id="6" name="Nama paket saat ini: create-fmx-ui. Dalam catatan percobaan:">
            <a:extLst xmlns:a="http://schemas.openxmlformats.org/drawingml/2006/main">
              <a:ext uri="{FF2B5EF4-FFF2-40B4-BE49-F238E27FC236}">
                <a16:creationId xmlns:a16="http://schemas.microsoft.com/office/drawing/2014/main" id="{2127952C-4FEB-45AB-9C65-346249C8C13E}"/>
              </a:ext>
            </a:extLst>
          </p:cNvPr>
          <p:cNvSpPr>
            <a:spLocks xmlns:a="http://schemas.openxmlformats.org/drawingml/2006/main" noGrp="1"/>
          </p:cNvSpPr>
          <p:nvPr/>
        </p:nvSpPr>
        <p:spPr>
          <a:xfrm xmlns:a="http://schemas.openxmlformats.org/drawingml/2006/main">
            <a:off x="762000" y="7629525"/>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566B70"/>
                </a:solidFill>
                <a:latin typeface="Arial"/>
                <a:ea typeface="Arial"/>
                <a:cs typeface="Arial"/>
              </a:defRPr>
            </a:pPr>
            <a:r>
              <a:rPr sz="1650" b="0">
                <a:solidFill>
                  <a:srgbClr val="566B70"/>
                </a:solidFill>
                <a:latin typeface="Arial"/>
                <a:ea typeface="Arial"/>
                <a:cs typeface="Arial"/>
              </a:rPr>
              <a:t>Nama paket saat ini: create-fmx-ui. Dalam catatan percobaan: create-delphi-fmx-ui.</a:t>
            </a:r>
          </a:p>
        </p:txBody>
      </p:sp>
    </p:spTree>
    <p:extLst>
      <p:ext uri="{BB962C8B-B14F-4D97-AF65-F5344CB8AC3E}">
        <p14:creationId xmlns:p14="http://schemas.microsoft.com/office/powerpoint/2010/main" val="5613462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Healthcare Appointment App">
            <a:extLst xmlns:a="http://schemas.openxmlformats.org/drawingml/2006/main">
              <a:ext uri="{FF2B5EF4-FFF2-40B4-BE49-F238E27FC236}">
                <a16:creationId xmlns:a16="http://schemas.microsoft.com/office/drawing/2014/main" id="{8BC448F9-C1EE-4E92-B262-E751605E92E2}"/>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Healthcare Appointment App</a:t>
            </a:r>
          </a:p>
        </p:txBody>
      </p:sp>
      <p:sp>
        <p:nvSpPr>
          <p:cNvPr id="2" name="Coretan mentah menetapkan susunan informasi. Brief memberi m">
            <a:extLst xmlns:a="http://schemas.openxmlformats.org/drawingml/2006/main">
              <a:ext uri="{FF2B5EF4-FFF2-40B4-BE49-F238E27FC236}">
                <a16:creationId xmlns:a16="http://schemas.microsoft.com/office/drawing/2014/main" id="{CE7CEABC-50ED-4B14-BAF7-D3347A9C5A93}"/>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Coretan mentah menetapkan susunan informasi. Brief memberi makna pada setiap area.</a:t>
            </a:r>
          </a:p>
        </p:txBody>
      </p:sp>
      <p:sp>
        <p:nvSpPr>
          <p:cNvPr id="3" name="HTML-FMX  /  V2 healthcare study">
            <a:extLst xmlns:a="http://schemas.openxmlformats.org/drawingml/2006/main">
              <a:ext uri="{FF2B5EF4-FFF2-40B4-BE49-F238E27FC236}">
                <a16:creationId xmlns:a16="http://schemas.microsoft.com/office/drawing/2014/main" id="{7566F67D-5A99-4C4A-BF78-31DEFF008FF6}"/>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6">
            <a:extLst xmlns:a="http://schemas.openxmlformats.org/drawingml/2006/main">
              <a:ext uri="{FF2B5EF4-FFF2-40B4-BE49-F238E27FC236}">
                <a16:creationId xmlns:a16="http://schemas.microsoft.com/office/drawing/2014/main" id="{CCA96A4C-D020-4F76-979E-A837B03C1B74}"/>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06</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c6826f08766475a"/>
          <a:stretch xmlns:a="http://schemas.openxmlformats.org/drawingml/2006/main"/>
        </p:blipFill>
        <p:spPr>
          <a:xfrm xmlns:a="http://schemas.openxmlformats.org/drawingml/2006/main">
            <a:off x="1599410" y="1924050"/>
            <a:ext cx="2706680" cy="5838825"/>
          </a:xfrm>
          <a:prstGeom xmlns:a="http://schemas.openxmlformats.org/drawingml/2006/main" prst="rect">
            <a:avLst/>
          </a:prstGeom>
        </p:spPr>
      </p:pic>
      <p:sp>
        <p:nvSpPr>
          <p:cNvPr id="6" name="Kebutuhan pasien">
            <a:extLst xmlns:a="http://schemas.openxmlformats.org/drawingml/2006/main">
              <a:ext uri="{FF2B5EF4-FFF2-40B4-BE49-F238E27FC236}">
                <a16:creationId xmlns:a16="http://schemas.microsoft.com/office/drawing/2014/main" id="{10D2C41C-2406-4B4D-A98A-C0E223CF13D1}"/>
              </a:ext>
            </a:extLst>
          </p:cNvPr>
          <p:cNvSpPr>
            <a:spLocks xmlns:a="http://schemas.openxmlformats.org/drawingml/2006/main" noGrp="1"/>
          </p:cNvSpPr>
          <p:nvPr/>
        </p:nvSpPr>
        <p:spPr>
          <a:xfrm xmlns:a="http://schemas.openxmlformats.org/drawingml/2006/main">
            <a:off x="6286500" y="2114550"/>
            <a:ext cx="723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700" b="1">
                <a:solidFill>
                  <a:srgbClr val="007F79"/>
                </a:solidFill>
                <a:latin typeface="Arial"/>
                <a:ea typeface="Arial"/>
                <a:cs typeface="Arial"/>
              </a:defRPr>
            </a:pPr>
            <a:r>
              <a:rPr sz="2700" b="1">
                <a:solidFill>
                  <a:srgbClr val="007F79"/>
                </a:solidFill>
                <a:latin typeface="Arial"/>
                <a:ea typeface="Arial"/>
                <a:cs typeface="Arial"/>
              </a:rPr>
              <a:t>Kebutuhan pasien</a:t>
            </a:r>
          </a:p>
        </p:txBody>
      </p:sp>
      <p:sp>
        <p:nvSpPr>
          <p:cNvPr id="7" name="Mencari dokter atau keluhan&#10;Memilih kategori kesehatan&#10;Melih">
            <a:extLst xmlns:a="http://schemas.openxmlformats.org/drawingml/2006/main">
              <a:ext uri="{FF2B5EF4-FFF2-40B4-BE49-F238E27FC236}">
                <a16:creationId xmlns:a16="http://schemas.microsoft.com/office/drawing/2014/main" id="{D249F599-A933-46B2-9D76-5EA5D30E1896}"/>
              </a:ext>
            </a:extLst>
          </p:cNvPr>
          <p:cNvSpPr>
            <a:spLocks xmlns:a="http://schemas.openxmlformats.org/drawingml/2006/main" noGrp="1"/>
          </p:cNvSpPr>
          <p:nvPr/>
        </p:nvSpPr>
        <p:spPr>
          <a:xfrm xmlns:a="http://schemas.openxmlformats.org/drawingml/2006/main">
            <a:off x="6286500" y="2800350"/>
            <a:ext cx="7572375"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142C31"/>
                </a:solidFill>
                <a:latin typeface="Arial"/>
                <a:ea typeface="Arial"/>
                <a:cs typeface="Arial"/>
              </a:defRPr>
            </a:pPr>
            <a:r>
              <a:rPr sz="2400" b="0">
                <a:solidFill>
                  <a:srgbClr val="142C31"/>
                </a:solidFill>
                <a:latin typeface="Arial"/>
                <a:ea typeface="Arial"/>
                <a:cs typeface="Arial"/>
              </a:rPr>
              <a:t>Mencari dokter atau keluhan</a:t>
            </a:r>
          </a:p>
          <a:p xmlns:a="http://schemas.openxmlformats.org/drawingml/2006/main">
            <a:pPr>
              <a:buNone/>
              <a:defRPr sz="2400" b="0">
                <a:solidFill>
                  <a:srgbClr val="142C31"/>
                </a:solidFill>
                <a:latin typeface="Arial"/>
                <a:ea typeface="Arial"/>
                <a:cs typeface="Arial"/>
              </a:defRPr>
            </a:pPr>
            <a:r>
              <a:rPr sz="2400" b="0">
                <a:solidFill>
                  <a:srgbClr val="142C31"/>
                </a:solidFill>
                <a:latin typeface="Arial"/>
                <a:ea typeface="Arial"/>
                <a:cs typeface="Arial"/>
              </a:rPr>
              <a:t>Memilih kategori kesehatan</a:t>
            </a:r>
          </a:p>
          <a:p xmlns:a="http://schemas.openxmlformats.org/drawingml/2006/main">
            <a:pPr>
              <a:buNone/>
              <a:defRPr sz="2400" b="0">
                <a:solidFill>
                  <a:srgbClr val="142C31"/>
                </a:solidFill>
                <a:latin typeface="Arial"/>
                <a:ea typeface="Arial"/>
                <a:cs typeface="Arial"/>
              </a:defRPr>
            </a:pPr>
            <a:r>
              <a:rPr sz="2400" b="0">
                <a:solidFill>
                  <a:srgbClr val="142C31"/>
                </a:solidFill>
                <a:latin typeface="Arial"/>
                <a:ea typeface="Arial"/>
                <a:cs typeface="Arial"/>
              </a:rPr>
              <a:t>Melihat konsultasi mendatang</a:t>
            </a:r>
          </a:p>
          <a:p xmlns:a="http://schemas.openxmlformats.org/drawingml/2006/main">
            <a:pPr>
              <a:buNone/>
              <a:defRPr sz="2400" b="0">
                <a:solidFill>
                  <a:srgbClr val="142C31"/>
                </a:solidFill>
                <a:latin typeface="Arial"/>
                <a:ea typeface="Arial"/>
                <a:cs typeface="Arial"/>
              </a:defRPr>
            </a:pPr>
            <a:r>
              <a:rPr sz="2400" b="0">
                <a:solidFill>
                  <a:srgbClr val="142C31"/>
                </a:solidFill>
                <a:latin typeface="Arial"/>
                <a:ea typeface="Arial"/>
                <a:cs typeface="Arial"/>
              </a:rPr>
              <a:t>Menjelajah dokter populer</a:t>
            </a:r>
          </a:p>
          <a:p xmlns:a="http://schemas.openxmlformats.org/drawingml/2006/main">
            <a:pPr>
              <a:buNone/>
              <a:defRPr sz="2400" b="0">
                <a:solidFill>
                  <a:srgbClr val="142C31"/>
                </a:solidFill>
                <a:latin typeface="Arial"/>
                <a:ea typeface="Arial"/>
                <a:cs typeface="Arial"/>
              </a:defRPr>
            </a:pPr>
            <a:r>
              <a:rPr sz="2400" b="0">
                <a:solidFill>
                  <a:srgbClr val="142C31"/>
                </a:solidFill>
                <a:latin typeface="Arial"/>
                <a:ea typeface="Arial"/>
                <a:cs typeface="Arial"/>
              </a:rPr>
              <a:t>Mengakses pesan dan profil</a:t>
            </a:r>
          </a:p>
        </p:txBody>
      </p:sp>
      <p:sp>
        <p:nvSpPr>
          <p:cNvPr id="8" name="Semua jalur memakai wireframe dan detail description healthc">
            <a:extLst xmlns:a="http://schemas.openxmlformats.org/drawingml/2006/main">
              <a:ext uri="{FF2B5EF4-FFF2-40B4-BE49-F238E27FC236}">
                <a16:creationId xmlns:a16="http://schemas.microsoft.com/office/drawing/2014/main" id="{9BD11EDB-D845-40F1-A83D-DE9C4496E2D8}"/>
              </a:ext>
            </a:extLst>
          </p:cNvPr>
          <p:cNvSpPr>
            <a:spLocks xmlns:a="http://schemas.openxmlformats.org/drawingml/2006/main" noGrp="1"/>
          </p:cNvSpPr>
          <p:nvPr/>
        </p:nvSpPr>
        <p:spPr>
          <a:xfrm xmlns:a="http://schemas.openxmlformats.org/drawingml/2006/main">
            <a:off x="6286500" y="6305550"/>
            <a:ext cx="7381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142C31"/>
                </a:solidFill>
                <a:latin typeface="Arial"/>
                <a:ea typeface="Arial"/>
                <a:cs typeface="Arial"/>
              </a:defRPr>
            </a:pPr>
            <a:r>
              <a:rPr sz="2400" b="1">
                <a:solidFill>
                  <a:srgbClr val="142C31"/>
                </a:solidFill>
                <a:latin typeface="Arial"/>
                <a:ea typeface="Arial"/>
                <a:cs typeface="Arial"/>
              </a:rPr>
              <a:t>Semua jalur memakai wireframe dan detail description healthcare yang sama.</a:t>
            </a:r>
          </a:p>
        </p:txBody>
      </p:sp>
    </p:spTree>
    <p:extLst>
      <p:ext uri="{BB962C8B-B14F-4D97-AF65-F5344CB8AC3E}">
        <p14:creationId xmlns:p14="http://schemas.microsoft.com/office/powerpoint/2010/main" val="6065524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Empat metode, satu wireframe">
            <a:extLst xmlns:a="http://schemas.openxmlformats.org/drawingml/2006/main">
              <a:ext uri="{FF2B5EF4-FFF2-40B4-BE49-F238E27FC236}">
                <a16:creationId xmlns:a16="http://schemas.microsoft.com/office/drawing/2014/main" id="{DE68AC80-6099-4B83-9550-D1AF0D21F51A}"/>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Empat metode, satu wireframe</a:t>
            </a:r>
          </a:p>
        </p:txBody>
      </p:sp>
      <p:sp>
        <p:nvSpPr>
          <p:cNvPr id="2" name="Model agent pada seluruh jalur: GPT-6.1 Sol High">
            <a:extLst xmlns:a="http://schemas.openxmlformats.org/drawingml/2006/main">
              <a:ext uri="{FF2B5EF4-FFF2-40B4-BE49-F238E27FC236}">
                <a16:creationId xmlns:a16="http://schemas.microsoft.com/office/drawing/2014/main" id="{20AAA6C6-1CB5-4445-AC73-4857DE8EFFEB}"/>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Model agent pada seluruh jalur: GPT-6.1 Sol High</a:t>
            </a:r>
          </a:p>
        </p:txBody>
      </p:sp>
      <p:sp>
        <p:nvSpPr>
          <p:cNvPr id="3" name="HTML-FMX  /  V2 healthcare study">
            <a:extLst xmlns:a="http://schemas.openxmlformats.org/drawingml/2006/main">
              <a:ext uri="{FF2B5EF4-FFF2-40B4-BE49-F238E27FC236}">
                <a16:creationId xmlns:a16="http://schemas.microsoft.com/office/drawing/2014/main" id="{E8258D8E-4176-431D-8F28-0EA49457F946}"/>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7">
            <a:extLst xmlns:a="http://schemas.openxmlformats.org/drawingml/2006/main">
              <a:ext uri="{FF2B5EF4-FFF2-40B4-BE49-F238E27FC236}">
                <a16:creationId xmlns:a16="http://schemas.microsoft.com/office/drawing/2014/main" id="{CF20D4F4-734B-4FD6-BAC8-904E34602228}"/>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07</a:t>
            </a:r>
          </a:p>
        </p:txBody>
      </p:sp>
      <p:sp>
        <p:nvSpPr>
          <p:cNvPr id="5" name="01">
            <a:extLst xmlns:a="http://schemas.openxmlformats.org/drawingml/2006/main">
              <a:ext uri="{FF2B5EF4-FFF2-40B4-BE49-F238E27FC236}">
                <a16:creationId xmlns:a16="http://schemas.microsoft.com/office/drawing/2014/main" id="{1AB0E1F6-FBCE-4DEA-B36F-7B90DA5F7823}"/>
              </a:ext>
            </a:extLst>
          </p:cNvPr>
          <p:cNvSpPr>
            <a:spLocks xmlns:a="http://schemas.openxmlformats.org/drawingml/2006/main" noGrp="1"/>
          </p:cNvSpPr>
          <p:nvPr/>
        </p:nvSpPr>
        <p:spPr>
          <a:xfrm xmlns:a="http://schemas.openxmlformats.org/drawingml/2006/main">
            <a:off x="762000" y="21431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075" b="1">
                <a:solidFill>
                  <a:srgbClr val="007F79"/>
                </a:solidFill>
                <a:latin typeface="Arial"/>
                <a:ea typeface="Arial"/>
                <a:cs typeface="Arial"/>
              </a:defRPr>
            </a:pPr>
            <a:r>
              <a:rPr sz="3075" b="1">
                <a:solidFill>
                  <a:srgbClr val="007F79"/>
                </a:solidFill>
                <a:latin typeface="Arial"/>
                <a:ea typeface="Arial"/>
                <a:cs typeface="Arial"/>
              </a:rPr>
              <a:t>01</a:t>
            </a:r>
          </a:p>
        </p:txBody>
      </p:sp>
      <p:sp>
        <p:nvSpPr>
          <p:cNvPr id="6" name="Google Stitch dan HTML">
            <a:extLst xmlns:a="http://schemas.openxmlformats.org/drawingml/2006/main">
              <a:ext uri="{FF2B5EF4-FFF2-40B4-BE49-F238E27FC236}">
                <a16:creationId xmlns:a16="http://schemas.microsoft.com/office/drawing/2014/main" id="{B0AA980E-66BE-45A0-B723-97A767CBAC3C}"/>
              </a:ext>
            </a:extLst>
          </p:cNvPr>
          <p:cNvSpPr>
            <a:spLocks xmlns:a="http://schemas.openxmlformats.org/drawingml/2006/main" noGrp="1"/>
          </p:cNvSpPr>
          <p:nvPr/>
        </p:nvSpPr>
        <p:spPr>
          <a:xfrm xmlns:a="http://schemas.openxmlformats.org/drawingml/2006/main">
            <a:off x="1952625" y="2143125"/>
            <a:ext cx="1252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142C31"/>
                </a:solidFill>
                <a:latin typeface="Arial"/>
                <a:ea typeface="Arial"/>
                <a:cs typeface="Arial"/>
              </a:defRPr>
            </a:pPr>
            <a:r>
              <a:rPr sz="2400" b="1">
                <a:solidFill>
                  <a:srgbClr val="142C31"/>
                </a:solidFill>
                <a:latin typeface="Arial"/>
                <a:ea typeface="Arial"/>
                <a:cs typeface="Arial"/>
              </a:rPr>
              <a:t>Google Stitch dan HTML</a:t>
            </a:r>
          </a:p>
        </p:txBody>
      </p:sp>
      <p:sp>
        <p:nvSpPr>
          <p:cNvPr id="7" name="MCP Google Stitch, ekspor HTML, lalu html-to-fmx">
            <a:extLst xmlns:a="http://schemas.openxmlformats.org/drawingml/2006/main">
              <a:ext uri="{FF2B5EF4-FFF2-40B4-BE49-F238E27FC236}">
                <a16:creationId xmlns:a16="http://schemas.microsoft.com/office/drawing/2014/main" id="{33D39211-C103-4F3B-A647-09CEF97F7ACB}"/>
              </a:ext>
            </a:extLst>
          </p:cNvPr>
          <p:cNvSpPr>
            <a:spLocks xmlns:a="http://schemas.openxmlformats.org/drawingml/2006/main" noGrp="1"/>
          </p:cNvSpPr>
          <p:nvPr/>
        </p:nvSpPr>
        <p:spPr>
          <a:xfrm xmlns:a="http://schemas.openxmlformats.org/drawingml/2006/main">
            <a:off x="1952625" y="2714625"/>
            <a:ext cx="1252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66B70"/>
                </a:solidFill>
                <a:latin typeface="Arial"/>
                <a:ea typeface="Arial"/>
                <a:cs typeface="Arial"/>
              </a:defRPr>
            </a:pPr>
            <a:r>
              <a:rPr sz="2025" b="0">
                <a:solidFill>
                  <a:srgbClr val="566B70"/>
                </a:solidFill>
                <a:latin typeface="Arial"/>
                <a:ea typeface="Arial"/>
                <a:cs typeface="Arial"/>
              </a:rPr>
              <a:t>MCP Google Stitch, ekspor HTML, lalu html-to-fmx</a:t>
            </a:r>
          </a:p>
        </p:txBody>
      </p:sp>
      <p:sp>
        <p:nvSpPr>
          <p:cNvPr id="8" name="02">
            <a:extLst xmlns:a="http://schemas.openxmlformats.org/drawingml/2006/main">
              <a:ext uri="{FF2B5EF4-FFF2-40B4-BE49-F238E27FC236}">
                <a16:creationId xmlns:a16="http://schemas.microsoft.com/office/drawing/2014/main" id="{D380B661-DC74-4D73-A9FB-5A5E4FB1432A}"/>
              </a:ext>
            </a:extLst>
          </p:cNvPr>
          <p:cNvSpPr>
            <a:spLocks xmlns:a="http://schemas.openxmlformats.org/drawingml/2006/main" noGrp="1"/>
          </p:cNvSpPr>
          <p:nvPr/>
        </p:nvSpPr>
        <p:spPr>
          <a:xfrm xmlns:a="http://schemas.openxmlformats.org/drawingml/2006/main">
            <a:off x="762000" y="34861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075" b="1">
                <a:solidFill>
                  <a:srgbClr val="007F79"/>
                </a:solidFill>
                <a:latin typeface="Arial"/>
                <a:ea typeface="Arial"/>
                <a:cs typeface="Arial"/>
              </a:defRPr>
            </a:pPr>
            <a:r>
              <a:rPr sz="3075" b="1">
                <a:solidFill>
                  <a:srgbClr val="007F79"/>
                </a:solidFill>
                <a:latin typeface="Arial"/>
                <a:ea typeface="Arial"/>
                <a:cs typeface="Arial"/>
              </a:rPr>
              <a:t>02</a:t>
            </a:r>
          </a:p>
        </p:txBody>
      </p:sp>
      <p:sp>
        <p:nvSpPr>
          <p:cNvPr id="9" name="Create UI langsung">
            <a:extLst xmlns:a="http://schemas.openxmlformats.org/drawingml/2006/main">
              <a:ext uri="{FF2B5EF4-FFF2-40B4-BE49-F238E27FC236}">
                <a16:creationId xmlns:a16="http://schemas.microsoft.com/office/drawing/2014/main" id="{E2B64912-B77C-4FEE-B8F3-E1FF1CABD747}"/>
              </a:ext>
            </a:extLst>
          </p:cNvPr>
          <p:cNvSpPr>
            <a:spLocks xmlns:a="http://schemas.openxmlformats.org/drawingml/2006/main" noGrp="1"/>
          </p:cNvSpPr>
          <p:nvPr/>
        </p:nvSpPr>
        <p:spPr>
          <a:xfrm xmlns:a="http://schemas.openxmlformats.org/drawingml/2006/main">
            <a:off x="1952625" y="3486150"/>
            <a:ext cx="1252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142C31"/>
                </a:solidFill>
                <a:latin typeface="Arial"/>
                <a:ea typeface="Arial"/>
                <a:cs typeface="Arial"/>
              </a:defRPr>
            </a:pPr>
            <a:r>
              <a:rPr sz="2400" b="1">
                <a:solidFill>
                  <a:srgbClr val="142C31"/>
                </a:solidFill>
                <a:latin typeface="Arial"/>
                <a:ea typeface="Arial"/>
                <a:cs typeface="Arial"/>
              </a:rPr>
              <a:t>Create UI langsung</a:t>
            </a:r>
          </a:p>
        </p:txBody>
      </p:sp>
      <p:sp>
        <p:nvSpPr>
          <p:cNvPr id="10" name="Wireframe dan brief langsung ke create-fmx-ui">
            <a:extLst xmlns:a="http://schemas.openxmlformats.org/drawingml/2006/main">
              <a:ext uri="{FF2B5EF4-FFF2-40B4-BE49-F238E27FC236}">
                <a16:creationId xmlns:a16="http://schemas.microsoft.com/office/drawing/2014/main" id="{9726F977-491D-4A13-BEB6-5BA65746F7C8}"/>
              </a:ext>
            </a:extLst>
          </p:cNvPr>
          <p:cNvSpPr>
            <a:spLocks xmlns:a="http://schemas.openxmlformats.org/drawingml/2006/main" noGrp="1"/>
          </p:cNvSpPr>
          <p:nvPr/>
        </p:nvSpPr>
        <p:spPr>
          <a:xfrm xmlns:a="http://schemas.openxmlformats.org/drawingml/2006/main">
            <a:off x="1952625" y="4057650"/>
            <a:ext cx="1252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66B70"/>
                </a:solidFill>
                <a:latin typeface="Arial"/>
                <a:ea typeface="Arial"/>
                <a:cs typeface="Arial"/>
              </a:defRPr>
            </a:pPr>
            <a:r>
              <a:rPr sz="2025" b="0">
                <a:solidFill>
                  <a:srgbClr val="566B70"/>
                </a:solidFill>
                <a:latin typeface="Arial"/>
                <a:ea typeface="Arial"/>
                <a:cs typeface="Arial"/>
              </a:rPr>
              <a:t>Wireframe dan brief langsung ke create-fmx-ui</a:t>
            </a:r>
          </a:p>
        </p:txBody>
      </p:sp>
      <p:sp>
        <p:nvSpPr>
          <p:cNvPr id="11" name="03">
            <a:extLst xmlns:a="http://schemas.openxmlformats.org/drawingml/2006/main">
              <a:ext uri="{FF2B5EF4-FFF2-40B4-BE49-F238E27FC236}">
                <a16:creationId xmlns:a16="http://schemas.microsoft.com/office/drawing/2014/main" id="{9DD1FB1F-B69C-47E3-9277-0FF9139609DB}"/>
              </a:ext>
            </a:extLst>
          </p:cNvPr>
          <p:cNvSpPr>
            <a:spLocks xmlns:a="http://schemas.openxmlformats.org/drawingml/2006/main" noGrp="1"/>
          </p:cNvSpPr>
          <p:nvPr/>
        </p:nvSpPr>
        <p:spPr>
          <a:xfrm xmlns:a="http://schemas.openxmlformats.org/drawingml/2006/main">
            <a:off x="762000" y="48291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075" b="1">
                <a:solidFill>
                  <a:srgbClr val="007F79"/>
                </a:solidFill>
                <a:latin typeface="Arial"/>
                <a:ea typeface="Arial"/>
                <a:cs typeface="Arial"/>
              </a:defRPr>
            </a:pPr>
            <a:r>
              <a:rPr sz="3075" b="1">
                <a:solidFill>
                  <a:srgbClr val="007F79"/>
                </a:solidFill>
                <a:latin typeface="Arial"/>
                <a:ea typeface="Arial"/>
                <a:cs typeface="Arial"/>
              </a:rPr>
              <a:t>03</a:t>
            </a:r>
          </a:p>
        </p:txBody>
      </p:sp>
      <p:sp>
        <p:nvSpPr>
          <p:cNvPr id="12" name="Mapping terpisah sebelum Create UI">
            <a:extLst xmlns:a="http://schemas.openxmlformats.org/drawingml/2006/main">
              <a:ext uri="{FF2B5EF4-FFF2-40B4-BE49-F238E27FC236}">
                <a16:creationId xmlns:a16="http://schemas.microsoft.com/office/drawing/2014/main" id="{F20333EA-CC87-4BB1-A025-D675F6FA8460}"/>
              </a:ext>
            </a:extLst>
          </p:cNvPr>
          <p:cNvSpPr>
            <a:spLocks xmlns:a="http://schemas.openxmlformats.org/drawingml/2006/main" noGrp="1"/>
          </p:cNvSpPr>
          <p:nvPr/>
        </p:nvSpPr>
        <p:spPr>
          <a:xfrm xmlns:a="http://schemas.openxmlformats.org/drawingml/2006/main">
            <a:off x="1952625" y="4829175"/>
            <a:ext cx="1252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142C31"/>
                </a:solidFill>
                <a:latin typeface="Arial"/>
                <a:ea typeface="Arial"/>
                <a:cs typeface="Arial"/>
              </a:defRPr>
            </a:pPr>
            <a:r>
              <a:rPr sz="2400" b="1">
                <a:solidFill>
                  <a:srgbClr val="142C31"/>
                </a:solidFill>
                <a:latin typeface="Arial"/>
                <a:ea typeface="Arial"/>
                <a:cs typeface="Arial"/>
              </a:rPr>
              <a:t>Mapping terpisah sebelum Create UI</a:t>
            </a:r>
          </a:p>
        </p:txBody>
      </p:sp>
      <p:sp>
        <p:nvSpPr>
          <p:cNvPr id="13" name="screenshot-to-fmx-mapping, kemudian create-fmx-ui">
            <a:extLst xmlns:a="http://schemas.openxmlformats.org/drawingml/2006/main">
              <a:ext uri="{FF2B5EF4-FFF2-40B4-BE49-F238E27FC236}">
                <a16:creationId xmlns:a16="http://schemas.microsoft.com/office/drawing/2014/main" id="{0751B260-9F5B-4FF6-AE12-703A7F970A8A}"/>
              </a:ext>
            </a:extLst>
          </p:cNvPr>
          <p:cNvSpPr>
            <a:spLocks xmlns:a="http://schemas.openxmlformats.org/drawingml/2006/main" noGrp="1"/>
          </p:cNvSpPr>
          <p:nvPr/>
        </p:nvSpPr>
        <p:spPr>
          <a:xfrm xmlns:a="http://schemas.openxmlformats.org/drawingml/2006/main">
            <a:off x="1952625" y="5400675"/>
            <a:ext cx="1252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66B70"/>
                </a:solidFill>
                <a:latin typeface="Arial"/>
                <a:ea typeface="Arial"/>
                <a:cs typeface="Arial"/>
              </a:defRPr>
            </a:pPr>
            <a:r>
              <a:rPr sz="2025" b="0">
                <a:solidFill>
                  <a:srgbClr val="566B70"/>
                </a:solidFill>
                <a:latin typeface="Arial"/>
                <a:ea typeface="Arial"/>
                <a:cs typeface="Arial"/>
              </a:rPr>
              <a:t>screenshot-to-fmx-mapping, kemudian create-fmx-ui</a:t>
            </a:r>
          </a:p>
        </p:txBody>
      </p:sp>
      <p:sp>
        <p:nvSpPr>
          <p:cNvPr id="14" name="04">
            <a:extLst xmlns:a="http://schemas.openxmlformats.org/drawingml/2006/main">
              <a:ext uri="{FF2B5EF4-FFF2-40B4-BE49-F238E27FC236}">
                <a16:creationId xmlns:a16="http://schemas.microsoft.com/office/drawing/2014/main" id="{D1854849-8CC1-4E00-8708-ED6546E26187}"/>
              </a:ext>
            </a:extLst>
          </p:cNvPr>
          <p:cNvSpPr>
            <a:spLocks xmlns:a="http://schemas.openxmlformats.org/drawingml/2006/main" noGrp="1"/>
          </p:cNvSpPr>
          <p:nvPr/>
        </p:nvSpPr>
        <p:spPr>
          <a:xfrm xmlns:a="http://schemas.openxmlformats.org/drawingml/2006/main">
            <a:off x="762000" y="61722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075" b="1">
                <a:solidFill>
                  <a:srgbClr val="007F79"/>
                </a:solidFill>
                <a:latin typeface="Arial"/>
                <a:ea typeface="Arial"/>
                <a:cs typeface="Arial"/>
              </a:defRPr>
            </a:pPr>
            <a:r>
              <a:rPr sz="3075" b="1">
                <a:solidFill>
                  <a:srgbClr val="007F79"/>
                </a:solidFill>
                <a:latin typeface="Arial"/>
                <a:ea typeface="Arial"/>
                <a:cs typeface="Arial"/>
              </a:rPr>
              <a:t>04</a:t>
            </a:r>
          </a:p>
        </p:txBody>
      </p:sp>
      <p:sp>
        <p:nvSpPr>
          <p:cNvPr id="15" name="HTML yang dibuat agent">
            <a:extLst xmlns:a="http://schemas.openxmlformats.org/drawingml/2006/main">
              <a:ext uri="{FF2B5EF4-FFF2-40B4-BE49-F238E27FC236}">
                <a16:creationId xmlns:a16="http://schemas.microsoft.com/office/drawing/2014/main" id="{DB227CA0-63BA-4D07-A52E-12837DCE0EE3}"/>
              </a:ext>
            </a:extLst>
          </p:cNvPr>
          <p:cNvSpPr>
            <a:spLocks xmlns:a="http://schemas.openxmlformats.org/drawingml/2006/main" noGrp="1"/>
          </p:cNvSpPr>
          <p:nvPr/>
        </p:nvSpPr>
        <p:spPr>
          <a:xfrm xmlns:a="http://schemas.openxmlformats.org/drawingml/2006/main">
            <a:off x="1952625" y="6172200"/>
            <a:ext cx="1252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142C31"/>
                </a:solidFill>
                <a:latin typeface="Arial"/>
                <a:ea typeface="Arial"/>
                <a:cs typeface="Arial"/>
              </a:defRPr>
            </a:pPr>
            <a:r>
              <a:rPr sz="2400" b="1">
                <a:solidFill>
                  <a:srgbClr val="142C31"/>
                </a:solidFill>
                <a:latin typeface="Arial"/>
                <a:ea typeface="Arial"/>
                <a:cs typeface="Arial"/>
              </a:rPr>
              <a:t>HTML yang dibuat agent</a:t>
            </a:r>
          </a:p>
        </p:txBody>
      </p:sp>
      <p:sp>
        <p:nvSpPr>
          <p:cNvPr id="16" name="Agent mengubah wireframe ke HTML, kemudian html-to-fmx">
            <a:extLst xmlns:a="http://schemas.openxmlformats.org/drawingml/2006/main">
              <a:ext uri="{FF2B5EF4-FFF2-40B4-BE49-F238E27FC236}">
                <a16:creationId xmlns:a16="http://schemas.microsoft.com/office/drawing/2014/main" id="{6A0A88BD-D774-4AEC-A28E-206BFD77E8B4}"/>
              </a:ext>
            </a:extLst>
          </p:cNvPr>
          <p:cNvSpPr>
            <a:spLocks xmlns:a="http://schemas.openxmlformats.org/drawingml/2006/main" noGrp="1"/>
          </p:cNvSpPr>
          <p:nvPr/>
        </p:nvSpPr>
        <p:spPr>
          <a:xfrm xmlns:a="http://schemas.openxmlformats.org/drawingml/2006/main">
            <a:off x="1952625" y="6743700"/>
            <a:ext cx="12525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66B70"/>
                </a:solidFill>
                <a:latin typeface="Arial"/>
                <a:ea typeface="Arial"/>
                <a:cs typeface="Arial"/>
              </a:defRPr>
            </a:pPr>
            <a:r>
              <a:rPr sz="2025" b="0">
                <a:solidFill>
                  <a:srgbClr val="566B70"/>
                </a:solidFill>
                <a:latin typeface="Arial"/>
                <a:ea typeface="Arial"/>
                <a:cs typeface="Arial"/>
              </a:rPr>
              <a:t>Agent mengubah wireframe ke HTML, kemudian html-to-fmx</a:t>
            </a:r>
          </a:p>
        </p:txBody>
      </p:sp>
    </p:spTree>
    <p:extLst>
      <p:ext uri="{BB962C8B-B14F-4D97-AF65-F5344CB8AC3E}">
        <p14:creationId xmlns:p14="http://schemas.microsoft.com/office/powerpoint/2010/main" val="21172714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ersiapan dan deskripsi wireframe">
            <a:extLst xmlns:a="http://schemas.openxmlformats.org/drawingml/2006/main">
              <a:ext uri="{FF2B5EF4-FFF2-40B4-BE49-F238E27FC236}">
                <a16:creationId xmlns:a16="http://schemas.microsoft.com/office/drawing/2014/main" id="{DB522FC1-5AD9-4D01-89C4-1875ABB809E1}"/>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C31"/>
                </a:solidFill>
                <a:latin typeface="Arial"/>
                <a:ea typeface="Arial"/>
                <a:cs typeface="Arial"/>
              </a:defRPr>
            </a:pPr>
            <a:r>
              <a:rPr sz="3600" b="1">
                <a:solidFill>
                  <a:srgbClr val="142C31"/>
                </a:solidFill>
                <a:latin typeface="Arial"/>
                <a:ea typeface="Arial"/>
                <a:cs typeface="Arial"/>
              </a:rPr>
              <a:t>Persiapan dan deskripsi wireframe</a:t>
            </a:r>
          </a:p>
        </p:txBody>
      </p:sp>
      <p:sp>
        <p:nvSpPr>
          <p:cNvPr id="2" name="Gunakan brief yang sama pada keempat metode">
            <a:extLst xmlns:a="http://schemas.openxmlformats.org/drawingml/2006/main">
              <a:ext uri="{FF2B5EF4-FFF2-40B4-BE49-F238E27FC236}">
                <a16:creationId xmlns:a16="http://schemas.microsoft.com/office/drawing/2014/main" id="{F77975C7-051F-4099-B4F9-85AF429C473C}"/>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B70"/>
                </a:solidFill>
                <a:latin typeface="Arial"/>
                <a:ea typeface="Arial"/>
                <a:cs typeface="Arial"/>
              </a:defRPr>
            </a:pPr>
            <a:r>
              <a:rPr sz="1875" b="0">
                <a:solidFill>
                  <a:srgbClr val="566B70"/>
                </a:solidFill>
                <a:latin typeface="Arial"/>
                <a:ea typeface="Arial"/>
                <a:cs typeface="Arial"/>
              </a:rPr>
              <a:t>Gunakan brief yang sama pada keempat metode</a:t>
            </a:r>
          </a:p>
        </p:txBody>
      </p:sp>
      <p:sp>
        <p:nvSpPr>
          <p:cNvPr id="3" name="HTML-FMX  /  V2 healthcare study">
            <a:extLst xmlns:a="http://schemas.openxmlformats.org/drawingml/2006/main">
              <a:ext uri="{FF2B5EF4-FFF2-40B4-BE49-F238E27FC236}">
                <a16:creationId xmlns:a16="http://schemas.microsoft.com/office/drawing/2014/main" id="{F7A501A3-659E-457F-AD0F-850A8FE6C768}"/>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8">
            <a:extLst xmlns:a="http://schemas.openxmlformats.org/drawingml/2006/main">
              <a:ext uri="{FF2B5EF4-FFF2-40B4-BE49-F238E27FC236}">
                <a16:creationId xmlns:a16="http://schemas.microsoft.com/office/drawing/2014/main" id="{900485F1-F173-4C08-B2AE-C9882E41287A}"/>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66B70"/>
                </a:solidFill>
                <a:latin typeface="Arial"/>
                <a:ea typeface="Arial"/>
                <a:cs typeface="Arial"/>
              </a:defRPr>
            </a:pPr>
            <a:r>
              <a:rPr sz="1350" b="0">
                <a:solidFill>
                  <a:srgbClr val="566B70"/>
                </a:solidFill>
                <a:latin typeface="Arial"/>
                <a:ea typeface="Arial"/>
                <a:cs typeface="Arial"/>
              </a:rPr>
              <a:t>08</a:t>
            </a:r>
          </a:p>
        </p:txBody>
      </p:sp>
      <p:sp>
        <p:nvSpPr>
          <p:cNvPr id="5" name="Brief Healthcare Appointment App">
            <a:extLst xmlns:a="http://schemas.openxmlformats.org/drawingml/2006/main">
              <a:ext uri="{FF2B5EF4-FFF2-40B4-BE49-F238E27FC236}">
                <a16:creationId xmlns:a16="http://schemas.microsoft.com/office/drawing/2014/main" id="{E449B58D-A4AD-46D0-A55D-53B973A99D70}"/>
              </a:ext>
            </a:extLst>
          </p:cNvPr>
          <p:cNvSpPr>
            <a:spLocks xmlns:a="http://schemas.openxmlformats.org/drawingml/2006/main" noGrp="1"/>
          </p:cNvSpPr>
          <p:nvPr/>
        </p:nvSpPr>
        <p:spPr>
          <a:xfrm xmlns:a="http://schemas.openxmlformats.org/drawingml/2006/main">
            <a:off x="762000" y="2143125"/>
            <a:ext cx="838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Brief Healthcare Appointment App</a:t>
            </a:r>
          </a:p>
        </p:txBody>
      </p:sp>
      <p:sp>
        <p:nvSpPr>
          <p:cNvPr id="6" name="Buat UI aplikasi mobile healthcare untuk pasien. Aplikasi me">
            <a:extLst xmlns:a="http://schemas.openxmlformats.org/drawingml/2006/main">
              <a:ext uri="{FF2B5EF4-FFF2-40B4-BE49-F238E27FC236}">
                <a16:creationId xmlns:a16="http://schemas.microsoft.com/office/drawing/2014/main" id="{701DBA90-6B89-4A6B-9468-1186BD2B97E6}"/>
              </a:ext>
            </a:extLst>
          </p:cNvPr>
          <p:cNvSpPr>
            <a:spLocks xmlns:a="http://schemas.openxmlformats.org/drawingml/2006/main" noGrp="1"/>
          </p:cNvSpPr>
          <p:nvPr/>
        </p:nvSpPr>
        <p:spPr>
          <a:xfrm xmlns:a="http://schemas.openxmlformats.org/drawingml/2006/main">
            <a:off x="762000" y="2857500"/>
            <a:ext cx="8334375"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Buat UI aplikasi mobile healthcare untuk pasien. Aplikasi membantu pasien mencari dokter, melihat jadwal konsultasi mendatang, memilih dokter sesuai kebutuhan kesehatan, serta berkomunikasi dengan penyedia layanan.</a:t>
            </a:r>
          </a:p>
          <a:p xmlns:a="http://schemas.openxmlformats.org/drawingml/2006/main">
            <a:r>
              <a:t/>
            </a:r>
          </a:p>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Ikuti susunan wireframe: pencarian dokter atau keluhan, kategori kesehatan, upcoming appointment, daftar dokter populer, dan navigasi bawah ke pesan serta profil. Gunakan tampilan modern dan sederhana.</a:t>
            </a:r>
          </a:p>
        </p:txBody>
      </p:sp>
      <p:sp>
        <p:nvSpPr>
          <p:cNvPr id="7" name="Sebelum menjalankan prompt">
            <a:extLst xmlns:a="http://schemas.openxmlformats.org/drawingml/2006/main">
              <a:ext uri="{FF2B5EF4-FFF2-40B4-BE49-F238E27FC236}">
                <a16:creationId xmlns:a16="http://schemas.microsoft.com/office/drawing/2014/main" id="{1B104715-74AC-48AF-B1A1-7A985504EABF}"/>
              </a:ext>
            </a:extLst>
          </p:cNvPr>
          <p:cNvSpPr>
            <a:spLocks xmlns:a="http://schemas.openxmlformats.org/drawingml/2006/main" noGrp="1"/>
          </p:cNvSpPr>
          <p:nvPr/>
        </p:nvSpPr>
        <p:spPr>
          <a:xfrm xmlns:a="http://schemas.openxmlformats.org/drawingml/2006/main">
            <a:off x="9715500" y="2143125"/>
            <a:ext cx="4667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Sebelum menjalankan prompt</a:t>
            </a:r>
          </a:p>
        </p:txBody>
      </p:sp>
      <p:sp>
        <p:nvSpPr>
          <p:cNvPr id="8" name="1. Buka proyek Delphi FMX dan siapkan skill.&#10;2. Berikan wire">
            <a:extLst xmlns:a="http://schemas.openxmlformats.org/drawingml/2006/main">
              <a:ext uri="{FF2B5EF4-FFF2-40B4-BE49-F238E27FC236}">
                <a16:creationId xmlns:a16="http://schemas.microsoft.com/office/drawing/2014/main" id="{493C4031-2EB5-405E-A6D0-6BC56A13C743}"/>
              </a:ext>
            </a:extLst>
          </p:cNvPr>
          <p:cNvSpPr>
            <a:spLocks xmlns:a="http://schemas.openxmlformats.org/drawingml/2006/main" noGrp="1"/>
          </p:cNvSpPr>
          <p:nvPr/>
        </p:nvSpPr>
        <p:spPr>
          <a:xfrm xmlns:a="http://schemas.openxmlformats.org/drawingml/2006/main">
            <a:off x="9715500" y="3143250"/>
            <a:ext cx="4667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1. Buka proyek Delphi FMX dan siapkan skill.</a:t>
            </a:r>
          </a:p>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2. Berikan wireframe.png dan brief ini ke agent.</a:t>
            </a:r>
          </a:p>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3. Pilih GPT-6.1 Sol dengan reasoning High.</a:t>
            </a:r>
          </a:p>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4. Pilih satu metode, lalu lanjutkan prompt data dummy.</a:t>
            </a:r>
          </a:p>
        </p:txBody>
      </p:sp>
      <p:sp>
        <p:nvSpPr>
          <p:cNvPr id="9" name="Wireframe: docs/result/VERSION.2.0.0/wireframe.png">
            <a:extLst xmlns:a="http://schemas.openxmlformats.org/drawingml/2006/main">
              <a:ext uri="{FF2B5EF4-FFF2-40B4-BE49-F238E27FC236}">
                <a16:creationId xmlns:a16="http://schemas.microsoft.com/office/drawing/2014/main" id="{E601AF9E-BC11-46D2-8D3B-D44A592B8C7B}"/>
              </a:ext>
            </a:extLst>
          </p:cNvPr>
          <p:cNvSpPr>
            <a:spLocks xmlns:a="http://schemas.openxmlformats.org/drawingml/2006/main" noGrp="1"/>
          </p:cNvSpPr>
          <p:nvPr/>
        </p:nvSpPr>
        <p:spPr>
          <a:xfrm xmlns:a="http://schemas.openxmlformats.org/drawingml/2006/main">
            <a:off x="762000" y="7124700"/>
            <a:ext cx="1357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B70"/>
                </a:solidFill>
                <a:latin typeface="Arial"/>
                <a:ea typeface="Arial"/>
                <a:cs typeface="Arial"/>
              </a:defRPr>
            </a:pPr>
            <a:r>
              <a:rPr sz="1875" b="0">
                <a:solidFill>
                  <a:srgbClr val="566B70"/>
                </a:solidFill>
                <a:latin typeface="Arial"/>
                <a:ea typeface="Arial"/>
                <a:cs typeface="Arial"/>
              </a:rPr>
              <a:t>Wireframe: docs/result/VERSION.2.0.0/wireframe.png</a:t>
            </a:r>
          </a:p>
        </p:txBody>
      </p:sp>
      <p:sp>
        <p:nvSpPr>
          <p:cNvPr id="10" name="Prompt panduan dirapikan dari brief dan alur percobaan autho">
            <a:extLst xmlns:a="http://schemas.openxmlformats.org/drawingml/2006/main">
              <a:ext uri="{FF2B5EF4-FFF2-40B4-BE49-F238E27FC236}">
                <a16:creationId xmlns:a16="http://schemas.microsoft.com/office/drawing/2014/main" id="{B53BB09C-8489-4047-BE85-D060B70D0565}"/>
              </a:ext>
            </a:extLst>
          </p:cNvPr>
          <p:cNvSpPr>
            <a:spLocks xmlns:a="http://schemas.openxmlformats.org/drawingml/2006/main" noGrp="1"/>
          </p:cNvSpPr>
          <p:nvPr/>
        </p:nvSpPr>
        <p:spPr>
          <a:xfrm xmlns:a="http://schemas.openxmlformats.org/drawingml/2006/main">
            <a:off x="762000" y="7572375"/>
            <a:ext cx="13573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007F79"/>
                </a:solidFill>
                <a:latin typeface="Arial"/>
                <a:ea typeface="Arial"/>
                <a:cs typeface="Arial"/>
              </a:defRPr>
            </a:pPr>
            <a:r>
              <a:rPr sz="1875" b="1">
                <a:solidFill>
                  <a:srgbClr val="007F79"/>
                </a:solidFill>
                <a:latin typeface="Arial"/>
                <a:ea typeface="Arial"/>
                <a:cs typeface="Arial"/>
              </a:rPr>
              <a:t>Prompt panduan dirapikan dari brief dan alur percobaan author.</a:t>
            </a:r>
          </a:p>
        </p:txBody>
      </p:sp>
    </p:spTree>
    <p:extLst>
      <p:ext uri="{BB962C8B-B14F-4D97-AF65-F5344CB8AC3E}">
        <p14:creationId xmlns:p14="http://schemas.microsoft.com/office/powerpoint/2010/main" val="19794555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mpt Metode 1: Google Stitch dan HTML">
            <a:extLst xmlns:a="http://schemas.openxmlformats.org/drawingml/2006/main">
              <a:ext uri="{FF2B5EF4-FFF2-40B4-BE49-F238E27FC236}">
                <a16:creationId xmlns:a16="http://schemas.microsoft.com/office/drawing/2014/main" id="{9644CAB1-B84A-4002-AE9C-3A59B980C580}"/>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C31"/>
                </a:solidFill>
                <a:latin typeface="Arial"/>
                <a:ea typeface="Arial"/>
                <a:cs typeface="Arial"/>
              </a:defRPr>
            </a:pPr>
            <a:r>
              <a:rPr sz="3600" b="1">
                <a:solidFill>
                  <a:srgbClr val="142C31"/>
                </a:solidFill>
                <a:latin typeface="Arial"/>
                <a:ea typeface="Arial"/>
                <a:cs typeface="Arial"/>
              </a:rPr>
              <a:t>Prompt Metode 1: Google Stitch dan HTML</a:t>
            </a:r>
          </a:p>
        </p:txBody>
      </p:sp>
      <p:sp>
        <p:nvSpPr>
          <p:cNvPr id="2" name="Gunakan wireframe dan brief pada slide persiapan sebagai kon">
            <a:extLst xmlns:a="http://schemas.openxmlformats.org/drawingml/2006/main">
              <a:ext uri="{FF2B5EF4-FFF2-40B4-BE49-F238E27FC236}">
                <a16:creationId xmlns:a16="http://schemas.microsoft.com/office/drawing/2014/main" id="{C3336981-0888-42A6-BAF9-F0EC15890A41}"/>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B70"/>
                </a:solidFill>
                <a:latin typeface="Arial"/>
                <a:ea typeface="Arial"/>
                <a:cs typeface="Arial"/>
              </a:defRPr>
            </a:pPr>
            <a:r>
              <a:rPr sz="1875" b="0">
                <a:solidFill>
                  <a:srgbClr val="566B70"/>
                </a:solidFill>
                <a:latin typeface="Arial"/>
                <a:ea typeface="Arial"/>
                <a:cs typeface="Arial"/>
              </a:rPr>
              <a:t>Gunakan wireframe dan brief pada slide persiapan sebagai konteks prompt</a:t>
            </a:r>
          </a:p>
        </p:txBody>
      </p:sp>
      <p:sp>
        <p:nvSpPr>
          <p:cNvPr id="3" name="HTML-FMX  /  V2 healthcare study">
            <a:extLst xmlns:a="http://schemas.openxmlformats.org/drawingml/2006/main">
              <a:ext uri="{FF2B5EF4-FFF2-40B4-BE49-F238E27FC236}">
                <a16:creationId xmlns:a16="http://schemas.microsoft.com/office/drawing/2014/main" id="{5EC7A2BD-B8CC-4E50-910E-EB783283DDAE}"/>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9">
            <a:extLst xmlns:a="http://schemas.openxmlformats.org/drawingml/2006/main">
              <a:ext uri="{FF2B5EF4-FFF2-40B4-BE49-F238E27FC236}">
                <a16:creationId xmlns:a16="http://schemas.microsoft.com/office/drawing/2014/main" id="{D1F92BE8-4B55-4F3A-A892-A64EA47761E5}"/>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66B70"/>
                </a:solidFill>
                <a:latin typeface="Arial"/>
                <a:ea typeface="Arial"/>
                <a:cs typeface="Arial"/>
              </a:defRPr>
            </a:pPr>
            <a:r>
              <a:rPr sz="1350" b="0">
                <a:solidFill>
                  <a:srgbClr val="566B70"/>
                </a:solidFill>
                <a:latin typeface="Arial"/>
                <a:ea typeface="Arial"/>
                <a:cs typeface="Arial"/>
              </a:rPr>
              <a:t>09</a:t>
            </a:r>
          </a:p>
        </p:txBody>
      </p:sp>
      <p:sp>
        <p:nvSpPr>
          <p:cNvPr id="5" name="1. Buat desain melalui MCP Google Stitch">
            <a:extLst xmlns:a="http://schemas.openxmlformats.org/drawingml/2006/main">
              <a:ext uri="{FF2B5EF4-FFF2-40B4-BE49-F238E27FC236}">
                <a16:creationId xmlns:a16="http://schemas.microsoft.com/office/drawing/2014/main" id="{841FA4E0-D774-4C4E-A927-0AB8A4D8347F}"/>
              </a:ext>
            </a:extLst>
          </p:cNvPr>
          <p:cNvSpPr>
            <a:spLocks xmlns:a="http://schemas.openxmlformats.org/drawingml/2006/main" noGrp="1"/>
          </p:cNvSpPr>
          <p:nvPr/>
        </p:nvSpPr>
        <p:spPr>
          <a:xfrm xmlns:a="http://schemas.openxmlformats.org/drawingml/2006/main">
            <a:off x="762000" y="2143125"/>
            <a:ext cx="6334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1. Buat desain melalui MCP Google Stitch</a:t>
            </a:r>
          </a:p>
        </p:txBody>
      </p:sp>
      <p:sp>
        <p:nvSpPr>
          <p:cNvPr id="6" name="Gunakan MCP Google Stitch untuk membuat UI Healthcare Appoin">
            <a:extLst xmlns:a="http://schemas.openxmlformats.org/drawingml/2006/main">
              <a:ext uri="{FF2B5EF4-FFF2-40B4-BE49-F238E27FC236}">
                <a16:creationId xmlns:a16="http://schemas.microsoft.com/office/drawing/2014/main" id="{643985B4-D48F-4E90-80DB-553B821659EE}"/>
              </a:ext>
            </a:extLst>
          </p:cNvPr>
          <p:cNvSpPr>
            <a:spLocks xmlns:a="http://schemas.openxmlformats.org/drawingml/2006/main" noGrp="1"/>
          </p:cNvSpPr>
          <p:nvPr/>
        </p:nvSpPr>
        <p:spPr>
          <a:xfrm xmlns:a="http://schemas.openxmlformats.org/drawingml/2006/main">
            <a:off x="762000" y="3429000"/>
            <a:ext cx="6334125"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Gunakan MCP Google Stitch untuk membuat UI Healthcare Appointment App dari wireframe dan brief ini. Pertahankan susunan area utama. Ikuti aturan warna project/DESIGN.md, lalu lengkapi aset visual yang relevan.</a:t>
            </a:r>
          </a:p>
        </p:txBody>
      </p:sp>
      <p:sp>
        <p:nvSpPr>
          <p:cNvPr id="7" name="2. Ekspor HTML, lalu konversi ke FMX">
            <a:extLst xmlns:a="http://schemas.openxmlformats.org/drawingml/2006/main">
              <a:ext uri="{FF2B5EF4-FFF2-40B4-BE49-F238E27FC236}">
                <a16:creationId xmlns:a16="http://schemas.microsoft.com/office/drawing/2014/main" id="{4333726B-392B-4B43-8D10-0AC7FCDB33C0}"/>
              </a:ext>
            </a:extLst>
          </p:cNvPr>
          <p:cNvSpPr>
            <a:spLocks xmlns:a="http://schemas.openxmlformats.org/drawingml/2006/main" noGrp="1"/>
          </p:cNvSpPr>
          <p:nvPr/>
        </p:nvSpPr>
        <p:spPr>
          <a:xfrm xmlns:a="http://schemas.openxmlformats.org/drawingml/2006/main">
            <a:off x="8096250" y="214312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2. Ekspor HTML, lalu konversi ke FMX</a:t>
            </a:r>
          </a:p>
        </p:txBody>
      </p:sp>
      <p:sp>
        <p:nvSpPr>
          <p:cNvPr id="8" name="Ekspor desain tadi sebagai HTML/CSS. Gunakan skill html-to-f">
            <a:extLst xmlns:a="http://schemas.openxmlformats.org/drawingml/2006/main">
              <a:ext uri="{FF2B5EF4-FFF2-40B4-BE49-F238E27FC236}">
                <a16:creationId xmlns:a16="http://schemas.microsoft.com/office/drawing/2014/main" id="{2ABF1E60-51FE-4E75-A6A8-FB992CAF74F0}"/>
              </a:ext>
            </a:extLst>
          </p:cNvPr>
          <p:cNvSpPr>
            <a:spLocks xmlns:a="http://schemas.openxmlformats.org/drawingml/2006/main" noGrp="1"/>
          </p:cNvSpPr>
          <p:nvPr/>
        </p:nvSpPr>
        <p:spPr>
          <a:xfrm xmlns:a="http://schemas.openxmlformats.org/drawingml/2006/main">
            <a:off x="8096250" y="3429000"/>
            <a:ext cx="628650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Ekspor desain tadi sebagai HTML/CSS. Gunakan skill html-to-fmx untuk mengonversinya ke UI native Delphi FMX. Pertahankan visual sumber. Buat page dan reusable doctor card sebagai pasangan .fmx dan .pas yang dapat diedit di Designer.</a:t>
            </a:r>
          </a:p>
        </p:txBody>
      </p:sp>
      <p:sp>
        <p:nvSpPr>
          <p:cNvPr id="9" name="Urutan kerja: desain Stitch, ekspor HTML/CSS, konversi FMX, ">
            <a:extLst xmlns:a="http://schemas.openxmlformats.org/drawingml/2006/main">
              <a:ext uri="{FF2B5EF4-FFF2-40B4-BE49-F238E27FC236}">
                <a16:creationId xmlns:a16="http://schemas.microsoft.com/office/drawing/2014/main" id="{488ED22D-07FD-41A1-B666-9F9A30E0D2C2}"/>
              </a:ext>
            </a:extLst>
          </p:cNvPr>
          <p:cNvSpPr>
            <a:spLocks xmlns:a="http://schemas.openxmlformats.org/drawingml/2006/main" noGrp="1"/>
          </p:cNvSpPr>
          <p:nvPr/>
        </p:nvSpPr>
        <p:spPr>
          <a:xfrm xmlns:a="http://schemas.openxmlformats.org/drawingml/2006/main">
            <a:off x="762000" y="7191375"/>
            <a:ext cx="1357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66B70"/>
                </a:solidFill>
                <a:latin typeface="Arial"/>
                <a:ea typeface="Arial"/>
                <a:cs typeface="Arial"/>
              </a:defRPr>
            </a:pPr>
            <a:r>
              <a:rPr sz="2025" b="0">
                <a:solidFill>
                  <a:srgbClr val="566B70"/>
                </a:solidFill>
                <a:latin typeface="Arial"/>
                <a:ea typeface="Arial"/>
                <a:cs typeface="Arial"/>
              </a:rPr>
              <a:t>Urutan kerja: desain Stitch, ekspor HTML/CSS, konversi FMX, lalu isi data dummy.</a:t>
            </a:r>
          </a:p>
        </p:txBody>
      </p:sp>
    </p:spTree>
    <p:extLst>
      <p:ext uri="{BB962C8B-B14F-4D97-AF65-F5344CB8AC3E}">
        <p14:creationId xmlns:p14="http://schemas.microsoft.com/office/powerpoint/2010/main" val="18945931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mpt Metode 2: Create UI langsung">
            <a:extLst xmlns:a="http://schemas.openxmlformats.org/drawingml/2006/main">
              <a:ext uri="{FF2B5EF4-FFF2-40B4-BE49-F238E27FC236}">
                <a16:creationId xmlns:a16="http://schemas.microsoft.com/office/drawing/2014/main" id="{954316C3-3F5E-472E-A163-7174FC785524}"/>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C31"/>
                </a:solidFill>
                <a:latin typeface="Arial"/>
                <a:ea typeface="Arial"/>
                <a:cs typeface="Arial"/>
              </a:defRPr>
            </a:pPr>
            <a:r>
              <a:rPr sz="3600" b="1">
                <a:solidFill>
                  <a:srgbClr val="142C31"/>
                </a:solidFill>
                <a:latin typeface="Arial"/>
                <a:ea typeface="Arial"/>
                <a:cs typeface="Arial"/>
              </a:rPr>
              <a:t>Prompt Metode 2: Create UI langsung</a:t>
            </a:r>
          </a:p>
        </p:txBody>
      </p:sp>
      <p:sp>
        <p:nvSpPr>
          <p:cNvPr id="2" name="Gunakan wireframe dan brief pada slide persiapan sebagai kon">
            <a:extLst xmlns:a="http://schemas.openxmlformats.org/drawingml/2006/main">
              <a:ext uri="{FF2B5EF4-FFF2-40B4-BE49-F238E27FC236}">
                <a16:creationId xmlns:a16="http://schemas.microsoft.com/office/drawing/2014/main" id="{11D9E63C-4F93-491C-9BBE-D8C88D72E3D8}"/>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B70"/>
                </a:solidFill>
                <a:latin typeface="Arial"/>
                <a:ea typeface="Arial"/>
                <a:cs typeface="Arial"/>
              </a:defRPr>
            </a:pPr>
            <a:r>
              <a:rPr sz="1875" b="0">
                <a:solidFill>
                  <a:srgbClr val="566B70"/>
                </a:solidFill>
                <a:latin typeface="Arial"/>
                <a:ea typeface="Arial"/>
                <a:cs typeface="Arial"/>
              </a:rPr>
              <a:t>Gunakan wireframe dan brief pada slide persiapan sebagai konteks prompt</a:t>
            </a:r>
          </a:p>
        </p:txBody>
      </p:sp>
      <p:sp>
        <p:nvSpPr>
          <p:cNvPr id="3" name="HTML-FMX  /  V2 healthcare study">
            <a:extLst xmlns:a="http://schemas.openxmlformats.org/drawingml/2006/main">
              <a:ext uri="{FF2B5EF4-FFF2-40B4-BE49-F238E27FC236}">
                <a16:creationId xmlns:a16="http://schemas.microsoft.com/office/drawing/2014/main" id="{392E38FA-3507-46A9-8AA8-4CADC4E7D074}"/>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0">
            <a:extLst xmlns:a="http://schemas.openxmlformats.org/drawingml/2006/main">
              <a:ext uri="{FF2B5EF4-FFF2-40B4-BE49-F238E27FC236}">
                <a16:creationId xmlns:a16="http://schemas.microsoft.com/office/drawing/2014/main" id="{2BB3E2B7-E894-46FF-BB11-12605A8DB4D3}"/>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66B70"/>
                </a:solidFill>
                <a:latin typeface="Arial"/>
                <a:ea typeface="Arial"/>
                <a:cs typeface="Arial"/>
              </a:defRPr>
            </a:pPr>
            <a:r>
              <a:rPr sz="1350" b="0">
                <a:solidFill>
                  <a:srgbClr val="566B70"/>
                </a:solidFill>
                <a:latin typeface="Arial"/>
                <a:ea typeface="Arial"/>
                <a:cs typeface="Arial"/>
              </a:rPr>
              <a:t>10</a:t>
            </a:r>
          </a:p>
        </p:txBody>
      </p:sp>
      <p:sp>
        <p:nvSpPr>
          <p:cNvPr id="5" name="Satu prompt untuk implementasi">
            <a:extLst xmlns:a="http://schemas.openxmlformats.org/drawingml/2006/main">
              <a:ext uri="{FF2B5EF4-FFF2-40B4-BE49-F238E27FC236}">
                <a16:creationId xmlns:a16="http://schemas.microsoft.com/office/drawing/2014/main" id="{6EB9D1CE-E0A4-4633-8470-C74DD2B2D165}"/>
              </a:ext>
            </a:extLst>
          </p:cNvPr>
          <p:cNvSpPr>
            <a:spLocks xmlns:a="http://schemas.openxmlformats.org/drawingml/2006/main" noGrp="1"/>
          </p:cNvSpPr>
          <p:nvPr/>
        </p:nvSpPr>
        <p:spPr>
          <a:xfrm xmlns:a="http://schemas.openxmlformats.org/drawingml/2006/main">
            <a:off x="762000" y="2143125"/>
            <a:ext cx="8715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Satu prompt untuk implementasi</a:t>
            </a:r>
          </a:p>
        </p:txBody>
      </p:sp>
      <p:sp>
        <p:nvSpPr>
          <p:cNvPr id="6" name="Gunakan skill create-fmx-ui untuk membuat halaman Healthcare">
            <a:extLst xmlns:a="http://schemas.openxmlformats.org/drawingml/2006/main">
              <a:ext uri="{FF2B5EF4-FFF2-40B4-BE49-F238E27FC236}">
                <a16:creationId xmlns:a16="http://schemas.microsoft.com/office/drawing/2014/main" id="{2E949DDF-67E5-4E6F-A6F4-E2C446B67C16}"/>
              </a:ext>
            </a:extLst>
          </p:cNvPr>
          <p:cNvSpPr>
            <a:spLocks xmlns:a="http://schemas.openxmlformats.org/drawingml/2006/main" noGrp="1"/>
          </p:cNvSpPr>
          <p:nvPr/>
        </p:nvSpPr>
        <p:spPr>
          <a:xfrm xmlns:a="http://schemas.openxmlformats.org/drawingml/2006/main">
            <a:off x="762000" y="3190875"/>
            <a:ext cx="862012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Gunakan skill create-fmx-ui untuk membuat halaman Healthcare Appointment App langsung dari wireframe.png dan brief ini. Ikuti susunan wireframe dan aturan warna project/DESIGN.md.</a:t>
            </a:r>
          </a:p>
          <a:p xmlns:a="http://schemas.openxmlformats.org/drawingml/2006/main">
            <a:r>
              <a:t/>
            </a:r>
          </a:p>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Simpan struktur tetap sebagai pasangan .fmx dan .pas yang dapat diedit di Designer. Buat doctor card reusable untuk daftar dokter dan siapkan binding agar page dapat memakai card tersebut. Ikuti struktur proyek serta StyleBook yang ada.</a:t>
            </a:r>
          </a:p>
        </p:txBody>
      </p:sp>
      <p:sp>
        <p:nvSpPr>
          <p:cNvPr id="7" name="Hasil yang diharapkan">
            <a:extLst xmlns:a="http://schemas.openxmlformats.org/drawingml/2006/main">
              <a:ext uri="{FF2B5EF4-FFF2-40B4-BE49-F238E27FC236}">
                <a16:creationId xmlns:a16="http://schemas.microsoft.com/office/drawing/2014/main" id="{A53050B8-A151-417C-B1A0-6C7CFE22E2AB}"/>
              </a:ext>
            </a:extLst>
          </p:cNvPr>
          <p:cNvSpPr>
            <a:spLocks xmlns:a="http://schemas.openxmlformats.org/drawingml/2006/main" noGrp="1"/>
          </p:cNvSpPr>
          <p:nvPr/>
        </p:nvSpPr>
        <p:spPr>
          <a:xfrm xmlns:a="http://schemas.openxmlformats.org/drawingml/2006/main">
            <a:off x="10001250" y="2143125"/>
            <a:ext cx="4429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Hasil yang diharapkan</a:t>
            </a:r>
          </a:p>
        </p:txBody>
      </p:sp>
      <p:sp>
        <p:nvSpPr>
          <p:cNvPr id="8" name="Page native .fmx + .pas&#10;Doctor card reusable&#10;Binding data un">
            <a:extLst xmlns:a="http://schemas.openxmlformats.org/drawingml/2006/main">
              <a:ext uri="{FF2B5EF4-FFF2-40B4-BE49-F238E27FC236}">
                <a16:creationId xmlns:a16="http://schemas.microsoft.com/office/drawing/2014/main" id="{0E6128AB-9690-482D-A7EB-6BA4FC7C93ED}"/>
              </a:ext>
            </a:extLst>
          </p:cNvPr>
          <p:cNvSpPr>
            <a:spLocks xmlns:a="http://schemas.openxmlformats.org/drawingml/2006/main" noGrp="1"/>
          </p:cNvSpPr>
          <p:nvPr/>
        </p:nvSpPr>
        <p:spPr>
          <a:xfrm xmlns:a="http://schemas.openxmlformats.org/drawingml/2006/main">
            <a:off x="10001250" y="3190875"/>
            <a:ext cx="4429125"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Page native .fmx + .pas</a:t>
            </a:r>
          </a:p>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Doctor card reusable</a:t>
            </a:r>
          </a:p>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Binding data untuk page dan card</a:t>
            </a:r>
          </a:p>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Hierarki yang mengikuti wireframe</a:t>
            </a:r>
          </a:p>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Warna sesuai DESIGN.md</a:t>
            </a:r>
          </a:p>
        </p:txBody>
      </p:sp>
      <p:sp>
        <p:nvSpPr>
          <p:cNvPr id="9" name="Mapping gambar tetap berjalan di dalam create-fmx-ui. Metode">
            <a:extLst xmlns:a="http://schemas.openxmlformats.org/drawingml/2006/main">
              <a:ext uri="{FF2B5EF4-FFF2-40B4-BE49-F238E27FC236}">
                <a16:creationId xmlns:a16="http://schemas.microsoft.com/office/drawing/2014/main" id="{F9447F42-3A7A-4856-AD1E-B8656CD78E0C}"/>
              </a:ext>
            </a:extLst>
          </p:cNvPr>
          <p:cNvSpPr>
            <a:spLocks xmlns:a="http://schemas.openxmlformats.org/drawingml/2006/main" noGrp="1"/>
          </p:cNvSpPr>
          <p:nvPr/>
        </p:nvSpPr>
        <p:spPr>
          <a:xfrm xmlns:a="http://schemas.openxmlformats.org/drawingml/2006/main">
            <a:off x="762000" y="7191375"/>
            <a:ext cx="1357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66B70"/>
                </a:solidFill>
                <a:latin typeface="Arial"/>
                <a:ea typeface="Arial"/>
                <a:cs typeface="Arial"/>
              </a:defRPr>
            </a:pPr>
            <a:r>
              <a:rPr sz="2025" b="0">
                <a:solidFill>
                  <a:srgbClr val="566B70"/>
                </a:solidFill>
                <a:latin typeface="Arial"/>
                <a:ea typeface="Arial"/>
                <a:cs typeface="Arial"/>
              </a:rPr>
              <a:t>Mapping gambar tetap berjalan di dalam create-fmx-ui. Metode ini memakai satu alur pembuatan UI.</a:t>
            </a:r>
          </a:p>
        </p:txBody>
      </p:sp>
    </p:spTree>
    <p:extLst>
      <p:ext uri="{BB962C8B-B14F-4D97-AF65-F5344CB8AC3E}">
        <p14:creationId xmlns:p14="http://schemas.microsoft.com/office/powerpoint/2010/main" val="114294566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mpt Metode 3: Mapping terpisah">
            <a:extLst xmlns:a="http://schemas.openxmlformats.org/drawingml/2006/main">
              <a:ext uri="{FF2B5EF4-FFF2-40B4-BE49-F238E27FC236}">
                <a16:creationId xmlns:a16="http://schemas.microsoft.com/office/drawing/2014/main" id="{5B0BFF7D-9FDC-4A85-B712-DB5D4A339D68}"/>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C31"/>
                </a:solidFill>
                <a:latin typeface="Arial"/>
                <a:ea typeface="Arial"/>
                <a:cs typeface="Arial"/>
              </a:defRPr>
            </a:pPr>
            <a:r>
              <a:rPr sz="3600" b="1">
                <a:solidFill>
                  <a:srgbClr val="142C31"/>
                </a:solidFill>
                <a:latin typeface="Arial"/>
                <a:ea typeface="Arial"/>
                <a:cs typeface="Arial"/>
              </a:rPr>
              <a:t>Prompt Metode 3: Mapping terpisah</a:t>
            </a:r>
          </a:p>
        </p:txBody>
      </p:sp>
      <p:sp>
        <p:nvSpPr>
          <p:cNvPr id="2" name="Gunakan wireframe dan brief pada slide persiapan sebagai kon">
            <a:extLst xmlns:a="http://schemas.openxmlformats.org/drawingml/2006/main">
              <a:ext uri="{FF2B5EF4-FFF2-40B4-BE49-F238E27FC236}">
                <a16:creationId xmlns:a16="http://schemas.microsoft.com/office/drawing/2014/main" id="{D53361A6-31EC-4EFE-9D9A-C495DC73460C}"/>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B70"/>
                </a:solidFill>
                <a:latin typeface="Arial"/>
                <a:ea typeface="Arial"/>
                <a:cs typeface="Arial"/>
              </a:defRPr>
            </a:pPr>
            <a:r>
              <a:rPr sz="1875" b="0">
                <a:solidFill>
                  <a:srgbClr val="566B70"/>
                </a:solidFill>
                <a:latin typeface="Arial"/>
                <a:ea typeface="Arial"/>
                <a:cs typeface="Arial"/>
              </a:rPr>
              <a:t>Gunakan wireframe dan brief pada slide persiapan sebagai konteks prompt</a:t>
            </a:r>
          </a:p>
        </p:txBody>
      </p:sp>
      <p:sp>
        <p:nvSpPr>
          <p:cNvPr id="3" name="HTML-FMX  /  V2 healthcare study">
            <a:extLst xmlns:a="http://schemas.openxmlformats.org/drawingml/2006/main">
              <a:ext uri="{FF2B5EF4-FFF2-40B4-BE49-F238E27FC236}">
                <a16:creationId xmlns:a16="http://schemas.microsoft.com/office/drawing/2014/main" id="{09B0C7BA-8927-4CC1-9696-17DDB332C257}"/>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1">
            <a:extLst xmlns:a="http://schemas.openxmlformats.org/drawingml/2006/main">
              <a:ext uri="{FF2B5EF4-FFF2-40B4-BE49-F238E27FC236}">
                <a16:creationId xmlns:a16="http://schemas.microsoft.com/office/drawing/2014/main" id="{6624D4AB-1FF5-46D1-B3F4-0C1E401D032F}"/>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66B70"/>
                </a:solidFill>
                <a:latin typeface="Arial"/>
                <a:ea typeface="Arial"/>
                <a:cs typeface="Arial"/>
              </a:defRPr>
            </a:pPr>
            <a:r>
              <a:rPr sz="1350" b="0">
                <a:solidFill>
                  <a:srgbClr val="566B70"/>
                </a:solidFill>
                <a:latin typeface="Arial"/>
                <a:ea typeface="Arial"/>
                <a:cs typeface="Arial"/>
              </a:rPr>
              <a:t>11</a:t>
            </a:r>
          </a:p>
        </p:txBody>
      </p:sp>
      <p:sp>
        <p:nvSpPr>
          <p:cNvPr id="5" name="1. Jalankan screenshot-to-fmx-mapping">
            <a:extLst xmlns:a="http://schemas.openxmlformats.org/drawingml/2006/main">
              <a:ext uri="{FF2B5EF4-FFF2-40B4-BE49-F238E27FC236}">
                <a16:creationId xmlns:a16="http://schemas.microsoft.com/office/drawing/2014/main" id="{DF76E9EF-69E8-4D74-81F1-74A8B2F25DAD}"/>
              </a:ext>
            </a:extLst>
          </p:cNvPr>
          <p:cNvSpPr>
            <a:spLocks xmlns:a="http://schemas.openxmlformats.org/drawingml/2006/main" noGrp="1"/>
          </p:cNvSpPr>
          <p:nvPr/>
        </p:nvSpPr>
        <p:spPr>
          <a:xfrm xmlns:a="http://schemas.openxmlformats.org/drawingml/2006/main">
            <a:off x="762000" y="2143125"/>
            <a:ext cx="6334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1. Jalankan screenshot-to-fmx-mapping</a:t>
            </a:r>
          </a:p>
        </p:txBody>
      </p:sp>
      <p:sp>
        <p:nvSpPr>
          <p:cNvPr id="6" name="Gunakan skill screenshot-to-fmx-mapping untuk memetakan wire">
            <a:extLst xmlns:a="http://schemas.openxmlformats.org/drawingml/2006/main">
              <a:ext uri="{FF2B5EF4-FFF2-40B4-BE49-F238E27FC236}">
                <a16:creationId xmlns:a16="http://schemas.microsoft.com/office/drawing/2014/main" id="{B6D0A5A2-C5F8-454A-88FB-E687BE04DD99}"/>
              </a:ext>
            </a:extLst>
          </p:cNvPr>
          <p:cNvSpPr>
            <a:spLocks xmlns:a="http://schemas.openxmlformats.org/drawingml/2006/main" noGrp="1"/>
          </p:cNvSpPr>
          <p:nvPr/>
        </p:nvSpPr>
        <p:spPr>
          <a:xfrm xmlns:a="http://schemas.openxmlformats.org/drawingml/2006/main">
            <a:off x="762000" y="3429000"/>
            <a:ext cx="6334125"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Gunakan skill screenshot-to-fmx-mapping untuk memetakan wireframe dan brief ke hierarki komponen FMX. Pisahkan area tetap, area scroll, navigasi bawah, dan daftar dokter dengan card reusable. Simpan hasilnya sebagai dokumen mapping.</a:t>
            </a:r>
          </a:p>
        </p:txBody>
      </p:sp>
      <p:sp>
        <p:nvSpPr>
          <p:cNvPr id="7" name="2. Implementasikan mapping dengan create-fmx-ui">
            <a:extLst xmlns:a="http://schemas.openxmlformats.org/drawingml/2006/main">
              <a:ext uri="{FF2B5EF4-FFF2-40B4-BE49-F238E27FC236}">
                <a16:creationId xmlns:a16="http://schemas.microsoft.com/office/drawing/2014/main" id="{A379C4C6-6CF7-4330-8268-2C04D34D2736}"/>
              </a:ext>
            </a:extLst>
          </p:cNvPr>
          <p:cNvSpPr>
            <a:spLocks xmlns:a="http://schemas.openxmlformats.org/drawingml/2006/main" noGrp="1"/>
          </p:cNvSpPr>
          <p:nvPr/>
        </p:nvSpPr>
        <p:spPr>
          <a:xfrm xmlns:a="http://schemas.openxmlformats.org/drawingml/2006/main">
            <a:off x="8096250" y="214312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2. Implementasikan mapping dengan create-fmx-ui</a:t>
            </a:r>
          </a:p>
        </p:txBody>
      </p:sp>
      <p:sp>
        <p:nvSpPr>
          <p:cNvPr id="8" name="Gunakan skill create-fmx-ui untuk membangun UI berdasarkan m">
            <a:extLst xmlns:a="http://schemas.openxmlformats.org/drawingml/2006/main">
              <a:ext uri="{FF2B5EF4-FFF2-40B4-BE49-F238E27FC236}">
                <a16:creationId xmlns:a16="http://schemas.microsoft.com/office/drawing/2014/main" id="{9BE5E910-9492-4DF4-AD0E-444F9924A4ED}"/>
              </a:ext>
            </a:extLst>
          </p:cNvPr>
          <p:cNvSpPr>
            <a:spLocks xmlns:a="http://schemas.openxmlformats.org/drawingml/2006/main" noGrp="1"/>
          </p:cNvSpPr>
          <p:nvPr/>
        </p:nvSpPr>
        <p:spPr>
          <a:xfrm xmlns:a="http://schemas.openxmlformats.org/drawingml/2006/main">
            <a:off x="8096250" y="3429000"/>
            <a:ext cx="628650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Gunakan skill create-fmx-ui untuk membangun UI berdasarkan mapping tadi. Ikuti aturan warna project/DESIGN.md. Buat pasangan .fmx dan .pas yang dapat diedit di Designer, lalu siapkan binding page dan doctor card.</a:t>
            </a:r>
          </a:p>
        </p:txBody>
      </p:sp>
      <p:sp>
        <p:nvSpPr>
          <p:cNvPr id="9" name="Urutan kerja: dokumen mapping dahulu, implementasi berdasark">
            <a:extLst xmlns:a="http://schemas.openxmlformats.org/drawingml/2006/main">
              <a:ext uri="{FF2B5EF4-FFF2-40B4-BE49-F238E27FC236}">
                <a16:creationId xmlns:a16="http://schemas.microsoft.com/office/drawing/2014/main" id="{946248AC-AA53-4CD3-A612-103F64110FC1}"/>
              </a:ext>
            </a:extLst>
          </p:cNvPr>
          <p:cNvSpPr>
            <a:spLocks xmlns:a="http://schemas.openxmlformats.org/drawingml/2006/main" noGrp="1"/>
          </p:cNvSpPr>
          <p:nvPr/>
        </p:nvSpPr>
        <p:spPr>
          <a:xfrm xmlns:a="http://schemas.openxmlformats.org/drawingml/2006/main">
            <a:off x="762000" y="7191375"/>
            <a:ext cx="1357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66B70"/>
                </a:solidFill>
                <a:latin typeface="Arial"/>
                <a:ea typeface="Arial"/>
                <a:cs typeface="Arial"/>
              </a:defRPr>
            </a:pPr>
            <a:r>
              <a:rPr sz="2025" b="0">
                <a:solidFill>
                  <a:srgbClr val="566B70"/>
                </a:solidFill>
                <a:latin typeface="Arial"/>
                <a:ea typeface="Arial"/>
                <a:cs typeface="Arial"/>
              </a:rPr>
              <a:t>Urutan kerja: dokumen mapping dahulu, implementasi berdasarkan mapping, lalu isi data dummy.</a:t>
            </a:r>
          </a:p>
        </p:txBody>
      </p:sp>
    </p:spTree>
    <p:extLst>
      <p:ext uri="{BB962C8B-B14F-4D97-AF65-F5344CB8AC3E}">
        <p14:creationId xmlns:p14="http://schemas.microsoft.com/office/powerpoint/2010/main" val="188234637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Prompt Metode 4: HTML buatan agent">
            <a:extLst xmlns:a="http://schemas.openxmlformats.org/drawingml/2006/main">
              <a:ext uri="{FF2B5EF4-FFF2-40B4-BE49-F238E27FC236}">
                <a16:creationId xmlns:a16="http://schemas.microsoft.com/office/drawing/2014/main" id="{F0A3E86B-0818-4D4B-B958-91B139F00F09}"/>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C31"/>
                </a:solidFill>
                <a:latin typeface="Arial"/>
                <a:ea typeface="Arial"/>
                <a:cs typeface="Arial"/>
              </a:defRPr>
            </a:pPr>
            <a:r>
              <a:rPr sz="3600" b="1">
                <a:solidFill>
                  <a:srgbClr val="142C31"/>
                </a:solidFill>
                <a:latin typeface="Arial"/>
                <a:ea typeface="Arial"/>
                <a:cs typeface="Arial"/>
              </a:rPr>
              <a:t>Prompt Metode 4: HTML buatan agent</a:t>
            </a:r>
          </a:p>
        </p:txBody>
      </p:sp>
      <p:sp>
        <p:nvSpPr>
          <p:cNvPr id="2" name="Gunakan wireframe dan brief pada slide persiapan sebagai kon">
            <a:extLst xmlns:a="http://schemas.openxmlformats.org/drawingml/2006/main">
              <a:ext uri="{FF2B5EF4-FFF2-40B4-BE49-F238E27FC236}">
                <a16:creationId xmlns:a16="http://schemas.microsoft.com/office/drawing/2014/main" id="{66BA7BF5-D77C-47EC-9661-3996BE874FEE}"/>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B70"/>
                </a:solidFill>
                <a:latin typeface="Arial"/>
                <a:ea typeface="Arial"/>
                <a:cs typeface="Arial"/>
              </a:defRPr>
            </a:pPr>
            <a:r>
              <a:rPr sz="1875" b="0">
                <a:solidFill>
                  <a:srgbClr val="566B70"/>
                </a:solidFill>
                <a:latin typeface="Arial"/>
                <a:ea typeface="Arial"/>
                <a:cs typeface="Arial"/>
              </a:rPr>
              <a:t>Gunakan wireframe dan brief pada slide persiapan sebagai konteks prompt</a:t>
            </a:r>
          </a:p>
        </p:txBody>
      </p:sp>
      <p:sp>
        <p:nvSpPr>
          <p:cNvPr id="3" name="HTML-FMX  /  V2 healthcare study">
            <a:extLst xmlns:a="http://schemas.openxmlformats.org/drawingml/2006/main">
              <a:ext uri="{FF2B5EF4-FFF2-40B4-BE49-F238E27FC236}">
                <a16:creationId xmlns:a16="http://schemas.microsoft.com/office/drawing/2014/main" id="{8346B204-6E23-4585-8BE4-EE7368B0E832}"/>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2">
            <a:extLst xmlns:a="http://schemas.openxmlformats.org/drawingml/2006/main">
              <a:ext uri="{FF2B5EF4-FFF2-40B4-BE49-F238E27FC236}">
                <a16:creationId xmlns:a16="http://schemas.microsoft.com/office/drawing/2014/main" id="{CC1AB29B-E545-4D82-9DA5-B46AB7FF8C91}"/>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66B70"/>
                </a:solidFill>
                <a:latin typeface="Arial"/>
                <a:ea typeface="Arial"/>
                <a:cs typeface="Arial"/>
              </a:defRPr>
            </a:pPr>
            <a:r>
              <a:rPr sz="1350" b="0">
                <a:solidFill>
                  <a:srgbClr val="566B70"/>
                </a:solidFill>
                <a:latin typeface="Arial"/>
                <a:ea typeface="Arial"/>
                <a:cs typeface="Arial"/>
              </a:rPr>
              <a:t>12</a:t>
            </a:r>
          </a:p>
        </p:txBody>
      </p:sp>
      <p:sp>
        <p:nvSpPr>
          <p:cNvPr id="5" name="1. Minta agent membuat HTML/CSS">
            <a:extLst xmlns:a="http://schemas.openxmlformats.org/drawingml/2006/main">
              <a:ext uri="{FF2B5EF4-FFF2-40B4-BE49-F238E27FC236}">
                <a16:creationId xmlns:a16="http://schemas.microsoft.com/office/drawing/2014/main" id="{E29B0533-1A8B-40A4-B734-DF6D6A7DED87}"/>
              </a:ext>
            </a:extLst>
          </p:cNvPr>
          <p:cNvSpPr>
            <a:spLocks xmlns:a="http://schemas.openxmlformats.org/drawingml/2006/main" noGrp="1"/>
          </p:cNvSpPr>
          <p:nvPr/>
        </p:nvSpPr>
        <p:spPr>
          <a:xfrm xmlns:a="http://schemas.openxmlformats.org/drawingml/2006/main">
            <a:off x="762000" y="2143125"/>
            <a:ext cx="63341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1. Minta agent membuat HTML/CSS</a:t>
            </a:r>
          </a:p>
        </p:txBody>
      </p:sp>
      <p:sp>
        <p:nvSpPr>
          <p:cNvPr id="6" name="Ubah wireframe dan brief Healthcare Appointment App menjadi ">
            <a:extLst xmlns:a="http://schemas.openxmlformats.org/drawingml/2006/main">
              <a:ext uri="{FF2B5EF4-FFF2-40B4-BE49-F238E27FC236}">
                <a16:creationId xmlns:a16="http://schemas.microsoft.com/office/drawing/2014/main" id="{3DF24753-EDAF-4FAD-9913-4B941D409439}"/>
              </a:ext>
            </a:extLst>
          </p:cNvPr>
          <p:cNvSpPr>
            <a:spLocks xmlns:a="http://schemas.openxmlformats.org/drawingml/2006/main" noGrp="1"/>
          </p:cNvSpPr>
          <p:nvPr/>
        </p:nvSpPr>
        <p:spPr>
          <a:xfrm xmlns:a="http://schemas.openxmlformats.org/drawingml/2006/main">
            <a:off x="762000" y="3429000"/>
            <a:ext cx="6334125"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Ubah wireframe dan brief Healthcare Appointment App menjadi halaman HTML/CSS mobile. Pertahankan susunan area utama dan buat tampilan modern serta sederhana. Lengkapi aset yang diperlukan, lalu simpan sumber HTML/CSS.</a:t>
            </a:r>
          </a:p>
        </p:txBody>
      </p:sp>
      <p:sp>
        <p:nvSpPr>
          <p:cNvPr id="7" name="2. Konversi HTML/CSS dengan html-to-fmx">
            <a:extLst xmlns:a="http://schemas.openxmlformats.org/drawingml/2006/main">
              <a:ext uri="{FF2B5EF4-FFF2-40B4-BE49-F238E27FC236}">
                <a16:creationId xmlns:a16="http://schemas.microsoft.com/office/drawing/2014/main" id="{5633B055-DF50-445E-89D2-2C02DFEC885B}"/>
              </a:ext>
            </a:extLst>
          </p:cNvPr>
          <p:cNvSpPr>
            <a:spLocks xmlns:a="http://schemas.openxmlformats.org/drawingml/2006/main" noGrp="1"/>
          </p:cNvSpPr>
          <p:nvPr/>
        </p:nvSpPr>
        <p:spPr>
          <a:xfrm xmlns:a="http://schemas.openxmlformats.org/drawingml/2006/main">
            <a:off x="8096250" y="2143125"/>
            <a:ext cx="6286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2. Konversi HTML/CSS dengan html-to-fmx</a:t>
            </a:r>
          </a:p>
        </p:txBody>
      </p:sp>
      <p:sp>
        <p:nvSpPr>
          <p:cNvPr id="8" name="Gunakan skill html-to-fmx untuk mengonversi HTML/CSS tadi ke">
            <a:extLst xmlns:a="http://schemas.openxmlformats.org/drawingml/2006/main">
              <a:ext uri="{FF2B5EF4-FFF2-40B4-BE49-F238E27FC236}">
                <a16:creationId xmlns:a16="http://schemas.microsoft.com/office/drawing/2014/main" id="{1CA98E83-B930-4B27-B69A-81CFAFF20064}"/>
              </a:ext>
            </a:extLst>
          </p:cNvPr>
          <p:cNvSpPr>
            <a:spLocks xmlns:a="http://schemas.openxmlformats.org/drawingml/2006/main" noGrp="1"/>
          </p:cNvSpPr>
          <p:nvPr/>
        </p:nvSpPr>
        <p:spPr>
          <a:xfrm xmlns:a="http://schemas.openxmlformats.org/drawingml/2006/main">
            <a:off x="8096250" y="3429000"/>
            <a:ext cx="628650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Gunakan skill html-to-fmx untuk mengonversi HTML/CSS tadi ke UI native Delphi FMX. Pertahankan visual sumber. Buat page dan reusable doctor card sebagai pasangan .fmx dan .pas yang dapat diedit di Designer.</a:t>
            </a:r>
          </a:p>
        </p:txBody>
      </p:sp>
      <p:sp>
        <p:nvSpPr>
          <p:cNvPr id="9" name="Prompt tahap HTML ini tidak menyebut DESIGN.md, sesuai konte">
            <a:extLst xmlns:a="http://schemas.openxmlformats.org/drawingml/2006/main">
              <a:ext uri="{FF2B5EF4-FFF2-40B4-BE49-F238E27FC236}">
                <a16:creationId xmlns:a16="http://schemas.microsoft.com/office/drawing/2014/main" id="{C9B673B1-9042-4D08-9401-5288FB9ECC07}"/>
              </a:ext>
            </a:extLst>
          </p:cNvPr>
          <p:cNvSpPr>
            <a:spLocks xmlns:a="http://schemas.openxmlformats.org/drawingml/2006/main" noGrp="1"/>
          </p:cNvSpPr>
          <p:nvPr/>
        </p:nvSpPr>
        <p:spPr>
          <a:xfrm xmlns:a="http://schemas.openxmlformats.org/drawingml/2006/main">
            <a:off x="762000" y="7191375"/>
            <a:ext cx="13573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566B70"/>
                </a:solidFill>
                <a:latin typeface="Arial"/>
                <a:ea typeface="Arial"/>
                <a:cs typeface="Arial"/>
              </a:defRPr>
            </a:pPr>
            <a:r>
              <a:rPr sz="2025" b="0">
                <a:solidFill>
                  <a:srgbClr val="566B70"/>
                </a:solidFill>
                <a:latin typeface="Arial"/>
                <a:ea typeface="Arial"/>
                <a:cs typeface="Arial"/>
              </a:rPr>
              <a:t>Prompt tahap HTML ini tidak menyebut DESIGN.md, sesuai konteks percobaan Metode 4.</a:t>
            </a:r>
          </a:p>
        </p:txBody>
      </p:sp>
    </p:spTree>
    <p:extLst>
      <p:ext uri="{BB962C8B-B14F-4D97-AF65-F5344CB8AC3E}">
        <p14:creationId xmlns:p14="http://schemas.microsoft.com/office/powerpoint/2010/main" val="6947899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Data dummy, review, dan perbaikan prompt">
            <a:extLst xmlns:a="http://schemas.openxmlformats.org/drawingml/2006/main">
              <a:ext uri="{FF2B5EF4-FFF2-40B4-BE49-F238E27FC236}">
                <a16:creationId xmlns:a16="http://schemas.microsoft.com/office/drawing/2014/main" id="{755DC3A6-FB0E-4674-9347-EB016A90D264}"/>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600" b="1">
                <a:solidFill>
                  <a:srgbClr val="142C31"/>
                </a:solidFill>
                <a:latin typeface="Arial"/>
                <a:ea typeface="Arial"/>
                <a:cs typeface="Arial"/>
              </a:defRPr>
            </a:pPr>
            <a:r>
              <a:rPr sz="3600" b="1">
                <a:solidFill>
                  <a:srgbClr val="142C31"/>
                </a:solidFill>
                <a:latin typeface="Arial"/>
                <a:ea typeface="Arial"/>
                <a:cs typeface="Arial"/>
              </a:rPr>
              <a:t>Data dummy, review, dan perbaikan prompt</a:t>
            </a:r>
          </a:p>
        </p:txBody>
      </p:sp>
      <p:sp>
        <p:nvSpPr>
          <p:cNvPr id="2" name="Lanjutkan setelah page dan reusable card selesai dibuat">
            <a:extLst xmlns:a="http://schemas.openxmlformats.org/drawingml/2006/main">
              <a:ext uri="{FF2B5EF4-FFF2-40B4-BE49-F238E27FC236}">
                <a16:creationId xmlns:a16="http://schemas.microsoft.com/office/drawing/2014/main" id="{E322EC86-775D-4832-89CF-421E27299A24}"/>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B70"/>
                </a:solidFill>
                <a:latin typeface="Arial"/>
                <a:ea typeface="Arial"/>
                <a:cs typeface="Arial"/>
              </a:defRPr>
            </a:pPr>
            <a:r>
              <a:rPr sz="1875" b="0">
                <a:solidFill>
                  <a:srgbClr val="566B70"/>
                </a:solidFill>
                <a:latin typeface="Arial"/>
                <a:ea typeface="Arial"/>
                <a:cs typeface="Arial"/>
              </a:rPr>
              <a:t>Lanjutkan setelah page dan reusable card selesai dibuat</a:t>
            </a:r>
          </a:p>
        </p:txBody>
      </p:sp>
      <p:sp>
        <p:nvSpPr>
          <p:cNvPr id="3" name="HTML-FMX  /  V2 healthcare study">
            <a:extLst xmlns:a="http://schemas.openxmlformats.org/drawingml/2006/main">
              <a:ext uri="{FF2B5EF4-FFF2-40B4-BE49-F238E27FC236}">
                <a16:creationId xmlns:a16="http://schemas.microsoft.com/office/drawing/2014/main" id="{396DE892-E974-49ED-A73D-BEEB78041C8E}"/>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3">
            <a:extLst xmlns:a="http://schemas.openxmlformats.org/drawingml/2006/main">
              <a:ext uri="{FF2B5EF4-FFF2-40B4-BE49-F238E27FC236}">
                <a16:creationId xmlns:a16="http://schemas.microsoft.com/office/drawing/2014/main" id="{E59F343E-A89D-474D-B0FB-2C3843008C07}"/>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350" b="0">
                <a:solidFill>
                  <a:srgbClr val="566B70"/>
                </a:solidFill>
                <a:latin typeface="Arial"/>
                <a:ea typeface="Arial"/>
                <a:cs typeface="Arial"/>
              </a:defRPr>
            </a:pPr>
            <a:r>
              <a:rPr sz="1350" b="0">
                <a:solidFill>
                  <a:srgbClr val="566B70"/>
                </a:solidFill>
                <a:latin typeface="Arial"/>
                <a:ea typeface="Arial"/>
                <a:cs typeface="Arial"/>
              </a:rPr>
              <a:t>13</a:t>
            </a:r>
          </a:p>
        </p:txBody>
      </p:sp>
      <p:sp>
        <p:nvSpPr>
          <p:cNvPr id="5" name="Prompt lanjutan untuk data dummy">
            <a:extLst xmlns:a="http://schemas.openxmlformats.org/drawingml/2006/main">
              <a:ext uri="{FF2B5EF4-FFF2-40B4-BE49-F238E27FC236}">
                <a16:creationId xmlns:a16="http://schemas.microsoft.com/office/drawing/2014/main" id="{4A3A6F70-891C-4DD7-BA76-0E086D18A257}"/>
              </a:ext>
            </a:extLst>
          </p:cNvPr>
          <p:cNvSpPr>
            <a:spLocks xmlns:a="http://schemas.openxmlformats.org/drawingml/2006/main" noGrp="1"/>
          </p:cNvSpPr>
          <p:nvPr/>
        </p:nvSpPr>
        <p:spPr>
          <a:xfrm xmlns:a="http://schemas.openxmlformats.org/drawingml/2006/main">
            <a:off x="762000" y="2143125"/>
            <a:ext cx="704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Prompt lanjutan untuk data dummy</a:t>
            </a:r>
          </a:p>
        </p:txBody>
      </p:sp>
      <p:sp>
        <p:nvSpPr>
          <p:cNvPr id="6" name="Tambahkan data dummy fiktif menggunakan card yang sudah dibu">
            <a:extLst xmlns:a="http://schemas.openxmlformats.org/drawingml/2006/main">
              <a:ext uri="{FF2B5EF4-FFF2-40B4-BE49-F238E27FC236}">
                <a16:creationId xmlns:a16="http://schemas.microsoft.com/office/drawing/2014/main" id="{7AF96CF1-78F4-435C-9DA8-635496C4CD16}"/>
              </a:ext>
            </a:extLst>
          </p:cNvPr>
          <p:cNvSpPr>
            <a:spLocks xmlns:a="http://schemas.openxmlformats.org/drawingml/2006/main" noGrp="1"/>
          </p:cNvSpPr>
          <p:nvPr/>
        </p:nvSpPr>
        <p:spPr>
          <a:xfrm xmlns:a="http://schemas.openxmlformats.org/drawingml/2006/main">
            <a:off x="762000" y="3190875"/>
            <a:ext cx="6715125" cy="3543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42C31"/>
                </a:solidFill>
                <a:latin typeface="Arial"/>
                <a:ea typeface="Arial"/>
                <a:cs typeface="Arial"/>
              </a:defRPr>
            </a:pPr>
            <a:r>
              <a:rPr sz="2175" b="0">
                <a:solidFill>
                  <a:srgbClr val="142C31"/>
                </a:solidFill>
                <a:latin typeface="Arial"/>
                <a:ea typeface="Arial"/>
                <a:cs typeface="Arial"/>
              </a:rPr>
              <a:t>Tambahkan data dummy fiktif menggunakan card yang sudah dibuat. Implementasikan card tersebut pada page UI: buat item daftar, pasang instance card, dan isi datanya melalui binding yang tersedia. Muat data demo sekali saat halaman dibuat. Pertahankan binding data berikutnya, termasuk hasil kosong.</a:t>
            </a:r>
          </a:p>
        </p:txBody>
      </p:sp>
      <p:sp>
        <p:nvSpPr>
          <p:cNvPr id="7" name="Langkah setelah data terisi">
            <a:extLst xmlns:a="http://schemas.openxmlformats.org/drawingml/2006/main">
              <a:ext uri="{FF2B5EF4-FFF2-40B4-BE49-F238E27FC236}">
                <a16:creationId xmlns:a16="http://schemas.microsoft.com/office/drawing/2014/main" id="{43FC0FA8-F4B6-4C7D-A8F2-480F135CA7E8}"/>
              </a:ext>
            </a:extLst>
          </p:cNvPr>
          <p:cNvSpPr>
            <a:spLocks xmlns:a="http://schemas.openxmlformats.org/drawingml/2006/main" noGrp="1"/>
          </p:cNvSpPr>
          <p:nvPr/>
        </p:nvSpPr>
        <p:spPr>
          <a:xfrm xmlns:a="http://schemas.openxmlformats.org/drawingml/2006/main">
            <a:off x="8239125" y="214312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7F79"/>
                </a:solidFill>
                <a:latin typeface="Arial"/>
                <a:ea typeface="Arial"/>
                <a:cs typeface="Arial"/>
              </a:defRPr>
            </a:pPr>
            <a:r>
              <a:rPr sz="2550" b="1">
                <a:solidFill>
                  <a:srgbClr val="007F79"/>
                </a:solidFill>
                <a:latin typeface="Arial"/>
                <a:ea typeface="Arial"/>
                <a:cs typeface="Arial"/>
              </a:rPr>
              <a:t>Langkah setelah data terisi</a:t>
            </a:r>
          </a:p>
        </p:txBody>
      </p:sp>
      <p:sp>
        <p:nvSpPr>
          <p:cNvPr id="8" name="Buka page di RAD Studio Designer, lalu jalankan aplikasi. Pe">
            <a:extLst xmlns:a="http://schemas.openxmlformats.org/drawingml/2006/main">
              <a:ext uri="{FF2B5EF4-FFF2-40B4-BE49-F238E27FC236}">
                <a16:creationId xmlns:a16="http://schemas.microsoft.com/office/drawing/2014/main" id="{1E00AA1B-E602-48B3-9335-0138F1AC4F38}"/>
              </a:ext>
            </a:extLst>
          </p:cNvPr>
          <p:cNvSpPr>
            <a:spLocks xmlns:a="http://schemas.openxmlformats.org/drawingml/2006/main" noGrp="1"/>
          </p:cNvSpPr>
          <p:nvPr/>
        </p:nvSpPr>
        <p:spPr>
          <a:xfrm xmlns:a="http://schemas.openxmlformats.org/drawingml/2006/main">
            <a:off x="8239125" y="2857500"/>
            <a:ext cx="6096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42C31"/>
                </a:solidFill>
                <a:latin typeface="Arial"/>
                <a:ea typeface="Arial"/>
                <a:cs typeface="Arial"/>
              </a:defRPr>
            </a:pPr>
            <a:r>
              <a:rPr sz="2100" b="0">
                <a:solidFill>
                  <a:srgbClr val="142C31"/>
                </a:solidFill>
                <a:latin typeface="Arial"/>
                <a:ea typeface="Arial"/>
                <a:cs typeface="Arial"/>
              </a:rPr>
              <a:t>Buka page di RAD Studio Designer, lalu jalankan aplikasi. Periksa hierarki, tampilan card, area scroll, dan navigasi bawah. Bandingkan hasil dengan wireframe serta warna DESIGN.md. Catat pemeriksaan yang benar-benar dijalankan.</a:t>
            </a:r>
          </a:p>
        </p:txBody>
      </p:sp>
      <p:sp>
        <p:nvSpPr>
          <p:cNvPr id="9" name="Saran perbaikan untuk prompt Metode 4">
            <a:extLst xmlns:a="http://schemas.openxmlformats.org/drawingml/2006/main">
              <a:ext uri="{FF2B5EF4-FFF2-40B4-BE49-F238E27FC236}">
                <a16:creationId xmlns:a16="http://schemas.microsoft.com/office/drawing/2014/main" id="{9036B153-B322-4058-86AC-91F3B7E98208}"/>
              </a:ext>
            </a:extLst>
          </p:cNvPr>
          <p:cNvSpPr>
            <a:spLocks xmlns:a="http://schemas.openxmlformats.org/drawingml/2006/main" noGrp="1"/>
          </p:cNvSpPr>
          <p:nvPr/>
        </p:nvSpPr>
        <p:spPr>
          <a:xfrm xmlns:a="http://schemas.openxmlformats.org/drawingml/2006/main">
            <a:off x="8239125" y="5353050"/>
            <a:ext cx="6096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7F79"/>
                </a:solidFill>
                <a:latin typeface="Arial"/>
                <a:ea typeface="Arial"/>
                <a:cs typeface="Arial"/>
              </a:defRPr>
            </a:pPr>
            <a:r>
              <a:rPr sz="2400" b="1">
                <a:solidFill>
                  <a:srgbClr val="007F79"/>
                </a:solidFill>
                <a:latin typeface="Arial"/>
                <a:ea typeface="Arial"/>
                <a:cs typeface="Arial"/>
              </a:rPr>
              <a:t>Saran perbaikan untuk prompt Metode 4</a:t>
            </a:r>
          </a:p>
        </p:txBody>
      </p:sp>
      <p:sp>
        <p:nvSpPr>
          <p:cNvPr id="10" name="Sebelum membuat HTML/CSS, baca project/DESIGN.md dan gunakan">
            <a:extLst xmlns:a="http://schemas.openxmlformats.org/drawingml/2006/main">
              <a:ext uri="{FF2B5EF4-FFF2-40B4-BE49-F238E27FC236}">
                <a16:creationId xmlns:a16="http://schemas.microsoft.com/office/drawing/2014/main" id="{A1FC1380-2868-4C5A-BA12-4D062F914580}"/>
              </a:ext>
            </a:extLst>
          </p:cNvPr>
          <p:cNvSpPr>
            <a:spLocks xmlns:a="http://schemas.openxmlformats.org/drawingml/2006/main" noGrp="1"/>
          </p:cNvSpPr>
          <p:nvPr/>
        </p:nvSpPr>
        <p:spPr>
          <a:xfrm xmlns:a="http://schemas.openxmlformats.org/drawingml/2006/main">
            <a:off x="8239125" y="6286500"/>
            <a:ext cx="6096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142C31"/>
                </a:solidFill>
                <a:latin typeface="Arial"/>
                <a:ea typeface="Arial"/>
                <a:cs typeface="Arial"/>
              </a:defRPr>
            </a:pPr>
            <a:r>
              <a:rPr sz="2025" b="0">
                <a:solidFill>
                  <a:srgbClr val="142C31"/>
                </a:solidFill>
                <a:latin typeface="Arial"/>
                <a:ea typeface="Arial"/>
                <a:cs typeface="Arial"/>
              </a:rPr>
              <a:t>Sebelum membuat HTML/CSS, baca project/DESIGN.md dan gunakan token warnanya. Pertahankan aturan warna tersebut saat konversi ke FMX.</a:t>
            </a:r>
          </a:p>
        </p:txBody>
      </p:sp>
      <p:sp>
        <p:nvSpPr>
          <p:cNvPr id="11" name="Tambahan instruksi DESIGN.md ini adalah saran untuk percobaa">
            <a:extLst xmlns:a="http://schemas.openxmlformats.org/drawingml/2006/main">
              <a:ext uri="{FF2B5EF4-FFF2-40B4-BE49-F238E27FC236}">
                <a16:creationId xmlns:a16="http://schemas.microsoft.com/office/drawing/2014/main" id="{9CAB3FC3-9692-4EAB-BB45-915BAD2931A5}"/>
              </a:ext>
            </a:extLst>
          </p:cNvPr>
          <p:cNvSpPr>
            <a:spLocks xmlns:a="http://schemas.openxmlformats.org/drawingml/2006/main" noGrp="1"/>
          </p:cNvSpPr>
          <p:nvPr/>
        </p:nvSpPr>
        <p:spPr>
          <a:xfrm xmlns:a="http://schemas.openxmlformats.org/drawingml/2006/main">
            <a:off x="762000" y="7658100"/>
            <a:ext cx="1357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66B70"/>
                </a:solidFill>
                <a:latin typeface="Arial"/>
                <a:ea typeface="Arial"/>
                <a:cs typeface="Arial"/>
              </a:defRPr>
            </a:pPr>
            <a:r>
              <a:rPr sz="1875" b="0">
                <a:solidFill>
                  <a:srgbClr val="566B70"/>
                </a:solidFill>
                <a:latin typeface="Arial"/>
                <a:ea typeface="Arial"/>
                <a:cs typeface="Arial"/>
              </a:rPr>
              <a:t>Tambahan instruksi DESIGN.md ini adalah saran untuk percobaan berikutnya.</a:t>
            </a:r>
          </a:p>
        </p:txBody>
      </p:sp>
    </p:spTree>
    <p:extLst>
      <p:ext uri="{BB962C8B-B14F-4D97-AF65-F5344CB8AC3E}">
        <p14:creationId xmlns:p14="http://schemas.microsoft.com/office/powerpoint/2010/main" val="14695618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Mapping internal dan mapping sebagai tahap terpisah">
            <a:extLst xmlns:a="http://schemas.openxmlformats.org/drawingml/2006/main">
              <a:ext uri="{FF2B5EF4-FFF2-40B4-BE49-F238E27FC236}">
                <a16:creationId xmlns:a16="http://schemas.microsoft.com/office/drawing/2014/main" id="{57EAB558-71D7-41A3-A0F8-B0C69DCBE91C}"/>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Mapping internal dan mapping sebagai tahap terpisah</a:t>
            </a:r>
          </a:p>
        </p:txBody>
      </p:sp>
      <p:sp>
        <p:nvSpPr>
          <p:cNvPr id="2" name="Metode 2 dan 3 membedakan cara menjalankan workflow">
            <a:extLst xmlns:a="http://schemas.openxmlformats.org/drawingml/2006/main">
              <a:ext uri="{FF2B5EF4-FFF2-40B4-BE49-F238E27FC236}">
                <a16:creationId xmlns:a16="http://schemas.microsoft.com/office/drawing/2014/main" id="{EB5C6020-C26E-4A0E-AC23-9D37E5D2E8D9}"/>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Metode 2 dan 3 membedakan cara menjalankan workflow</a:t>
            </a:r>
          </a:p>
        </p:txBody>
      </p:sp>
      <p:sp>
        <p:nvSpPr>
          <p:cNvPr id="3" name="HTML-FMX  /  V2 healthcare study">
            <a:extLst xmlns:a="http://schemas.openxmlformats.org/drawingml/2006/main">
              <a:ext uri="{FF2B5EF4-FFF2-40B4-BE49-F238E27FC236}">
                <a16:creationId xmlns:a16="http://schemas.microsoft.com/office/drawing/2014/main" id="{F926F5E8-2F49-4417-8BA2-5A83C5649379}"/>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8">
            <a:extLst xmlns:a="http://schemas.openxmlformats.org/drawingml/2006/main">
              <a:ext uri="{FF2B5EF4-FFF2-40B4-BE49-F238E27FC236}">
                <a16:creationId xmlns:a16="http://schemas.microsoft.com/office/drawing/2014/main" id="{B4039D1A-53AC-4F24-8BB3-1D2C568B627C}"/>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14</a:t>
            </a:r>
          </a:p>
        </p:txBody>
      </p:sp>
      <p:sp>
        <p:nvSpPr>
          <p:cNvPr id="5" name="Create UI langsung">
            <a:extLst xmlns:a="http://schemas.openxmlformats.org/drawingml/2006/main">
              <a:ext uri="{FF2B5EF4-FFF2-40B4-BE49-F238E27FC236}">
                <a16:creationId xmlns:a16="http://schemas.microsoft.com/office/drawing/2014/main" id="{EC9EE5F5-1D15-45CF-AE9F-62D331D696BA}"/>
              </a:ext>
            </a:extLst>
          </p:cNvPr>
          <p:cNvSpPr>
            <a:spLocks xmlns:a="http://schemas.openxmlformats.org/drawingml/2006/main" noGrp="1"/>
          </p:cNvSpPr>
          <p:nvPr/>
        </p:nvSpPr>
        <p:spPr>
          <a:xfrm xmlns:a="http://schemas.openxmlformats.org/drawingml/2006/main">
            <a:off x="762000" y="2362200"/>
            <a:ext cx="647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F79"/>
                </a:solidFill>
                <a:latin typeface="Arial"/>
                <a:ea typeface="Arial"/>
                <a:cs typeface="Arial"/>
              </a:defRPr>
            </a:pPr>
            <a:r>
              <a:rPr sz="2850" b="1">
                <a:solidFill>
                  <a:srgbClr val="007F79"/>
                </a:solidFill>
                <a:latin typeface="Arial"/>
                <a:ea typeface="Arial"/>
                <a:cs typeface="Arial"/>
              </a:rPr>
              <a:t>Create UI langsung</a:t>
            </a:r>
          </a:p>
        </p:txBody>
      </p:sp>
      <p:sp>
        <p:nvSpPr>
          <p:cNvPr id="6" name="Satu permintaan pembuatan UI dari gambar. Skill create-fmx-u">
            <a:extLst xmlns:a="http://schemas.openxmlformats.org/drawingml/2006/main">
              <a:ext uri="{FF2B5EF4-FFF2-40B4-BE49-F238E27FC236}">
                <a16:creationId xmlns:a16="http://schemas.microsoft.com/office/drawing/2014/main" id="{3B9B46CA-2AAD-45FB-97BA-3CA4984E6245}"/>
              </a:ext>
            </a:extLst>
          </p:cNvPr>
          <p:cNvSpPr>
            <a:spLocks xmlns:a="http://schemas.openxmlformats.org/drawingml/2006/main" noGrp="1"/>
          </p:cNvSpPr>
          <p:nvPr/>
        </p:nvSpPr>
        <p:spPr>
          <a:xfrm xmlns:a="http://schemas.openxmlformats.org/drawingml/2006/main">
            <a:off x="762000" y="3124200"/>
            <a:ext cx="6381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Satu permintaan pembuatan UI dari gambar. Skill create-fmx-ui tetap menjalankan screenshot mapping sebelum implementasi.</a:t>
            </a:r>
          </a:p>
        </p:txBody>
      </p:sp>
      <p:sp>
        <p:nvSpPr>
          <p:cNvPr id="7" name="Mapping lalu Create UI">
            <a:extLst xmlns:a="http://schemas.openxmlformats.org/drawingml/2006/main">
              <a:ext uri="{FF2B5EF4-FFF2-40B4-BE49-F238E27FC236}">
                <a16:creationId xmlns:a16="http://schemas.microsoft.com/office/drawing/2014/main" id="{244B2728-4439-4EED-9FEB-2E89447E988F}"/>
              </a:ext>
            </a:extLst>
          </p:cNvPr>
          <p:cNvSpPr>
            <a:spLocks xmlns:a="http://schemas.openxmlformats.org/drawingml/2006/main" noGrp="1"/>
          </p:cNvSpPr>
          <p:nvPr/>
        </p:nvSpPr>
        <p:spPr>
          <a:xfrm xmlns:a="http://schemas.openxmlformats.org/drawingml/2006/main">
            <a:off x="8096250" y="2362200"/>
            <a:ext cx="638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007F79"/>
                </a:solidFill>
                <a:latin typeface="Arial"/>
                <a:ea typeface="Arial"/>
                <a:cs typeface="Arial"/>
              </a:defRPr>
            </a:pPr>
            <a:r>
              <a:rPr sz="2850" b="1">
                <a:solidFill>
                  <a:srgbClr val="007F79"/>
                </a:solidFill>
                <a:latin typeface="Arial"/>
                <a:ea typeface="Arial"/>
                <a:cs typeface="Arial"/>
              </a:rPr>
              <a:t>Mapping lalu Create UI</a:t>
            </a:r>
          </a:p>
        </p:txBody>
      </p:sp>
      <p:sp>
        <p:nvSpPr>
          <p:cNvPr id="8" name="Author menjalankan mapping sebagai tahap tersendiri, kemudia">
            <a:extLst xmlns:a="http://schemas.openxmlformats.org/drawingml/2006/main">
              <a:ext uri="{FF2B5EF4-FFF2-40B4-BE49-F238E27FC236}">
                <a16:creationId xmlns:a16="http://schemas.microsoft.com/office/drawing/2014/main" id="{EF12F684-567E-40F7-80FE-DA8992596BBC}"/>
              </a:ext>
            </a:extLst>
          </p:cNvPr>
          <p:cNvSpPr>
            <a:spLocks xmlns:a="http://schemas.openxmlformats.org/drawingml/2006/main" noGrp="1"/>
          </p:cNvSpPr>
          <p:nvPr/>
        </p:nvSpPr>
        <p:spPr>
          <a:xfrm xmlns:a="http://schemas.openxmlformats.org/drawingml/2006/main">
            <a:off x="8096250" y="3124200"/>
            <a:ext cx="6381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325" b="0">
                <a:solidFill>
                  <a:srgbClr val="142C31"/>
                </a:solidFill>
                <a:latin typeface="Arial"/>
                <a:ea typeface="Arial"/>
                <a:cs typeface="Arial"/>
              </a:defRPr>
            </a:pPr>
            <a:r>
              <a:rPr sz="2325" b="0">
                <a:solidFill>
                  <a:srgbClr val="142C31"/>
                </a:solidFill>
                <a:latin typeface="Arial"/>
                <a:ea typeface="Arial"/>
                <a:cs typeface="Arial"/>
              </a:rPr>
              <a:t>Author menjalankan mapping sebagai tahap tersendiri, kemudian melanjutkan peta tersebut ke implementasi.</a:t>
            </a:r>
          </a:p>
        </p:txBody>
      </p:sp>
      <p:sp>
        <p:nvSpPr>
          <p:cNvPr id="9" name="Durasi mapping terpisah: 8m 16s">
            <a:extLst xmlns:a="http://schemas.openxmlformats.org/drawingml/2006/main">
              <a:ext uri="{FF2B5EF4-FFF2-40B4-BE49-F238E27FC236}">
                <a16:creationId xmlns:a16="http://schemas.microsoft.com/office/drawing/2014/main" id="{C29D6F1C-5398-44F5-A249-77BF7E16F889}"/>
              </a:ext>
            </a:extLst>
          </p:cNvPr>
          <p:cNvSpPr>
            <a:spLocks xmlns:a="http://schemas.openxmlformats.org/drawingml/2006/main" noGrp="1"/>
          </p:cNvSpPr>
          <p:nvPr/>
        </p:nvSpPr>
        <p:spPr>
          <a:xfrm xmlns:a="http://schemas.openxmlformats.org/drawingml/2006/main">
            <a:off x="8096250" y="556260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75" b="1">
                <a:solidFill>
                  <a:srgbClr val="007F79"/>
                </a:solidFill>
                <a:latin typeface="Arial"/>
                <a:ea typeface="Arial"/>
                <a:cs typeface="Arial"/>
              </a:defRPr>
            </a:pPr>
            <a:r>
              <a:rPr sz="2475" b="1">
                <a:solidFill>
                  <a:srgbClr val="007F79"/>
                </a:solidFill>
                <a:latin typeface="Arial"/>
                <a:ea typeface="Arial"/>
                <a:cs typeface="Arial"/>
              </a:rPr>
              <a:t>Durasi mapping terpisah: 8m 16s</a:t>
            </a:r>
          </a:p>
        </p:txBody>
      </p:sp>
      <p:sp>
        <p:nvSpPr>
          <p:cNvPr id="10" name="Waktu total belum membuktikan penyebab perbedaan durasi atau">
            <a:extLst xmlns:a="http://schemas.openxmlformats.org/drawingml/2006/main">
              <a:ext uri="{FF2B5EF4-FFF2-40B4-BE49-F238E27FC236}">
                <a16:creationId xmlns:a16="http://schemas.microsoft.com/office/drawing/2014/main" id="{8B9122BE-89E7-41FC-A3C2-460BB57F9D79}"/>
              </a:ext>
            </a:extLst>
          </p:cNvPr>
          <p:cNvSpPr>
            <a:spLocks xmlns:a="http://schemas.openxmlformats.org/drawingml/2006/main" noGrp="1"/>
          </p:cNvSpPr>
          <p:nvPr/>
        </p:nvSpPr>
        <p:spPr>
          <a:xfrm xmlns:a="http://schemas.openxmlformats.org/drawingml/2006/main">
            <a:off x="762000" y="69627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142C31"/>
                </a:solidFill>
                <a:latin typeface="Arial"/>
                <a:ea typeface="Arial"/>
                <a:cs typeface="Arial"/>
              </a:defRPr>
            </a:pPr>
            <a:r>
              <a:rPr sz="2250" b="1">
                <a:solidFill>
                  <a:srgbClr val="142C31"/>
                </a:solidFill>
                <a:latin typeface="Arial"/>
                <a:ea typeface="Arial"/>
                <a:cs typeface="Arial"/>
              </a:rPr>
              <a:t>Waktu total belum membuktikan penyebab perbedaan durasi atau keunggulan hierarchy.</a:t>
            </a:r>
          </a:p>
        </p:txBody>
      </p:sp>
    </p:spTree>
    <p:extLst>
      <p:ext uri="{BB962C8B-B14F-4D97-AF65-F5344CB8AC3E}">
        <p14:creationId xmlns:p14="http://schemas.microsoft.com/office/powerpoint/2010/main" val="2742639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Metode 1: Google Stitch dan HTML">
            <a:extLst xmlns:a="http://schemas.openxmlformats.org/drawingml/2006/main">
              <a:ext uri="{FF2B5EF4-FFF2-40B4-BE49-F238E27FC236}">
                <a16:creationId xmlns:a16="http://schemas.microsoft.com/office/drawing/2014/main" id="{22F3B94D-B609-4923-B38C-2CBE8BEA9978}"/>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Metode 1: Google Stitch dan HTML</a:t>
            </a:r>
          </a:p>
        </p:txBody>
      </p:sp>
      <p:sp>
        <p:nvSpPr>
          <p:cNvPr id="2" name="MCP Google Stitch, ekspor HTML, lalu html-to-fmx">
            <a:extLst xmlns:a="http://schemas.openxmlformats.org/drawingml/2006/main">
              <a:ext uri="{FF2B5EF4-FFF2-40B4-BE49-F238E27FC236}">
                <a16:creationId xmlns:a16="http://schemas.microsoft.com/office/drawing/2014/main" id="{2732E532-619E-468E-BC2D-563231FB69D3}"/>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MCP Google Stitch, ekspor HTML, lalu html-to-fmx</a:t>
            </a:r>
          </a:p>
        </p:txBody>
      </p:sp>
      <p:sp>
        <p:nvSpPr>
          <p:cNvPr id="3" name="HTML-FMX  /  V2 healthcare study">
            <a:extLst xmlns:a="http://schemas.openxmlformats.org/drawingml/2006/main">
              <a:ext uri="{FF2B5EF4-FFF2-40B4-BE49-F238E27FC236}">
                <a16:creationId xmlns:a16="http://schemas.microsoft.com/office/drawing/2014/main" id="{E4DA63C8-F0A8-475E-93AD-45D6FD8FBF57}"/>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09">
            <a:extLst xmlns:a="http://schemas.openxmlformats.org/drawingml/2006/main">
              <a:ext uri="{FF2B5EF4-FFF2-40B4-BE49-F238E27FC236}">
                <a16:creationId xmlns:a16="http://schemas.microsoft.com/office/drawing/2014/main" id="{97DBD78D-7182-4A96-9A04-ECDF55AD2969}"/>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15</a:t>
            </a:r>
          </a:p>
        </p:txBody>
      </p:sp>
      <p:sp>
        <p:nvSpPr>
          <p:cNvPr id="5" name="Total hingga card terisi">
            <a:extLst xmlns:a="http://schemas.openxmlformats.org/drawingml/2006/main">
              <a:ext uri="{FF2B5EF4-FFF2-40B4-BE49-F238E27FC236}">
                <a16:creationId xmlns:a16="http://schemas.microsoft.com/office/drawing/2014/main" id="{4839E86E-F0D7-460B-BAE5-D8D9E6565425}"/>
              </a:ext>
            </a:extLst>
          </p:cNvPr>
          <p:cNvSpPr>
            <a:spLocks xmlns:a="http://schemas.openxmlformats.org/drawingml/2006/main" noGrp="1"/>
          </p:cNvSpPr>
          <p:nvPr/>
        </p:nvSpPr>
        <p:spPr>
          <a:xfrm xmlns:a="http://schemas.openxmlformats.org/drawingml/2006/main">
            <a:off x="762000" y="2181225"/>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566B70"/>
                </a:solidFill>
                <a:latin typeface="Arial"/>
                <a:ea typeface="Arial"/>
                <a:cs typeface="Arial"/>
              </a:defRPr>
            </a:pPr>
            <a:r>
              <a:rPr sz="1800" b="0">
                <a:solidFill>
                  <a:srgbClr val="566B70"/>
                </a:solidFill>
                <a:latin typeface="Arial"/>
                <a:ea typeface="Arial"/>
                <a:cs typeface="Arial"/>
              </a:rPr>
              <a:t>Total hingga card terisi</a:t>
            </a:r>
          </a:p>
        </p:txBody>
      </p:sp>
      <p:sp>
        <p:nvSpPr>
          <p:cNvPr id="6" name="38m 55s">
            <a:extLst xmlns:a="http://schemas.openxmlformats.org/drawingml/2006/main">
              <a:ext uri="{FF2B5EF4-FFF2-40B4-BE49-F238E27FC236}">
                <a16:creationId xmlns:a16="http://schemas.microsoft.com/office/drawing/2014/main" id="{922D55AD-232C-46EC-A8D5-8BE44247C8A7}"/>
              </a:ext>
            </a:extLst>
          </p:cNvPr>
          <p:cNvSpPr>
            <a:spLocks xmlns:a="http://schemas.openxmlformats.org/drawingml/2006/main" noGrp="1"/>
          </p:cNvSpPr>
          <p:nvPr/>
        </p:nvSpPr>
        <p:spPr>
          <a:xfrm xmlns:a="http://schemas.openxmlformats.org/drawingml/2006/main">
            <a:off x="762000" y="26384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007F79"/>
                </a:solidFill>
                <a:latin typeface="Arial"/>
                <a:ea typeface="Arial"/>
                <a:cs typeface="Arial"/>
              </a:defRPr>
            </a:pPr>
            <a:r>
              <a:rPr sz="4200" b="1">
                <a:solidFill>
                  <a:srgbClr val="007F79"/>
                </a:solidFill>
                <a:latin typeface="Arial"/>
                <a:ea typeface="Arial"/>
                <a:cs typeface="Arial"/>
              </a:rPr>
              <a:t>38m 55s</a:t>
            </a:r>
          </a:p>
        </p:txBody>
      </p:sp>
      <p:sp>
        <p:nvSpPr>
          <p:cNvPr id="7" name="UI awal  32m 49s&#10;Card + dummy  6m 06s">
            <a:extLst xmlns:a="http://schemas.openxmlformats.org/drawingml/2006/main">
              <a:ext uri="{FF2B5EF4-FFF2-40B4-BE49-F238E27FC236}">
                <a16:creationId xmlns:a16="http://schemas.microsoft.com/office/drawing/2014/main" id="{2E9A7417-D09C-451B-9B78-8BA3277EA0BA}"/>
              </a:ext>
            </a:extLst>
          </p:cNvPr>
          <p:cNvSpPr>
            <a:spLocks xmlns:a="http://schemas.openxmlformats.org/drawingml/2006/main" noGrp="1"/>
          </p:cNvSpPr>
          <p:nvPr/>
        </p:nvSpPr>
        <p:spPr>
          <a:xfrm xmlns:a="http://schemas.openxmlformats.org/drawingml/2006/main">
            <a:off x="762000" y="3581400"/>
            <a:ext cx="4905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UI awal  32m 49s</a:t>
            </a:r>
          </a:p>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Card + dummy  6m 06s</a:t>
            </a:r>
          </a:p>
        </p:txBody>
      </p:sp>
      <p:sp>
        <p:nvSpPr>
          <p:cNvPr id="8" name="Appointment biru, foto dokter, serta tombol View profile mem">
            <a:extLst xmlns:a="http://schemas.openxmlformats.org/drawingml/2006/main">
              <a:ext uri="{FF2B5EF4-FFF2-40B4-BE49-F238E27FC236}">
                <a16:creationId xmlns:a16="http://schemas.microsoft.com/office/drawing/2014/main" id="{7DD8FF3A-762A-4447-A062-FE271E2CDB60}"/>
              </a:ext>
            </a:extLst>
          </p:cNvPr>
          <p:cNvSpPr>
            <a:spLocks xmlns:a="http://schemas.openxmlformats.org/drawingml/2006/main" noGrp="1"/>
          </p:cNvSpPr>
          <p:nvPr/>
        </p:nvSpPr>
        <p:spPr>
          <a:xfrm xmlns:a="http://schemas.openxmlformats.org/drawingml/2006/main">
            <a:off x="762000" y="5095875"/>
            <a:ext cx="4905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142C31"/>
                </a:solidFill>
                <a:latin typeface="Arial"/>
                <a:ea typeface="Arial"/>
                <a:cs typeface="Arial"/>
              </a:defRPr>
            </a:pPr>
            <a:r>
              <a:rPr sz="2025" b="0">
                <a:solidFill>
                  <a:srgbClr val="142C31"/>
                </a:solidFill>
                <a:latin typeface="Arial"/>
                <a:ea typeface="Arial"/>
                <a:cs typeface="Arial"/>
              </a:rPr>
              <a:t>Visual lebih matang, pengelompokan rapi, dan aset lebih lengkap. Sesuai wireframe serta aturan warna DESIGN.md.</a:t>
            </a:r>
          </a:p>
        </p:txBody>
      </p:sp>
      <p:sp>
        <p:nvSpPr>
          <p:cNvPr id="9" name="RAD Studio Designer">
            <a:extLst xmlns:a="http://schemas.openxmlformats.org/drawingml/2006/main">
              <a:ext uri="{FF2B5EF4-FFF2-40B4-BE49-F238E27FC236}">
                <a16:creationId xmlns:a16="http://schemas.microsoft.com/office/drawing/2014/main" id="{F77BA1A7-01FC-4E71-B860-A0FDC5FEF5EB}"/>
              </a:ext>
            </a:extLst>
          </p:cNvPr>
          <p:cNvSpPr>
            <a:spLocks xmlns:a="http://schemas.openxmlformats.org/drawingml/2006/main" noGrp="1"/>
          </p:cNvSpPr>
          <p:nvPr/>
        </p:nvSpPr>
        <p:spPr>
          <a:xfrm xmlns:a="http://schemas.openxmlformats.org/drawingml/2006/main">
            <a:off x="6334125" y="1876425"/>
            <a:ext cx="504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66B70"/>
                </a:solidFill>
                <a:latin typeface="Arial"/>
                <a:ea typeface="Arial"/>
                <a:cs typeface="Arial"/>
              </a:defRPr>
            </a:pPr>
            <a:r>
              <a:rPr sz="1650" b="1">
                <a:solidFill>
                  <a:srgbClr val="566B70"/>
                </a:solidFill>
                <a:latin typeface="Arial"/>
                <a:ea typeface="Arial"/>
                <a:cs typeface="Arial"/>
              </a:rPr>
              <a:t>RAD Studio Designer</a:t>
            </a:r>
          </a:p>
        </p:txBody>
      </p:sp>
      <p:sp>
        <p:nvSpPr>
          <p:cNvPr id="10" name="Runtime + data dummy">
            <a:extLst xmlns:a="http://schemas.openxmlformats.org/drawingml/2006/main">
              <a:ext uri="{FF2B5EF4-FFF2-40B4-BE49-F238E27FC236}">
                <a16:creationId xmlns:a16="http://schemas.microsoft.com/office/drawing/2014/main" id="{C15DDE0B-3D8C-4025-A78D-BF76EDE438CB}"/>
              </a:ext>
            </a:extLst>
          </p:cNvPr>
          <p:cNvSpPr>
            <a:spLocks xmlns:a="http://schemas.openxmlformats.org/drawingml/2006/main" noGrp="1"/>
          </p:cNvSpPr>
          <p:nvPr/>
        </p:nvSpPr>
        <p:spPr>
          <a:xfrm xmlns:a="http://schemas.openxmlformats.org/drawingml/2006/main">
            <a:off x="11906250" y="1876425"/>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66B70"/>
                </a:solidFill>
                <a:latin typeface="Arial"/>
                <a:ea typeface="Arial"/>
                <a:cs typeface="Arial"/>
              </a:defRPr>
            </a:pPr>
            <a:r>
              <a:rPr sz="1650" b="1">
                <a:solidFill>
                  <a:srgbClr val="566B70"/>
                </a:solidFill>
                <a:latin typeface="Arial"/>
                <a:ea typeface="Arial"/>
                <a:cs typeface="Arial"/>
              </a:rPr>
              <a:t>Runtime + data dummy</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bf77fafa95f340ee"/>
          <a:stretch xmlns:a="http://schemas.openxmlformats.org/drawingml/2006/main"/>
        </p:blipFill>
        <p:spPr>
          <a:xfrm xmlns:a="http://schemas.openxmlformats.org/drawingml/2006/main">
            <a:off x="6631662" y="2247900"/>
            <a:ext cx="4453175" cy="56197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d298a279dbde43e1"/>
          <a:stretch xmlns:a="http://schemas.openxmlformats.org/drawingml/2006/main"/>
        </p:blipFill>
        <p:spPr>
          <a:xfrm xmlns:a="http://schemas.openxmlformats.org/drawingml/2006/main">
            <a:off x="12111152" y="2247900"/>
            <a:ext cx="2019072" cy="5619750"/>
          </a:xfrm>
          <a:prstGeom xmlns:a="http://schemas.openxmlformats.org/drawingml/2006/main" prst="rect">
            <a:avLst/>
          </a:prstGeom>
        </p:spPr>
      </p:pic>
    </p:spTree>
    <p:extLst>
      <p:ext uri="{BB962C8B-B14F-4D97-AF65-F5344CB8AC3E}">
        <p14:creationId xmlns:p14="http://schemas.microsoft.com/office/powerpoint/2010/main" val="16309601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Metode 2: Create UI langsung">
            <a:extLst xmlns:a="http://schemas.openxmlformats.org/drawingml/2006/main">
              <a:ext uri="{FF2B5EF4-FFF2-40B4-BE49-F238E27FC236}">
                <a16:creationId xmlns:a16="http://schemas.microsoft.com/office/drawing/2014/main" id="{9052FF5C-8A6B-4AE2-B6ED-B2A844835563}"/>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Metode 2: Create UI langsung</a:t>
            </a:r>
          </a:p>
        </p:txBody>
      </p:sp>
      <p:sp>
        <p:nvSpPr>
          <p:cNvPr id="2" name="Wireframe dan brief langsung ke create-fmx-ui">
            <a:extLst xmlns:a="http://schemas.openxmlformats.org/drawingml/2006/main">
              <a:ext uri="{FF2B5EF4-FFF2-40B4-BE49-F238E27FC236}">
                <a16:creationId xmlns:a16="http://schemas.microsoft.com/office/drawing/2014/main" id="{8D20E516-4AEA-490E-96FE-0787D1C2DCD2}"/>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Wireframe dan brief langsung ke create-fmx-ui</a:t>
            </a:r>
          </a:p>
        </p:txBody>
      </p:sp>
      <p:sp>
        <p:nvSpPr>
          <p:cNvPr id="3" name="HTML-FMX  /  V2 healthcare study">
            <a:extLst xmlns:a="http://schemas.openxmlformats.org/drawingml/2006/main">
              <a:ext uri="{FF2B5EF4-FFF2-40B4-BE49-F238E27FC236}">
                <a16:creationId xmlns:a16="http://schemas.microsoft.com/office/drawing/2014/main" id="{719ECB1B-661D-4689-B727-2185D15A9D7C}"/>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0">
            <a:extLst xmlns:a="http://schemas.openxmlformats.org/drawingml/2006/main">
              <a:ext uri="{FF2B5EF4-FFF2-40B4-BE49-F238E27FC236}">
                <a16:creationId xmlns:a16="http://schemas.microsoft.com/office/drawing/2014/main" id="{0B40172A-4CE5-45A3-A346-CC2F262A00D1}"/>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16</a:t>
            </a:r>
          </a:p>
        </p:txBody>
      </p:sp>
      <p:sp>
        <p:nvSpPr>
          <p:cNvPr id="5" name="Total hingga card terisi">
            <a:extLst xmlns:a="http://schemas.openxmlformats.org/drawingml/2006/main">
              <a:ext uri="{FF2B5EF4-FFF2-40B4-BE49-F238E27FC236}">
                <a16:creationId xmlns:a16="http://schemas.microsoft.com/office/drawing/2014/main" id="{5AD4D2B3-8CF9-470D-BE82-B64F5003945D}"/>
              </a:ext>
            </a:extLst>
          </p:cNvPr>
          <p:cNvSpPr>
            <a:spLocks xmlns:a="http://schemas.openxmlformats.org/drawingml/2006/main" noGrp="1"/>
          </p:cNvSpPr>
          <p:nvPr/>
        </p:nvSpPr>
        <p:spPr>
          <a:xfrm xmlns:a="http://schemas.openxmlformats.org/drawingml/2006/main">
            <a:off x="762000" y="2181225"/>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566B70"/>
                </a:solidFill>
                <a:latin typeface="Arial"/>
                <a:ea typeface="Arial"/>
                <a:cs typeface="Arial"/>
              </a:defRPr>
            </a:pPr>
            <a:r>
              <a:rPr sz="1800" b="0">
                <a:solidFill>
                  <a:srgbClr val="566B70"/>
                </a:solidFill>
                <a:latin typeface="Arial"/>
                <a:ea typeface="Arial"/>
                <a:cs typeface="Arial"/>
              </a:rPr>
              <a:t>Total hingga card terisi</a:t>
            </a:r>
          </a:p>
        </p:txBody>
      </p:sp>
      <p:sp>
        <p:nvSpPr>
          <p:cNvPr id="6" name="25m 52s">
            <a:extLst xmlns:a="http://schemas.openxmlformats.org/drawingml/2006/main">
              <a:ext uri="{FF2B5EF4-FFF2-40B4-BE49-F238E27FC236}">
                <a16:creationId xmlns:a16="http://schemas.microsoft.com/office/drawing/2014/main" id="{B3078F94-488E-4B79-B366-327DA6E63107}"/>
              </a:ext>
            </a:extLst>
          </p:cNvPr>
          <p:cNvSpPr>
            <a:spLocks xmlns:a="http://schemas.openxmlformats.org/drawingml/2006/main" noGrp="1"/>
          </p:cNvSpPr>
          <p:nvPr/>
        </p:nvSpPr>
        <p:spPr>
          <a:xfrm xmlns:a="http://schemas.openxmlformats.org/drawingml/2006/main">
            <a:off x="762000" y="26384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007F79"/>
                </a:solidFill>
                <a:latin typeface="Arial"/>
                <a:ea typeface="Arial"/>
                <a:cs typeface="Arial"/>
              </a:defRPr>
            </a:pPr>
            <a:r>
              <a:rPr sz="4200" b="1">
                <a:solidFill>
                  <a:srgbClr val="007F79"/>
                </a:solidFill>
                <a:latin typeface="Arial"/>
                <a:ea typeface="Arial"/>
                <a:cs typeface="Arial"/>
              </a:rPr>
              <a:t>25m 52s</a:t>
            </a:r>
          </a:p>
        </p:txBody>
      </p:sp>
      <p:sp>
        <p:nvSpPr>
          <p:cNvPr id="7" name="UI awal  23m 25s&#10;Card + dummy  2m 27s">
            <a:extLst xmlns:a="http://schemas.openxmlformats.org/drawingml/2006/main">
              <a:ext uri="{FF2B5EF4-FFF2-40B4-BE49-F238E27FC236}">
                <a16:creationId xmlns:a16="http://schemas.microsoft.com/office/drawing/2014/main" id="{B8F2EAE6-A029-48D4-B071-5DD59CCFEFA0}"/>
              </a:ext>
            </a:extLst>
          </p:cNvPr>
          <p:cNvSpPr>
            <a:spLocks xmlns:a="http://schemas.openxmlformats.org/drawingml/2006/main" noGrp="1"/>
          </p:cNvSpPr>
          <p:nvPr/>
        </p:nvSpPr>
        <p:spPr>
          <a:xfrm xmlns:a="http://schemas.openxmlformats.org/drawingml/2006/main">
            <a:off x="762000" y="3581400"/>
            <a:ext cx="4905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UI awal  23m 25s</a:t>
            </a:r>
          </a:p>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Card + dummy  2m 27s</a:t>
            </a:r>
          </a:p>
        </p:txBody>
      </p:sp>
      <p:sp>
        <p:nvSpPr>
          <p:cNvPr id="8" name="Layout memakai label Indonesia. Doctor row menampilkan nama,">
            <a:extLst xmlns:a="http://schemas.openxmlformats.org/drawingml/2006/main">
              <a:ext uri="{FF2B5EF4-FFF2-40B4-BE49-F238E27FC236}">
                <a16:creationId xmlns:a16="http://schemas.microsoft.com/office/drawing/2014/main" id="{75BBAEC2-81CA-457E-A55C-21D346EFEFF6}"/>
              </a:ext>
            </a:extLst>
          </p:cNvPr>
          <p:cNvSpPr>
            <a:spLocks xmlns:a="http://schemas.openxmlformats.org/drawingml/2006/main" noGrp="1"/>
          </p:cNvSpPr>
          <p:nvPr/>
        </p:nvSpPr>
        <p:spPr>
          <a:xfrm xmlns:a="http://schemas.openxmlformats.org/drawingml/2006/main">
            <a:off x="762000" y="5095875"/>
            <a:ext cx="4905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142C31"/>
                </a:solidFill>
                <a:latin typeface="Arial"/>
                <a:ea typeface="Arial"/>
                <a:cs typeface="Arial"/>
              </a:defRPr>
            </a:pPr>
            <a:r>
              <a:rPr sz="2025" b="0">
                <a:solidFill>
                  <a:srgbClr val="142C31"/>
                </a:solidFill>
                <a:latin typeface="Arial"/>
                <a:ea typeface="Arial"/>
                <a:cs typeface="Arial"/>
              </a:rPr>
              <a:t>Kedua tercepat secara total. Sesuai wireframe dan warna DESIGN.md, tetapi visual masih mentah seperti Metode 3.</a:t>
            </a:r>
          </a:p>
        </p:txBody>
      </p:sp>
      <p:sp>
        <p:nvSpPr>
          <p:cNvPr id="9" name="RAD Studio Designer">
            <a:extLst xmlns:a="http://schemas.openxmlformats.org/drawingml/2006/main">
              <a:ext uri="{FF2B5EF4-FFF2-40B4-BE49-F238E27FC236}">
                <a16:creationId xmlns:a16="http://schemas.microsoft.com/office/drawing/2014/main" id="{EEBA33E9-FA74-4982-B3FC-5E6FF597CA73}"/>
              </a:ext>
            </a:extLst>
          </p:cNvPr>
          <p:cNvSpPr>
            <a:spLocks xmlns:a="http://schemas.openxmlformats.org/drawingml/2006/main" noGrp="1"/>
          </p:cNvSpPr>
          <p:nvPr/>
        </p:nvSpPr>
        <p:spPr>
          <a:xfrm xmlns:a="http://schemas.openxmlformats.org/drawingml/2006/main">
            <a:off x="6334125" y="1876425"/>
            <a:ext cx="504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66B70"/>
                </a:solidFill>
                <a:latin typeface="Arial"/>
                <a:ea typeface="Arial"/>
                <a:cs typeface="Arial"/>
              </a:defRPr>
            </a:pPr>
            <a:r>
              <a:rPr sz="1650" b="1">
                <a:solidFill>
                  <a:srgbClr val="566B70"/>
                </a:solidFill>
                <a:latin typeface="Arial"/>
                <a:ea typeface="Arial"/>
                <a:cs typeface="Arial"/>
              </a:rPr>
              <a:t>RAD Studio Designer</a:t>
            </a:r>
          </a:p>
        </p:txBody>
      </p:sp>
      <p:sp>
        <p:nvSpPr>
          <p:cNvPr id="10" name="Runtime + data dummy">
            <a:extLst xmlns:a="http://schemas.openxmlformats.org/drawingml/2006/main">
              <a:ext uri="{FF2B5EF4-FFF2-40B4-BE49-F238E27FC236}">
                <a16:creationId xmlns:a16="http://schemas.microsoft.com/office/drawing/2014/main" id="{7B1E9131-7E7A-41E5-9E6E-AD6E5512F73F}"/>
              </a:ext>
            </a:extLst>
          </p:cNvPr>
          <p:cNvSpPr>
            <a:spLocks xmlns:a="http://schemas.openxmlformats.org/drawingml/2006/main" noGrp="1"/>
          </p:cNvSpPr>
          <p:nvPr/>
        </p:nvSpPr>
        <p:spPr>
          <a:xfrm xmlns:a="http://schemas.openxmlformats.org/drawingml/2006/main">
            <a:off x="11906250" y="1876425"/>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66B70"/>
                </a:solidFill>
                <a:latin typeface="Arial"/>
                <a:ea typeface="Arial"/>
                <a:cs typeface="Arial"/>
              </a:defRPr>
            </a:pPr>
            <a:r>
              <a:rPr sz="1650" b="1">
                <a:solidFill>
                  <a:srgbClr val="566B70"/>
                </a:solidFill>
                <a:latin typeface="Arial"/>
                <a:ea typeface="Arial"/>
                <a:cs typeface="Arial"/>
              </a:rPr>
              <a:t>Runtime + data dummy</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c1b37dd394b74f5f"/>
          <a:stretch xmlns:a="http://schemas.openxmlformats.org/drawingml/2006/main"/>
        </p:blipFill>
        <p:spPr>
          <a:xfrm xmlns:a="http://schemas.openxmlformats.org/drawingml/2006/main">
            <a:off x="6631662" y="2247900"/>
            <a:ext cx="4453175" cy="56197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03ef9b385be496d"/>
          <a:stretch xmlns:a="http://schemas.openxmlformats.org/drawingml/2006/main"/>
        </p:blipFill>
        <p:spPr>
          <a:xfrm xmlns:a="http://schemas.openxmlformats.org/drawingml/2006/main">
            <a:off x="12111152" y="2247900"/>
            <a:ext cx="2019072" cy="5619750"/>
          </a:xfrm>
          <a:prstGeom xmlns:a="http://schemas.openxmlformats.org/drawingml/2006/main" prst="rect">
            <a:avLst/>
          </a:prstGeom>
        </p:spPr>
      </p:pic>
    </p:spTree>
    <p:extLst>
      <p:ext uri="{BB962C8B-B14F-4D97-AF65-F5344CB8AC3E}">
        <p14:creationId xmlns:p14="http://schemas.microsoft.com/office/powerpoint/2010/main" val="806026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Metode 3: Mapping terpisah sebelum Create UI">
            <a:extLst xmlns:a="http://schemas.openxmlformats.org/drawingml/2006/main">
              <a:ext uri="{FF2B5EF4-FFF2-40B4-BE49-F238E27FC236}">
                <a16:creationId xmlns:a16="http://schemas.microsoft.com/office/drawing/2014/main" id="{7DBBE036-64D4-4414-BFA4-F989183DC218}"/>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Metode 3: Mapping terpisah sebelum Create UI</a:t>
            </a:r>
          </a:p>
        </p:txBody>
      </p:sp>
      <p:sp>
        <p:nvSpPr>
          <p:cNvPr id="2" name="screenshot-to-fmx-mapping, kemudian create-fmx-ui">
            <a:extLst xmlns:a="http://schemas.openxmlformats.org/drawingml/2006/main">
              <a:ext uri="{FF2B5EF4-FFF2-40B4-BE49-F238E27FC236}">
                <a16:creationId xmlns:a16="http://schemas.microsoft.com/office/drawing/2014/main" id="{1F6F63A1-20DC-4015-AC06-B9059F3A347C}"/>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screenshot-to-fmx-mapping, kemudian create-fmx-ui</a:t>
            </a:r>
          </a:p>
        </p:txBody>
      </p:sp>
      <p:sp>
        <p:nvSpPr>
          <p:cNvPr id="3" name="HTML-FMX  /  V2 healthcare study">
            <a:extLst xmlns:a="http://schemas.openxmlformats.org/drawingml/2006/main">
              <a:ext uri="{FF2B5EF4-FFF2-40B4-BE49-F238E27FC236}">
                <a16:creationId xmlns:a16="http://schemas.microsoft.com/office/drawing/2014/main" id="{B122D326-3029-4337-83E7-A79A1D27F657}"/>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1">
            <a:extLst xmlns:a="http://schemas.openxmlformats.org/drawingml/2006/main">
              <a:ext uri="{FF2B5EF4-FFF2-40B4-BE49-F238E27FC236}">
                <a16:creationId xmlns:a16="http://schemas.microsoft.com/office/drawing/2014/main" id="{42E3F48D-ABDB-4E66-BA73-E36EEB620CBA}"/>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17</a:t>
            </a:r>
          </a:p>
        </p:txBody>
      </p:sp>
      <p:sp>
        <p:nvSpPr>
          <p:cNvPr id="5" name="Total hingga card terisi">
            <a:extLst xmlns:a="http://schemas.openxmlformats.org/drawingml/2006/main">
              <a:ext uri="{FF2B5EF4-FFF2-40B4-BE49-F238E27FC236}">
                <a16:creationId xmlns:a16="http://schemas.microsoft.com/office/drawing/2014/main" id="{3D54DEDB-8597-4ED7-9EA1-191689DCADAB}"/>
              </a:ext>
            </a:extLst>
          </p:cNvPr>
          <p:cNvSpPr>
            <a:spLocks xmlns:a="http://schemas.openxmlformats.org/drawingml/2006/main" noGrp="1"/>
          </p:cNvSpPr>
          <p:nvPr/>
        </p:nvSpPr>
        <p:spPr>
          <a:xfrm xmlns:a="http://schemas.openxmlformats.org/drawingml/2006/main">
            <a:off x="762000" y="2181225"/>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566B70"/>
                </a:solidFill>
                <a:latin typeface="Arial"/>
                <a:ea typeface="Arial"/>
                <a:cs typeface="Arial"/>
              </a:defRPr>
            </a:pPr>
            <a:r>
              <a:rPr sz="1800" b="0">
                <a:solidFill>
                  <a:srgbClr val="566B70"/>
                </a:solidFill>
                <a:latin typeface="Arial"/>
                <a:ea typeface="Arial"/>
                <a:cs typeface="Arial"/>
              </a:rPr>
              <a:t>Total hingga card terisi</a:t>
            </a:r>
          </a:p>
        </p:txBody>
      </p:sp>
      <p:sp>
        <p:nvSpPr>
          <p:cNvPr id="6" name="55m 22s">
            <a:extLst xmlns:a="http://schemas.openxmlformats.org/drawingml/2006/main">
              <a:ext uri="{FF2B5EF4-FFF2-40B4-BE49-F238E27FC236}">
                <a16:creationId xmlns:a16="http://schemas.microsoft.com/office/drawing/2014/main" id="{631B0E47-5CB9-4EB4-86F1-8E6C099C6902}"/>
              </a:ext>
            </a:extLst>
          </p:cNvPr>
          <p:cNvSpPr>
            <a:spLocks xmlns:a="http://schemas.openxmlformats.org/drawingml/2006/main" noGrp="1"/>
          </p:cNvSpPr>
          <p:nvPr/>
        </p:nvSpPr>
        <p:spPr>
          <a:xfrm xmlns:a="http://schemas.openxmlformats.org/drawingml/2006/main">
            <a:off x="762000" y="26384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007F79"/>
                </a:solidFill>
                <a:latin typeface="Arial"/>
                <a:ea typeface="Arial"/>
                <a:cs typeface="Arial"/>
              </a:defRPr>
            </a:pPr>
            <a:r>
              <a:rPr sz="4200" b="1">
                <a:solidFill>
                  <a:srgbClr val="007F79"/>
                </a:solidFill>
                <a:latin typeface="Arial"/>
                <a:ea typeface="Arial"/>
                <a:cs typeface="Arial"/>
              </a:rPr>
              <a:t>55m 22s</a:t>
            </a:r>
          </a:p>
        </p:txBody>
      </p:sp>
      <p:sp>
        <p:nvSpPr>
          <p:cNvPr id="7" name="UI awal  50m 10s&#10;Card + dummy  5m 12s">
            <a:extLst xmlns:a="http://schemas.openxmlformats.org/drawingml/2006/main">
              <a:ext uri="{FF2B5EF4-FFF2-40B4-BE49-F238E27FC236}">
                <a16:creationId xmlns:a16="http://schemas.microsoft.com/office/drawing/2014/main" id="{1EBACDBC-863E-4B0D-BA25-DB1E891B4BB1}"/>
              </a:ext>
            </a:extLst>
          </p:cNvPr>
          <p:cNvSpPr>
            <a:spLocks xmlns:a="http://schemas.openxmlformats.org/drawingml/2006/main" noGrp="1"/>
          </p:cNvSpPr>
          <p:nvPr/>
        </p:nvSpPr>
        <p:spPr>
          <a:xfrm xmlns:a="http://schemas.openxmlformats.org/drawingml/2006/main">
            <a:off x="762000" y="3581400"/>
            <a:ext cx="4905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UI awal  50m 10s</a:t>
            </a:r>
          </a:p>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Card + dummy  5m 12s</a:t>
            </a:r>
          </a:p>
        </p:txBody>
      </p:sp>
      <p:sp>
        <p:nvSpPr>
          <p:cNvPr id="8" name="UI awal = 8m 16s mapping&#10;+ 41m 54s implementasi">
            <a:extLst xmlns:a="http://schemas.openxmlformats.org/drawingml/2006/main">
              <a:ext uri="{FF2B5EF4-FFF2-40B4-BE49-F238E27FC236}">
                <a16:creationId xmlns:a16="http://schemas.microsoft.com/office/drawing/2014/main" id="{386621DE-023B-4A9E-94F8-C48C1822C349}"/>
              </a:ext>
            </a:extLst>
          </p:cNvPr>
          <p:cNvSpPr>
            <a:spLocks xmlns:a="http://schemas.openxmlformats.org/drawingml/2006/main" noGrp="1"/>
          </p:cNvSpPr>
          <p:nvPr/>
        </p:nvSpPr>
        <p:spPr>
          <a:xfrm xmlns:a="http://schemas.openxmlformats.org/drawingml/2006/main">
            <a:off x="762000" y="4667250"/>
            <a:ext cx="4905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566B70"/>
                </a:solidFill>
                <a:latin typeface="Arial"/>
                <a:ea typeface="Arial"/>
                <a:cs typeface="Arial"/>
              </a:defRPr>
            </a:pPr>
            <a:r>
              <a:rPr sz="1800" b="0">
                <a:solidFill>
                  <a:srgbClr val="566B70"/>
                </a:solidFill>
                <a:latin typeface="Arial"/>
                <a:ea typeface="Arial"/>
                <a:cs typeface="Arial"/>
              </a:rPr>
              <a:t>UI awal = 8m 16s mapping</a:t>
            </a:r>
          </a:p>
          <a:p xmlns:a="http://schemas.openxmlformats.org/drawingml/2006/main">
            <a:pPr>
              <a:buNone/>
              <a:defRPr sz="1800" b="0">
                <a:solidFill>
                  <a:srgbClr val="566B70"/>
                </a:solidFill>
                <a:latin typeface="Arial"/>
                <a:ea typeface="Arial"/>
                <a:cs typeface="Arial"/>
              </a:defRPr>
            </a:pPr>
            <a:r>
              <a:rPr sz="1800" b="0">
                <a:solidFill>
                  <a:srgbClr val="566B70"/>
                </a:solidFill>
                <a:latin typeface="Arial"/>
                <a:ea typeface="Arial"/>
                <a:cs typeface="Arial"/>
              </a:rPr>
              <a:t>+ 41m 54s implementasi</a:t>
            </a:r>
          </a:p>
        </p:txBody>
      </p:sp>
      <p:sp>
        <p:nvSpPr>
          <p:cNvPr id="9" name="Appointment memakai lapisan card seperti coretan awal. Docto">
            <a:extLst xmlns:a="http://schemas.openxmlformats.org/drawingml/2006/main">
              <a:ext uri="{FF2B5EF4-FFF2-40B4-BE49-F238E27FC236}">
                <a16:creationId xmlns:a16="http://schemas.microsoft.com/office/drawing/2014/main" id="{7ECE64DD-E7E6-4168-8F4A-3F59AF1CF033}"/>
              </a:ext>
            </a:extLst>
          </p:cNvPr>
          <p:cNvSpPr>
            <a:spLocks xmlns:a="http://schemas.openxmlformats.org/drawingml/2006/main" noGrp="1"/>
          </p:cNvSpPr>
          <p:nvPr/>
        </p:nvSpPr>
        <p:spPr>
          <a:xfrm xmlns:a="http://schemas.openxmlformats.org/drawingml/2006/main">
            <a:off x="762000" y="5772150"/>
            <a:ext cx="4905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142C31"/>
                </a:solidFill>
                <a:latin typeface="Arial"/>
                <a:ea typeface="Arial"/>
                <a:cs typeface="Arial"/>
              </a:defRPr>
            </a:pPr>
            <a:r>
              <a:rPr sz="2025" b="0">
                <a:solidFill>
                  <a:srgbClr val="142C31"/>
                </a:solidFill>
                <a:latin typeface="Arial"/>
                <a:ea typeface="Arial"/>
                <a:cs typeface="Arial"/>
              </a:rPr>
              <a:t>Paling sesuai wireframe menurut author. Visual masih mentah dan waktu paling lama, tanpa peningkatan visual yang terlihat dari mapping terpisah.</a:t>
            </a:r>
          </a:p>
        </p:txBody>
      </p:sp>
      <p:sp>
        <p:nvSpPr>
          <p:cNvPr id="10" name="RAD Studio Designer">
            <a:extLst xmlns:a="http://schemas.openxmlformats.org/drawingml/2006/main">
              <a:ext uri="{FF2B5EF4-FFF2-40B4-BE49-F238E27FC236}">
                <a16:creationId xmlns:a16="http://schemas.microsoft.com/office/drawing/2014/main" id="{7FF2CBCC-742A-4EA6-9C00-A2655FEB4308}"/>
              </a:ext>
            </a:extLst>
          </p:cNvPr>
          <p:cNvSpPr>
            <a:spLocks xmlns:a="http://schemas.openxmlformats.org/drawingml/2006/main" noGrp="1"/>
          </p:cNvSpPr>
          <p:nvPr/>
        </p:nvSpPr>
        <p:spPr>
          <a:xfrm xmlns:a="http://schemas.openxmlformats.org/drawingml/2006/main">
            <a:off x="6334125" y="1876425"/>
            <a:ext cx="504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66B70"/>
                </a:solidFill>
                <a:latin typeface="Arial"/>
                <a:ea typeface="Arial"/>
                <a:cs typeface="Arial"/>
              </a:defRPr>
            </a:pPr>
            <a:r>
              <a:rPr sz="1650" b="1">
                <a:solidFill>
                  <a:srgbClr val="566B70"/>
                </a:solidFill>
                <a:latin typeface="Arial"/>
                <a:ea typeface="Arial"/>
                <a:cs typeface="Arial"/>
              </a:rPr>
              <a:t>RAD Studio Designer</a:t>
            </a:r>
          </a:p>
        </p:txBody>
      </p:sp>
      <p:sp>
        <p:nvSpPr>
          <p:cNvPr id="11" name="Runtime + data dummy">
            <a:extLst xmlns:a="http://schemas.openxmlformats.org/drawingml/2006/main">
              <a:ext uri="{FF2B5EF4-FFF2-40B4-BE49-F238E27FC236}">
                <a16:creationId xmlns:a16="http://schemas.microsoft.com/office/drawing/2014/main" id="{CBCEE757-B972-47DD-9CB7-5144548B3547}"/>
              </a:ext>
            </a:extLst>
          </p:cNvPr>
          <p:cNvSpPr>
            <a:spLocks xmlns:a="http://schemas.openxmlformats.org/drawingml/2006/main" noGrp="1"/>
          </p:cNvSpPr>
          <p:nvPr/>
        </p:nvSpPr>
        <p:spPr>
          <a:xfrm xmlns:a="http://schemas.openxmlformats.org/drawingml/2006/main">
            <a:off x="11906250" y="1876425"/>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66B70"/>
                </a:solidFill>
                <a:latin typeface="Arial"/>
                <a:ea typeface="Arial"/>
                <a:cs typeface="Arial"/>
              </a:defRPr>
            </a:pPr>
            <a:r>
              <a:rPr sz="1650" b="1">
                <a:solidFill>
                  <a:srgbClr val="566B70"/>
                </a:solidFill>
                <a:latin typeface="Arial"/>
                <a:ea typeface="Arial"/>
                <a:cs typeface="Arial"/>
              </a:rPr>
              <a:t>Runtime + data dummy</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6a1dd5110c4477a"/>
          <a:stretch xmlns:a="http://schemas.openxmlformats.org/drawingml/2006/main"/>
        </p:blipFill>
        <p:spPr>
          <a:xfrm xmlns:a="http://schemas.openxmlformats.org/drawingml/2006/main">
            <a:off x="6631662" y="2247900"/>
            <a:ext cx="4453175" cy="5619750"/>
          </a:xfrm>
          <a:prstGeom xmlns:a="http://schemas.openxmlformats.org/drawingml/2006/main" prst="rect">
            <a:avLst/>
          </a:prstGeom>
        </p:spPr>
      </p:pic>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7fa449026f3b4ec6"/>
          <a:stretch xmlns:a="http://schemas.openxmlformats.org/drawingml/2006/main"/>
        </p:blipFill>
        <p:spPr>
          <a:xfrm xmlns:a="http://schemas.openxmlformats.org/drawingml/2006/main">
            <a:off x="12111152" y="2247900"/>
            <a:ext cx="2019072" cy="5619750"/>
          </a:xfrm>
          <a:prstGeom xmlns:a="http://schemas.openxmlformats.org/drawingml/2006/main" prst="rect">
            <a:avLst/>
          </a:prstGeom>
        </p:spPr>
      </p:pic>
    </p:spTree>
    <p:extLst>
      <p:ext uri="{BB962C8B-B14F-4D97-AF65-F5344CB8AC3E}">
        <p14:creationId xmlns:p14="http://schemas.microsoft.com/office/powerpoint/2010/main" val="5673145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Metode 4: HTML yang dibuat agent">
            <a:extLst xmlns:a="http://schemas.openxmlformats.org/drawingml/2006/main">
              <a:ext uri="{FF2B5EF4-FFF2-40B4-BE49-F238E27FC236}">
                <a16:creationId xmlns:a16="http://schemas.microsoft.com/office/drawing/2014/main" id="{F8C8AE86-338A-4794-9A44-2FF8975DC5C1}"/>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Metode 4: HTML yang dibuat agent</a:t>
            </a:r>
          </a:p>
        </p:txBody>
      </p:sp>
      <p:sp>
        <p:nvSpPr>
          <p:cNvPr id="2" name="Agent mengubah wireframe ke HTML, kemudian html-to-fmx">
            <a:extLst xmlns:a="http://schemas.openxmlformats.org/drawingml/2006/main">
              <a:ext uri="{FF2B5EF4-FFF2-40B4-BE49-F238E27FC236}">
                <a16:creationId xmlns:a16="http://schemas.microsoft.com/office/drawing/2014/main" id="{6F536DA4-D746-4B1E-8C82-51C6F5161312}"/>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Agent mengubah wireframe ke HTML, kemudian html-to-fmx</a:t>
            </a:r>
          </a:p>
        </p:txBody>
      </p:sp>
      <p:sp>
        <p:nvSpPr>
          <p:cNvPr id="3" name="HTML-FMX  /  V2 healthcare study">
            <a:extLst xmlns:a="http://schemas.openxmlformats.org/drawingml/2006/main">
              <a:ext uri="{FF2B5EF4-FFF2-40B4-BE49-F238E27FC236}">
                <a16:creationId xmlns:a16="http://schemas.microsoft.com/office/drawing/2014/main" id="{9F534638-81F9-4323-ACCF-ECABB0C32734}"/>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2">
            <a:extLst xmlns:a="http://schemas.openxmlformats.org/drawingml/2006/main">
              <a:ext uri="{FF2B5EF4-FFF2-40B4-BE49-F238E27FC236}">
                <a16:creationId xmlns:a16="http://schemas.microsoft.com/office/drawing/2014/main" id="{DAD3FB81-3ED3-476B-8925-0BB171E65BD3}"/>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18</a:t>
            </a:r>
          </a:p>
        </p:txBody>
      </p:sp>
      <p:sp>
        <p:nvSpPr>
          <p:cNvPr id="5" name="Total hingga card terisi">
            <a:extLst xmlns:a="http://schemas.openxmlformats.org/drawingml/2006/main">
              <a:ext uri="{FF2B5EF4-FFF2-40B4-BE49-F238E27FC236}">
                <a16:creationId xmlns:a16="http://schemas.microsoft.com/office/drawing/2014/main" id="{E0F4997E-06F7-426C-BF5C-70F5059C7B8B}"/>
              </a:ext>
            </a:extLst>
          </p:cNvPr>
          <p:cNvSpPr>
            <a:spLocks xmlns:a="http://schemas.openxmlformats.org/drawingml/2006/main" noGrp="1"/>
          </p:cNvSpPr>
          <p:nvPr/>
        </p:nvSpPr>
        <p:spPr>
          <a:xfrm xmlns:a="http://schemas.openxmlformats.org/drawingml/2006/main">
            <a:off x="762000" y="2181225"/>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566B70"/>
                </a:solidFill>
                <a:latin typeface="Arial"/>
                <a:ea typeface="Arial"/>
                <a:cs typeface="Arial"/>
              </a:defRPr>
            </a:pPr>
            <a:r>
              <a:rPr sz="1800" b="0">
                <a:solidFill>
                  <a:srgbClr val="566B70"/>
                </a:solidFill>
                <a:latin typeface="Arial"/>
                <a:ea typeface="Arial"/>
                <a:cs typeface="Arial"/>
              </a:rPr>
              <a:t>Total hingga card terisi</a:t>
            </a:r>
          </a:p>
        </p:txBody>
      </p:sp>
      <p:sp>
        <p:nvSpPr>
          <p:cNvPr id="6" name="23m 33s">
            <a:extLst xmlns:a="http://schemas.openxmlformats.org/drawingml/2006/main">
              <a:ext uri="{FF2B5EF4-FFF2-40B4-BE49-F238E27FC236}">
                <a16:creationId xmlns:a16="http://schemas.microsoft.com/office/drawing/2014/main" id="{B84EDE23-998E-49A6-80C9-36A65E82D9DD}"/>
              </a:ext>
            </a:extLst>
          </p:cNvPr>
          <p:cNvSpPr>
            <a:spLocks xmlns:a="http://schemas.openxmlformats.org/drawingml/2006/main" noGrp="1"/>
          </p:cNvSpPr>
          <p:nvPr/>
        </p:nvSpPr>
        <p:spPr>
          <a:xfrm xmlns:a="http://schemas.openxmlformats.org/drawingml/2006/main">
            <a:off x="762000" y="2638425"/>
            <a:ext cx="4857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007F79"/>
                </a:solidFill>
                <a:latin typeface="Arial"/>
                <a:ea typeface="Arial"/>
                <a:cs typeface="Arial"/>
              </a:defRPr>
            </a:pPr>
            <a:r>
              <a:rPr sz="4200" b="1">
                <a:solidFill>
                  <a:srgbClr val="007F79"/>
                </a:solidFill>
                <a:latin typeface="Arial"/>
                <a:ea typeface="Arial"/>
                <a:cs typeface="Arial"/>
              </a:rPr>
              <a:t>23m 33s</a:t>
            </a:r>
          </a:p>
        </p:txBody>
      </p:sp>
      <p:sp>
        <p:nvSpPr>
          <p:cNvPr id="7" name="UI awal  14m 40s&#10;Card + dummy  8m 53s">
            <a:extLst xmlns:a="http://schemas.openxmlformats.org/drawingml/2006/main">
              <a:ext uri="{FF2B5EF4-FFF2-40B4-BE49-F238E27FC236}">
                <a16:creationId xmlns:a16="http://schemas.microsoft.com/office/drawing/2014/main" id="{CFB188BE-5B24-4D27-AA37-6AA572C961AE}"/>
              </a:ext>
            </a:extLst>
          </p:cNvPr>
          <p:cNvSpPr>
            <a:spLocks xmlns:a="http://schemas.openxmlformats.org/drawingml/2006/main" noGrp="1"/>
          </p:cNvSpPr>
          <p:nvPr/>
        </p:nvSpPr>
        <p:spPr>
          <a:xfrm xmlns:a="http://schemas.openxmlformats.org/drawingml/2006/main">
            <a:off x="762000" y="3581400"/>
            <a:ext cx="4905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UI awal  14m 40s</a:t>
            </a:r>
          </a:p>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Card + dummy  8m 53s</a:t>
            </a:r>
          </a:p>
        </p:txBody>
      </p:sp>
      <p:sp>
        <p:nvSpPr>
          <p:cNvPr id="8" name="Palet hijau gelap, ilustrasi dokter, bookmark, dan appointme">
            <a:extLst xmlns:a="http://schemas.openxmlformats.org/drawingml/2006/main">
              <a:ext uri="{FF2B5EF4-FFF2-40B4-BE49-F238E27FC236}">
                <a16:creationId xmlns:a16="http://schemas.microsoft.com/office/drawing/2014/main" id="{48416B82-EC6F-4A53-ACFB-DD5BF3CDEAE1}"/>
              </a:ext>
            </a:extLst>
          </p:cNvPr>
          <p:cNvSpPr>
            <a:spLocks xmlns:a="http://schemas.openxmlformats.org/drawingml/2006/main" noGrp="1"/>
          </p:cNvSpPr>
          <p:nvPr/>
        </p:nvSpPr>
        <p:spPr>
          <a:xfrm xmlns:a="http://schemas.openxmlformats.org/drawingml/2006/main">
            <a:off x="762000" y="5095875"/>
            <a:ext cx="490537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142C31"/>
                </a:solidFill>
                <a:latin typeface="Arial"/>
                <a:ea typeface="Arial"/>
                <a:cs typeface="Arial"/>
              </a:defRPr>
            </a:pPr>
            <a:r>
              <a:rPr sz="2025" b="0">
                <a:solidFill>
                  <a:srgbClr val="142C31"/>
                </a:solidFill>
                <a:latin typeface="Arial"/>
                <a:ea typeface="Arial"/>
                <a:cs typeface="Arial"/>
              </a:rPr>
              <a:t>Paling cepat secara total dan visual cukup memuaskan. Palet berbeda karena prompt HTML tidak menyebut DESIGN.md secara eksplisit.</a:t>
            </a:r>
          </a:p>
        </p:txBody>
      </p:sp>
      <p:sp>
        <p:nvSpPr>
          <p:cNvPr id="9" name="RAD Studio Designer">
            <a:extLst xmlns:a="http://schemas.openxmlformats.org/drawingml/2006/main">
              <a:ext uri="{FF2B5EF4-FFF2-40B4-BE49-F238E27FC236}">
                <a16:creationId xmlns:a16="http://schemas.microsoft.com/office/drawing/2014/main" id="{DF14FB4A-4C28-46B8-B31A-E911E9F6D5C4}"/>
              </a:ext>
            </a:extLst>
          </p:cNvPr>
          <p:cNvSpPr>
            <a:spLocks xmlns:a="http://schemas.openxmlformats.org/drawingml/2006/main" noGrp="1"/>
          </p:cNvSpPr>
          <p:nvPr/>
        </p:nvSpPr>
        <p:spPr>
          <a:xfrm xmlns:a="http://schemas.openxmlformats.org/drawingml/2006/main">
            <a:off x="6334125" y="1876425"/>
            <a:ext cx="504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66B70"/>
                </a:solidFill>
                <a:latin typeface="Arial"/>
                <a:ea typeface="Arial"/>
                <a:cs typeface="Arial"/>
              </a:defRPr>
            </a:pPr>
            <a:r>
              <a:rPr sz="1650" b="1">
                <a:solidFill>
                  <a:srgbClr val="566B70"/>
                </a:solidFill>
                <a:latin typeface="Arial"/>
                <a:ea typeface="Arial"/>
                <a:cs typeface="Arial"/>
              </a:rPr>
              <a:t>RAD Studio Designer</a:t>
            </a:r>
          </a:p>
        </p:txBody>
      </p:sp>
      <p:sp>
        <p:nvSpPr>
          <p:cNvPr id="10" name="Runtime + data dummy">
            <a:extLst xmlns:a="http://schemas.openxmlformats.org/drawingml/2006/main">
              <a:ext uri="{FF2B5EF4-FFF2-40B4-BE49-F238E27FC236}">
                <a16:creationId xmlns:a16="http://schemas.microsoft.com/office/drawing/2014/main" id="{8FD43EC5-D41F-425A-B44E-8E4E849CBCC6}"/>
              </a:ext>
            </a:extLst>
          </p:cNvPr>
          <p:cNvSpPr>
            <a:spLocks xmlns:a="http://schemas.openxmlformats.org/drawingml/2006/main" noGrp="1"/>
          </p:cNvSpPr>
          <p:nvPr/>
        </p:nvSpPr>
        <p:spPr>
          <a:xfrm xmlns:a="http://schemas.openxmlformats.org/drawingml/2006/main">
            <a:off x="11906250" y="1876425"/>
            <a:ext cx="2571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66B70"/>
                </a:solidFill>
                <a:latin typeface="Arial"/>
                <a:ea typeface="Arial"/>
                <a:cs typeface="Arial"/>
              </a:defRPr>
            </a:pPr>
            <a:r>
              <a:rPr sz="1650" b="1">
                <a:solidFill>
                  <a:srgbClr val="566B70"/>
                </a:solidFill>
                <a:latin typeface="Arial"/>
                <a:ea typeface="Arial"/>
                <a:cs typeface="Arial"/>
              </a:rPr>
              <a:t>Runtime + data dummy</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19d5d3fc73d4785"/>
          <a:stretch xmlns:a="http://schemas.openxmlformats.org/drawingml/2006/main"/>
        </p:blipFill>
        <p:spPr>
          <a:xfrm xmlns:a="http://schemas.openxmlformats.org/drawingml/2006/main">
            <a:off x="6631662" y="2247900"/>
            <a:ext cx="4453175" cy="56197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996310c7f204ed8"/>
          <a:stretch xmlns:a="http://schemas.openxmlformats.org/drawingml/2006/main"/>
        </p:blipFill>
        <p:spPr>
          <a:xfrm xmlns:a="http://schemas.openxmlformats.org/drawingml/2006/main">
            <a:off x="12111152" y="2247900"/>
            <a:ext cx="2019072" cy="5619750"/>
          </a:xfrm>
          <a:prstGeom xmlns:a="http://schemas.openxmlformats.org/drawingml/2006/main" prst="rect">
            <a:avLst/>
          </a:prstGeom>
        </p:spPr>
      </p:pic>
    </p:spTree>
    <p:extLst>
      <p:ext uri="{BB962C8B-B14F-4D97-AF65-F5344CB8AC3E}">
        <p14:creationId xmlns:p14="http://schemas.microsoft.com/office/powerpoint/2010/main" val="72476905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aktu pengerjaan sampai daftar dokter terisi">
            <a:extLst xmlns:a="http://schemas.openxmlformats.org/drawingml/2006/main">
              <a:ext uri="{FF2B5EF4-FFF2-40B4-BE49-F238E27FC236}">
                <a16:creationId xmlns:a16="http://schemas.microsoft.com/office/drawing/2014/main" id="{828EF5FD-CB04-48CE-BB7C-B663593E209C}"/>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Waktu pengerjaan sampai daftar dokter terisi</a:t>
            </a:r>
          </a:p>
        </p:txBody>
      </p:sp>
      <p:sp>
        <p:nvSpPr>
          <p:cNvPr id="2" name="Dua bagian: UI awal dan tambahan implementasi card beserta d">
            <a:extLst xmlns:a="http://schemas.openxmlformats.org/drawingml/2006/main">
              <a:ext uri="{FF2B5EF4-FFF2-40B4-BE49-F238E27FC236}">
                <a16:creationId xmlns:a16="http://schemas.microsoft.com/office/drawing/2014/main" id="{B967E99C-89FC-4611-A121-6452F180B964}"/>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Dua bagian: UI awal dan tambahan implementasi card beserta data dummy</a:t>
            </a:r>
          </a:p>
        </p:txBody>
      </p:sp>
      <p:sp>
        <p:nvSpPr>
          <p:cNvPr id="3" name="HTML-FMX  /  V2 healthcare study">
            <a:extLst xmlns:a="http://schemas.openxmlformats.org/drawingml/2006/main">
              <a:ext uri="{FF2B5EF4-FFF2-40B4-BE49-F238E27FC236}">
                <a16:creationId xmlns:a16="http://schemas.microsoft.com/office/drawing/2014/main" id="{D8567A01-E6C7-401B-A885-EBE1D47E9F0C}"/>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3">
            <a:extLst xmlns:a="http://schemas.openxmlformats.org/drawingml/2006/main">
              <a:ext uri="{FF2B5EF4-FFF2-40B4-BE49-F238E27FC236}">
                <a16:creationId xmlns:a16="http://schemas.microsoft.com/office/drawing/2014/main" id="{1FB03F2B-3CB8-41E7-B007-860F49D7A031}"/>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19</a:t>
            </a:r>
          </a:p>
        </p:txBody>
      </p:sp>
      <p:graphicFrame>
        <p:nvGraphicFramePr>
          <p:cNvPr id="14" name="Chart"/>
          <p:cNvGraphicFramePr/>
          <p:nvPr/>
        </p:nvGraphicFramePr>
        <p:xfrm>
          <a:off xmlns:a="http://schemas.openxmlformats.org/drawingml/2006/main" x="762000" y="2209800"/>
          <a:ext xmlns:a="http://schemas.openxmlformats.org/drawingml/2006/main" cx="13716000" cy="4619625"/>
        </p:xfrm>
        <a:graphic xmlns:a="http://schemas.openxmlformats.org/drawingml/2006/main">
          <a:graphicData uri="http://schemas.openxmlformats.org/drawingml/2006/chart">
            <c:chart xmlns:r="http://schemas.openxmlformats.org/officeDocument/2006/relationships" xmlns:c="http://schemas.openxmlformats.org/drawingml/2006/chart" r:id="Rb5d8293b12394e36"/>
          </a:graphicData>
        </a:graphic>
      </p:graphicFrame>
      <p:sp>
        <p:nvSpPr>
          <p:cNvPr id="6" name="Agent HTML + FMX: 23m 33s. Create UI langsung: 25m 52s. Seli">
            <a:extLst xmlns:a="http://schemas.openxmlformats.org/drawingml/2006/main">
              <a:ext uri="{FF2B5EF4-FFF2-40B4-BE49-F238E27FC236}">
                <a16:creationId xmlns:a16="http://schemas.microsoft.com/office/drawing/2014/main" id="{E18A3A67-32E7-4398-9904-C89ED99AB974}"/>
              </a:ext>
            </a:extLst>
          </p:cNvPr>
          <p:cNvSpPr>
            <a:spLocks xmlns:a="http://schemas.openxmlformats.org/drawingml/2006/main" noGrp="1"/>
          </p:cNvSpPr>
          <p:nvPr/>
        </p:nvSpPr>
        <p:spPr>
          <a:xfrm xmlns:a="http://schemas.openxmlformats.org/drawingml/2006/main">
            <a:off x="762000" y="7086600"/>
            <a:ext cx="1343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1">
                <a:solidFill>
                  <a:srgbClr val="007F79"/>
                </a:solidFill>
                <a:latin typeface="Arial"/>
                <a:ea typeface="Arial"/>
                <a:cs typeface="Arial"/>
              </a:defRPr>
            </a:pPr>
            <a:r>
              <a:rPr sz="2100" b="1">
                <a:solidFill>
                  <a:srgbClr val="007F79"/>
                </a:solidFill>
                <a:latin typeface="Arial"/>
                <a:ea typeface="Arial"/>
                <a:cs typeface="Arial"/>
              </a:rPr>
              <a:t>Agent HTML + FMX: 23m 33s. Create UI langsung: 25m 52s. Selisih total 2m 19s.</a:t>
            </a:r>
          </a:p>
        </p:txBody>
      </p:sp>
      <p:sp>
        <p:nvSpPr>
          <p:cNvPr id="7" name="Catatan percobaan author. Grafik dalam menit, dengan pembula">
            <a:extLst xmlns:a="http://schemas.openxmlformats.org/drawingml/2006/main">
              <a:ext uri="{FF2B5EF4-FFF2-40B4-BE49-F238E27FC236}">
                <a16:creationId xmlns:a16="http://schemas.microsoft.com/office/drawing/2014/main" id="{6C1235B2-5D74-4752-929C-4F7CA45E8FEC}"/>
              </a:ext>
            </a:extLst>
          </p:cNvPr>
          <p:cNvSpPr>
            <a:spLocks xmlns:a="http://schemas.openxmlformats.org/drawingml/2006/main" noGrp="1"/>
          </p:cNvSpPr>
          <p:nvPr/>
        </p:nvSpPr>
        <p:spPr>
          <a:xfrm xmlns:a="http://schemas.openxmlformats.org/drawingml/2006/main">
            <a:off x="762000" y="7648575"/>
            <a:ext cx="1343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566B70"/>
                </a:solidFill>
                <a:latin typeface="Arial"/>
                <a:ea typeface="Arial"/>
                <a:cs typeface="Arial"/>
              </a:defRPr>
            </a:pPr>
            <a:r>
              <a:rPr sz="1650" b="0">
                <a:solidFill>
                  <a:srgbClr val="566B70"/>
                </a:solidFill>
                <a:latin typeface="Arial"/>
                <a:ea typeface="Arial"/>
                <a:cs typeface="Arial"/>
              </a:rPr>
              <a:t>Catatan percobaan author. Grafik dalam menit, dengan pembulatan satu desimal.</a:t>
            </a:r>
          </a:p>
        </p:txBody>
      </p:sp>
    </p:spTree>
    <p:extLst>
      <p:ext uri="{BB962C8B-B14F-4D97-AF65-F5344CB8AC3E}">
        <p14:creationId xmlns:p14="http://schemas.microsoft.com/office/powerpoint/2010/main" val="8272405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atatan waktu lengkap">
            <a:extLst xmlns:a="http://schemas.openxmlformats.org/drawingml/2006/main">
              <a:ext uri="{FF2B5EF4-FFF2-40B4-BE49-F238E27FC236}">
                <a16:creationId xmlns:a16="http://schemas.microsoft.com/office/drawing/2014/main" id="{EF0744BF-82CD-4277-927D-FE8081488163}"/>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Catatan waktu lengkap</a:t>
            </a:r>
          </a:p>
        </p:txBody>
      </p:sp>
      <p:sp>
        <p:nvSpPr>
          <p:cNvPr id="2" name="Total mencakup UI awal dan prompt tambahan untuk mengisi car">
            <a:extLst xmlns:a="http://schemas.openxmlformats.org/drawingml/2006/main">
              <a:ext uri="{FF2B5EF4-FFF2-40B4-BE49-F238E27FC236}">
                <a16:creationId xmlns:a16="http://schemas.microsoft.com/office/drawing/2014/main" id="{C8D7FF91-00B0-4968-B9FF-679D44D37237}"/>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Total mencakup UI awal dan prompt tambahan untuk mengisi card dengan data dummy</a:t>
            </a:r>
          </a:p>
        </p:txBody>
      </p:sp>
      <p:sp>
        <p:nvSpPr>
          <p:cNvPr id="3" name="HTML-FMX  /  V2 healthcare study">
            <a:extLst xmlns:a="http://schemas.openxmlformats.org/drawingml/2006/main">
              <a:ext uri="{FF2B5EF4-FFF2-40B4-BE49-F238E27FC236}">
                <a16:creationId xmlns:a16="http://schemas.microsoft.com/office/drawing/2014/main" id="{8CA0D6CA-B79F-4589-B5A6-3FFBED30F872}"/>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4">
            <a:extLst xmlns:a="http://schemas.openxmlformats.org/drawingml/2006/main">
              <a:ext uri="{FF2B5EF4-FFF2-40B4-BE49-F238E27FC236}">
                <a16:creationId xmlns:a16="http://schemas.microsoft.com/office/drawing/2014/main" id="{B009130C-3AEA-4466-9B18-D6002D6D29EF}"/>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20</a:t>
            </a:r>
          </a:p>
        </p:txBody>
      </p:sp>
      <p:graphicFrame>
        <p:nvGraphicFramePr>
          <p:cNvPr id="14" name=""/>
          <p:cNvGraphicFramePr/>
          <p:nvPr/>
        </p:nvGraphicFramePr>
        <p:xfrm>
          <a:off xmlns:a="http://schemas.openxmlformats.org/drawingml/2006/main" x="762000" y="2190750"/>
          <a:ext xmlns:a="http://schemas.openxmlformats.org/drawingml/2006/main" cx="13716000" cy="4048125"/>
        </p:xfrm>
        <a:graphic xmlns:a="http://schemas.openxmlformats.org/drawingml/2006/main">
          <a:graphicData uri="http://schemas.openxmlformats.org/drawingml/2006/table">
            <a:tbl>
              <a:tblPr/>
              <a:tblGrid>
                <a:gridCol w="4619625"/>
                <a:gridCol w="3333750"/>
                <a:gridCol w="3000375"/>
                <a:gridCol w="2762250"/>
              </a:tblGrid>
              <a:tr h="809625">
                <a:tc>
                  <a:txBody>
                    <a:bodyPr>
                      <a:noAutofit/>
                    </a:bodyPr>
                    <a:lstStyle/>
                    <a:p>
                      <a:r>
                        <a:rPr sz="2100" b="1">
                          <a:solidFill>
                            <a:srgbClr val="FFFFFF"/>
                          </a:solidFill>
                          <a:latin typeface="Arial"/>
                          <a:ea typeface="Arial"/>
                          <a:cs typeface="Arial"/>
                        </a:rPr>
                        <a:t>Metode</a:t>
                      </a:r>
                    </a:p>
                  </a:txBody>
                  <a:tcPr marL="190500" marR="171450" marT="152400" marB="114300" anchor="ctr">
                    <a:solidFill>
                      <a:srgbClr val="142C31"/>
                    </a:solidFill>
                  </a:tcPr>
                </a:tc>
                <a:tc>
                  <a:txBody>
                    <a:bodyPr>
                      <a:noAutofit/>
                    </a:bodyPr>
                    <a:lstStyle/>
                    <a:p>
                      <a:r>
                        <a:rPr sz="2100" b="1">
                          <a:solidFill>
                            <a:srgbClr val="FFFFFF"/>
                          </a:solidFill>
                          <a:latin typeface="Arial"/>
                          <a:ea typeface="Arial"/>
                          <a:cs typeface="Arial"/>
                        </a:rPr>
                        <a:t>UI awal</a:t>
                      </a:r>
                    </a:p>
                  </a:txBody>
                  <a:tcPr marL="190500" marR="171450" marT="152400" marB="114300" anchor="ctr">
                    <a:solidFill>
                      <a:srgbClr val="142C31"/>
                    </a:solidFill>
                  </a:tcPr>
                </a:tc>
                <a:tc>
                  <a:txBody>
                    <a:bodyPr>
                      <a:noAutofit/>
                    </a:bodyPr>
                    <a:lstStyle/>
                    <a:p>
                      <a:r>
                        <a:rPr sz="2100" b="1">
                          <a:solidFill>
                            <a:srgbClr val="FFFFFF"/>
                          </a:solidFill>
                          <a:latin typeface="Arial"/>
                          <a:ea typeface="Arial"/>
                          <a:cs typeface="Arial"/>
                        </a:rPr>
                        <a:t>Card + dummy</a:t>
                      </a:r>
                    </a:p>
                  </a:txBody>
                  <a:tcPr marL="190500" marR="171450" marT="152400" marB="114300" anchor="ctr">
                    <a:solidFill>
                      <a:srgbClr val="142C31"/>
                    </a:solidFill>
                  </a:tcPr>
                </a:tc>
                <a:tc>
                  <a:txBody>
                    <a:bodyPr>
                      <a:noAutofit/>
                    </a:bodyPr>
                    <a:lstStyle/>
                    <a:p>
                      <a:r>
                        <a:rPr sz="2100" b="1">
                          <a:solidFill>
                            <a:srgbClr val="FFFFFF"/>
                          </a:solidFill>
                          <a:latin typeface="Arial"/>
                          <a:ea typeface="Arial"/>
                          <a:cs typeface="Arial"/>
                        </a:rPr>
                        <a:t>Total</a:t>
                      </a:r>
                    </a:p>
                  </a:txBody>
                  <a:tcPr marL="190500" marR="171450" marT="152400" marB="114300" anchor="ctr">
                    <a:solidFill>
                      <a:srgbClr val="142C31"/>
                    </a:solidFill>
                  </a:tcPr>
                </a:tc>
              </a:tr>
              <a:tr h="809625">
                <a:tc>
                  <a:txBody>
                    <a:bodyPr>
                      <a:noAutofit/>
                    </a:bodyPr>
                    <a:lstStyle/>
                    <a:p>
                      <a:r>
                        <a:rPr sz="2100" b="1">
                          <a:solidFill>
                            <a:srgbClr val="142C31"/>
                          </a:solidFill>
                          <a:latin typeface="Arial"/>
                          <a:ea typeface="Arial"/>
                          <a:cs typeface="Arial"/>
                        </a:rPr>
                        <a:t>Google Stitch + HTML</a:t>
                      </a:r>
                    </a:p>
                  </a:txBody>
                  <a:tcPr marL="190500" marR="171450" marT="152400" marB="114300" anchor="ctr">
                    <a:solidFill>
                      <a:srgbClr val="F5F7F7"/>
                    </a:solidFill>
                  </a:tcPr>
                </a:tc>
                <a:tc>
                  <a:txBody>
                    <a:bodyPr>
                      <a:noAutofit/>
                    </a:bodyPr>
                    <a:lstStyle/>
                    <a:p>
                      <a:r>
                        <a:rPr sz="2100" b="0">
                          <a:solidFill>
                            <a:srgbClr val="142C31"/>
                          </a:solidFill>
                          <a:latin typeface="Arial"/>
                          <a:ea typeface="Arial"/>
                          <a:cs typeface="Arial"/>
                        </a:rPr>
                        <a:t>32m 49s</a:t>
                      </a:r>
                    </a:p>
                  </a:txBody>
                  <a:tcPr marL="190500" marR="171450" marT="152400" marB="114300" anchor="ctr">
                    <a:solidFill>
                      <a:srgbClr val="F5F7F7"/>
                    </a:solidFill>
                  </a:tcPr>
                </a:tc>
                <a:tc>
                  <a:txBody>
                    <a:bodyPr>
                      <a:noAutofit/>
                    </a:bodyPr>
                    <a:lstStyle/>
                    <a:p>
                      <a:r>
                        <a:rPr sz="2100" b="0">
                          <a:solidFill>
                            <a:srgbClr val="142C31"/>
                          </a:solidFill>
                          <a:latin typeface="Arial"/>
                          <a:ea typeface="Arial"/>
                          <a:cs typeface="Arial"/>
                        </a:rPr>
                        <a:t>6m 06s</a:t>
                      </a:r>
                    </a:p>
                  </a:txBody>
                  <a:tcPr marL="190500" marR="171450" marT="152400" marB="114300" anchor="ctr">
                    <a:solidFill>
                      <a:srgbClr val="F5F7F7"/>
                    </a:solidFill>
                  </a:tcPr>
                </a:tc>
                <a:tc>
                  <a:txBody>
                    <a:bodyPr>
                      <a:noAutofit/>
                    </a:bodyPr>
                    <a:lstStyle/>
                    <a:p>
                      <a:r>
                        <a:rPr sz="2100" b="0">
                          <a:solidFill>
                            <a:srgbClr val="142C31"/>
                          </a:solidFill>
                          <a:latin typeface="Arial"/>
                          <a:ea typeface="Arial"/>
                          <a:cs typeface="Arial"/>
                        </a:rPr>
                        <a:t>38m 55s</a:t>
                      </a:r>
                    </a:p>
                  </a:txBody>
                  <a:tcPr marL="190500" marR="171450" marT="152400" marB="114300" anchor="ctr">
                    <a:solidFill>
                      <a:srgbClr val="F5F7F7"/>
                    </a:solidFill>
                  </a:tcPr>
                </a:tc>
              </a:tr>
              <a:tr h="809625">
                <a:tc>
                  <a:txBody>
                    <a:bodyPr>
                      <a:noAutofit/>
                    </a:bodyPr>
                    <a:lstStyle/>
                    <a:p>
                      <a:r>
                        <a:rPr sz="2100" b="1">
                          <a:solidFill>
                            <a:srgbClr val="142C31"/>
                          </a:solidFill>
                          <a:latin typeface="Arial"/>
                          <a:ea typeface="Arial"/>
                          <a:cs typeface="Arial"/>
                        </a:rPr>
                        <a:t>Create UI langsung</a:t>
                      </a:r>
                    </a:p>
                  </a:txBody>
                  <a:tcPr marL="190500" marR="171450" marT="152400" marB="114300" anchor="ctr">
                    <a:solidFill>
                      <a:srgbClr val="FFFFFF"/>
                    </a:solidFill>
                  </a:tcPr>
                </a:tc>
                <a:tc>
                  <a:txBody>
                    <a:bodyPr>
                      <a:noAutofit/>
                    </a:bodyPr>
                    <a:lstStyle/>
                    <a:p>
                      <a:r>
                        <a:rPr sz="2100" b="0">
                          <a:solidFill>
                            <a:srgbClr val="142C31"/>
                          </a:solidFill>
                          <a:latin typeface="Arial"/>
                          <a:ea typeface="Arial"/>
                          <a:cs typeface="Arial"/>
                        </a:rPr>
                        <a:t>23m 25s</a:t>
                      </a:r>
                    </a:p>
                  </a:txBody>
                  <a:tcPr marL="190500" marR="171450" marT="152400" marB="114300" anchor="ctr">
                    <a:solidFill>
                      <a:srgbClr val="FFFFFF"/>
                    </a:solidFill>
                  </a:tcPr>
                </a:tc>
                <a:tc>
                  <a:txBody>
                    <a:bodyPr>
                      <a:noAutofit/>
                    </a:bodyPr>
                    <a:lstStyle/>
                    <a:p>
                      <a:r>
                        <a:rPr sz="2100" b="0">
                          <a:solidFill>
                            <a:srgbClr val="142C31"/>
                          </a:solidFill>
                          <a:latin typeface="Arial"/>
                          <a:ea typeface="Arial"/>
                          <a:cs typeface="Arial"/>
                        </a:rPr>
                        <a:t>2m 27s</a:t>
                      </a:r>
                    </a:p>
                  </a:txBody>
                  <a:tcPr marL="190500" marR="171450" marT="152400" marB="114300" anchor="ctr">
                    <a:solidFill>
                      <a:srgbClr val="FFFFFF"/>
                    </a:solidFill>
                  </a:tcPr>
                </a:tc>
                <a:tc>
                  <a:txBody>
                    <a:bodyPr>
                      <a:noAutofit/>
                    </a:bodyPr>
                    <a:lstStyle/>
                    <a:p>
                      <a:r>
                        <a:rPr sz="2100" b="0">
                          <a:solidFill>
                            <a:srgbClr val="142C31"/>
                          </a:solidFill>
                          <a:latin typeface="Arial"/>
                          <a:ea typeface="Arial"/>
                          <a:cs typeface="Arial"/>
                        </a:rPr>
                        <a:t>25m 52s</a:t>
                      </a:r>
                    </a:p>
                  </a:txBody>
                  <a:tcPr marL="190500" marR="171450" marT="152400" marB="114300" anchor="ctr">
                    <a:solidFill>
                      <a:srgbClr val="FFFFFF"/>
                    </a:solidFill>
                  </a:tcPr>
                </a:tc>
              </a:tr>
              <a:tr h="809625">
                <a:tc>
                  <a:txBody>
                    <a:bodyPr>
                      <a:noAutofit/>
                    </a:bodyPr>
                    <a:lstStyle/>
                    <a:p>
                      <a:r>
                        <a:rPr sz="2100" b="1">
                          <a:solidFill>
                            <a:srgbClr val="142C31"/>
                          </a:solidFill>
                          <a:latin typeface="Arial"/>
                          <a:ea typeface="Arial"/>
                          <a:cs typeface="Arial"/>
                        </a:rPr>
                        <a:t>Mapping + Create UI</a:t>
                      </a:r>
                    </a:p>
                  </a:txBody>
                  <a:tcPr marL="190500" marR="171450" marT="152400" marB="114300" anchor="ctr">
                    <a:solidFill>
                      <a:srgbClr val="F5F7F7"/>
                    </a:solidFill>
                  </a:tcPr>
                </a:tc>
                <a:tc>
                  <a:txBody>
                    <a:bodyPr>
                      <a:noAutofit/>
                    </a:bodyPr>
                    <a:lstStyle/>
                    <a:p>
                      <a:r>
                        <a:rPr sz="2100" b="0">
                          <a:solidFill>
                            <a:srgbClr val="142C31"/>
                          </a:solidFill>
                          <a:latin typeface="Arial"/>
                          <a:ea typeface="Arial"/>
                          <a:cs typeface="Arial"/>
                        </a:rPr>
                        <a:t>8m 16s + 41m 54s</a:t>
                      </a:r>
                    </a:p>
                  </a:txBody>
                  <a:tcPr marL="190500" marR="171450" marT="152400" marB="114300" anchor="ctr">
                    <a:solidFill>
                      <a:srgbClr val="F5F7F7"/>
                    </a:solidFill>
                  </a:tcPr>
                </a:tc>
                <a:tc>
                  <a:txBody>
                    <a:bodyPr>
                      <a:noAutofit/>
                    </a:bodyPr>
                    <a:lstStyle/>
                    <a:p>
                      <a:r>
                        <a:rPr sz="2100" b="0">
                          <a:solidFill>
                            <a:srgbClr val="142C31"/>
                          </a:solidFill>
                          <a:latin typeface="Arial"/>
                          <a:ea typeface="Arial"/>
                          <a:cs typeface="Arial"/>
                        </a:rPr>
                        <a:t>5m 12s</a:t>
                      </a:r>
                    </a:p>
                  </a:txBody>
                  <a:tcPr marL="190500" marR="171450" marT="152400" marB="114300" anchor="ctr">
                    <a:solidFill>
                      <a:srgbClr val="F5F7F7"/>
                    </a:solidFill>
                  </a:tcPr>
                </a:tc>
                <a:tc>
                  <a:txBody>
                    <a:bodyPr>
                      <a:noAutofit/>
                    </a:bodyPr>
                    <a:lstStyle/>
                    <a:p>
                      <a:r>
                        <a:rPr sz="2100" b="0">
                          <a:solidFill>
                            <a:srgbClr val="142C31"/>
                          </a:solidFill>
                          <a:latin typeface="Arial"/>
                          <a:ea typeface="Arial"/>
                          <a:cs typeface="Arial"/>
                        </a:rPr>
                        <a:t>55m 22s</a:t>
                      </a:r>
                    </a:p>
                  </a:txBody>
                  <a:tcPr marL="190500" marR="171450" marT="152400" marB="114300" anchor="ctr">
                    <a:solidFill>
                      <a:srgbClr val="F5F7F7"/>
                    </a:solidFill>
                  </a:tcPr>
                </a:tc>
              </a:tr>
              <a:tr h="809625">
                <a:tc>
                  <a:txBody>
                    <a:bodyPr>
                      <a:noAutofit/>
                    </a:bodyPr>
                    <a:lstStyle/>
                    <a:p>
                      <a:r>
                        <a:rPr sz="2100" b="1">
                          <a:solidFill>
                            <a:srgbClr val="142C31"/>
                          </a:solidFill>
                          <a:latin typeface="Arial"/>
                          <a:ea typeface="Arial"/>
                          <a:cs typeface="Arial"/>
                        </a:rPr>
                        <a:t>Agent HTML + FMX</a:t>
                      </a:r>
                    </a:p>
                  </a:txBody>
                  <a:tcPr marL="190500" marR="171450" marT="152400" marB="114300" anchor="ctr">
                    <a:solidFill>
                      <a:srgbClr val="FFFFFF"/>
                    </a:solidFill>
                  </a:tcPr>
                </a:tc>
                <a:tc>
                  <a:txBody>
                    <a:bodyPr>
                      <a:noAutofit/>
                    </a:bodyPr>
                    <a:lstStyle/>
                    <a:p>
                      <a:r>
                        <a:rPr sz="2100" b="0">
                          <a:solidFill>
                            <a:srgbClr val="142C31"/>
                          </a:solidFill>
                          <a:latin typeface="Arial"/>
                          <a:ea typeface="Arial"/>
                          <a:cs typeface="Arial"/>
                        </a:rPr>
                        <a:t>14m 40s</a:t>
                      </a:r>
                    </a:p>
                  </a:txBody>
                  <a:tcPr marL="190500" marR="171450" marT="152400" marB="114300" anchor="ctr">
                    <a:solidFill>
                      <a:srgbClr val="FFFFFF"/>
                    </a:solidFill>
                  </a:tcPr>
                </a:tc>
                <a:tc>
                  <a:txBody>
                    <a:bodyPr>
                      <a:noAutofit/>
                    </a:bodyPr>
                    <a:lstStyle/>
                    <a:p>
                      <a:r>
                        <a:rPr sz="2100" b="0">
                          <a:solidFill>
                            <a:srgbClr val="142C31"/>
                          </a:solidFill>
                          <a:latin typeface="Arial"/>
                          <a:ea typeface="Arial"/>
                          <a:cs typeface="Arial"/>
                        </a:rPr>
                        <a:t>8m 53s</a:t>
                      </a:r>
                    </a:p>
                  </a:txBody>
                  <a:tcPr marL="190500" marR="171450" marT="152400" marB="114300" anchor="ctr">
                    <a:solidFill>
                      <a:srgbClr val="FFFFFF"/>
                    </a:solidFill>
                  </a:tcPr>
                </a:tc>
                <a:tc>
                  <a:txBody>
                    <a:bodyPr>
                      <a:noAutofit/>
                    </a:bodyPr>
                    <a:lstStyle/>
                    <a:p>
                      <a:r>
                        <a:rPr sz="2100" b="0">
                          <a:solidFill>
                            <a:srgbClr val="142C31"/>
                          </a:solidFill>
                          <a:latin typeface="Arial"/>
                          <a:ea typeface="Arial"/>
                          <a:cs typeface="Arial"/>
                        </a:rPr>
                        <a:t>23m 33s</a:t>
                      </a:r>
                    </a:p>
                  </a:txBody>
                  <a:tcPr marL="190500" marR="171450" marT="152400" marB="114300" anchor="ctr">
                    <a:solidFill>
                      <a:srgbClr val="FFFFFF"/>
                    </a:solidFill>
                  </a:tcPr>
                </a:tc>
              </a:tr>
            </a:tbl>
          </a:graphicData>
        </a:graphic>
      </p:graphicFrame>
      <p:sp>
        <p:nvSpPr>
          <p:cNvPr id="6" name="HTML buatan agent paling cepat secara total pada catatan ini">
            <a:extLst xmlns:a="http://schemas.openxmlformats.org/drawingml/2006/main">
              <a:ext uri="{FF2B5EF4-FFF2-40B4-BE49-F238E27FC236}">
                <a16:creationId xmlns:a16="http://schemas.microsoft.com/office/drawing/2014/main" id="{1DBC800B-B25F-4029-9C0E-8C951A4C9D04}"/>
              </a:ext>
            </a:extLst>
          </p:cNvPr>
          <p:cNvSpPr>
            <a:spLocks xmlns:a="http://schemas.openxmlformats.org/drawingml/2006/main" noGrp="1"/>
          </p:cNvSpPr>
          <p:nvPr/>
        </p:nvSpPr>
        <p:spPr>
          <a:xfrm xmlns:a="http://schemas.openxmlformats.org/drawingml/2006/main">
            <a:off x="762000" y="6610350"/>
            <a:ext cx="13335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007F79"/>
                </a:solidFill>
                <a:latin typeface="Arial"/>
                <a:ea typeface="Arial"/>
                <a:cs typeface="Arial"/>
              </a:defRPr>
            </a:pPr>
            <a:r>
              <a:rPr sz="2250" b="1">
                <a:solidFill>
                  <a:srgbClr val="007F79"/>
                </a:solidFill>
                <a:latin typeface="Arial"/>
                <a:ea typeface="Arial"/>
                <a:cs typeface="Arial"/>
              </a:rPr>
              <a:t>HTML buatan agent paling cepat secara total pada catatan ini. Waktu tambahan paling kecil ada pada Create UI langsung: 2m 27s.</a:t>
            </a:r>
          </a:p>
        </p:txBody>
      </p:sp>
      <p:sp>
        <p:nvSpPr>
          <p:cNvPr id="7" name="Perbedaan waktu belum menjadi benchmark umum. Integrasi API ">
            <a:extLst xmlns:a="http://schemas.openxmlformats.org/drawingml/2006/main">
              <a:ext uri="{FF2B5EF4-FFF2-40B4-BE49-F238E27FC236}">
                <a16:creationId xmlns:a16="http://schemas.microsoft.com/office/drawing/2014/main" id="{1F58FFB4-71B2-4B3D-8372-EECF9E7A8C14}"/>
              </a:ext>
            </a:extLst>
          </p:cNvPr>
          <p:cNvSpPr>
            <a:spLocks xmlns:a="http://schemas.openxmlformats.org/drawingml/2006/main" noGrp="1"/>
          </p:cNvSpPr>
          <p:nvPr/>
        </p:nvSpPr>
        <p:spPr>
          <a:xfrm xmlns:a="http://schemas.openxmlformats.org/drawingml/2006/main">
            <a:off x="762000" y="7686675"/>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566B70"/>
                </a:solidFill>
                <a:latin typeface="Arial"/>
                <a:ea typeface="Arial"/>
                <a:cs typeface="Arial"/>
              </a:defRPr>
            </a:pPr>
            <a:r>
              <a:rPr sz="1650" b="0">
                <a:solidFill>
                  <a:srgbClr val="566B70"/>
                </a:solidFill>
                <a:latin typeface="Arial"/>
                <a:ea typeface="Arial"/>
                <a:cs typeface="Arial"/>
              </a:rPr>
              <a:t>Perbedaan waktu belum menjadi benchmark umum. Integrasi API tidak termasuk.</a:t>
            </a:r>
          </a:p>
        </p:txBody>
      </p:sp>
    </p:spTree>
    <p:extLst>
      <p:ext uri="{BB962C8B-B14F-4D97-AF65-F5344CB8AC3E}">
        <p14:creationId xmlns:p14="http://schemas.microsoft.com/office/powerpoint/2010/main" val="149822810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ard sudah dibuat, page belum memuat datanya">
            <a:extLst xmlns:a="http://schemas.openxmlformats.org/drawingml/2006/main">
              <a:ext uri="{FF2B5EF4-FFF2-40B4-BE49-F238E27FC236}">
                <a16:creationId xmlns:a16="http://schemas.microsoft.com/office/drawing/2014/main" id="{74947EBA-CC04-4D39-B871-66B130F9EAD7}"/>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Card sudah dibuat, page belum memuat datanya</a:t>
            </a:r>
          </a:p>
        </p:txBody>
      </p:sp>
      <p:sp>
        <p:nvSpPr>
          <p:cNvPr id="2" name="Temuan yang sama muncul pada keempat jalur dalam percobaan a">
            <a:extLst xmlns:a="http://schemas.openxmlformats.org/drawingml/2006/main">
              <a:ext uri="{FF2B5EF4-FFF2-40B4-BE49-F238E27FC236}">
                <a16:creationId xmlns:a16="http://schemas.microsoft.com/office/drawing/2014/main" id="{E2FE09C0-AC62-4F5F-AA7C-8AC12980E70F}"/>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Temuan yang sama muncul pada keempat jalur dalam percobaan author</a:t>
            </a:r>
          </a:p>
        </p:txBody>
      </p:sp>
      <p:sp>
        <p:nvSpPr>
          <p:cNvPr id="3" name="HTML-FMX  /  V2 healthcare study">
            <a:extLst xmlns:a="http://schemas.openxmlformats.org/drawingml/2006/main">
              <a:ext uri="{FF2B5EF4-FFF2-40B4-BE49-F238E27FC236}">
                <a16:creationId xmlns:a16="http://schemas.microsoft.com/office/drawing/2014/main" id="{1B51819B-0BA7-4737-8013-38357A28FC54}"/>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5">
            <a:extLst xmlns:a="http://schemas.openxmlformats.org/drawingml/2006/main">
              <a:ext uri="{FF2B5EF4-FFF2-40B4-BE49-F238E27FC236}">
                <a16:creationId xmlns:a16="http://schemas.microsoft.com/office/drawing/2014/main" id="{94A7C9B6-2437-4F70-BD4C-9298BE41AED8}"/>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21</a:t>
            </a:r>
          </a:p>
        </p:txBody>
      </p:sp>
      <p:sp>
        <p:nvSpPr>
          <p:cNvPr id="5" name="Hasil awal">
            <a:extLst xmlns:a="http://schemas.openxmlformats.org/drawingml/2006/main">
              <a:ext uri="{FF2B5EF4-FFF2-40B4-BE49-F238E27FC236}">
                <a16:creationId xmlns:a16="http://schemas.microsoft.com/office/drawing/2014/main" id="{0A88B88D-2743-4FC6-8B8A-B96053150A5A}"/>
              </a:ext>
            </a:extLst>
          </p:cNvPr>
          <p:cNvSpPr>
            <a:spLocks xmlns:a="http://schemas.openxmlformats.org/drawingml/2006/main" noGrp="1"/>
          </p:cNvSpPr>
          <p:nvPr/>
        </p:nvSpPr>
        <p:spPr>
          <a:xfrm xmlns:a="http://schemas.openxmlformats.org/drawingml/2006/main">
            <a:off x="762000" y="22288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07F79"/>
                </a:solidFill>
                <a:latin typeface="Arial"/>
                <a:ea typeface="Arial"/>
                <a:cs typeface="Arial"/>
              </a:defRPr>
            </a:pPr>
            <a:r>
              <a:rPr sz="2625" b="1">
                <a:solidFill>
                  <a:srgbClr val="007F79"/>
                </a:solidFill>
                <a:latin typeface="Arial"/>
                <a:ea typeface="Arial"/>
                <a:cs typeface="Arial"/>
              </a:rPr>
              <a:t>Hasil awal</a:t>
            </a:r>
          </a:p>
        </p:txBody>
      </p:sp>
      <p:sp>
        <p:nvSpPr>
          <p:cNvPr id="6" name="Reusable doctor card sudah ada. Page frame belum membuat dan">
            <a:extLst xmlns:a="http://schemas.openxmlformats.org/drawingml/2006/main">
              <a:ext uri="{FF2B5EF4-FFF2-40B4-BE49-F238E27FC236}">
                <a16:creationId xmlns:a16="http://schemas.microsoft.com/office/drawing/2014/main" id="{0C8800A0-A4B2-4545-B6FD-1A6F600941FF}"/>
              </a:ext>
            </a:extLst>
          </p:cNvPr>
          <p:cNvSpPr>
            <a:spLocks xmlns:a="http://schemas.openxmlformats.org/drawingml/2006/main" noGrp="1"/>
          </p:cNvSpPr>
          <p:nvPr/>
        </p:nvSpPr>
        <p:spPr>
          <a:xfrm xmlns:a="http://schemas.openxmlformats.org/drawingml/2006/main">
            <a:off x="762000" y="2971800"/>
            <a:ext cx="590550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142C31"/>
                </a:solidFill>
                <a:latin typeface="Arial"/>
                <a:ea typeface="Arial"/>
                <a:cs typeface="Arial"/>
              </a:defRPr>
            </a:pPr>
            <a:r>
              <a:rPr sz="2400" b="0">
                <a:solidFill>
                  <a:srgbClr val="142C31"/>
                </a:solidFill>
                <a:latin typeface="Arial"/>
                <a:ea typeface="Arial"/>
                <a:cs typeface="Arial"/>
              </a:rPr>
              <a:t>Reusable doctor card sudah ada. Page frame belum membuat dan mengisi card tersebut untuk daftar dokter.</a:t>
            </a:r>
          </a:p>
        </p:txBody>
      </p:sp>
      <p:sp>
        <p:nvSpPr>
          <p:cNvPr id="7" name="Prompt tambahan">
            <a:extLst xmlns:a="http://schemas.openxmlformats.org/drawingml/2006/main">
              <a:ext uri="{FF2B5EF4-FFF2-40B4-BE49-F238E27FC236}">
                <a16:creationId xmlns:a16="http://schemas.microsoft.com/office/drawing/2014/main" id="{09EFCCDD-423E-49A1-985B-8F99DAA98AA3}"/>
              </a:ext>
            </a:extLst>
          </p:cNvPr>
          <p:cNvSpPr>
            <a:spLocks xmlns:a="http://schemas.openxmlformats.org/drawingml/2006/main" noGrp="1"/>
          </p:cNvSpPr>
          <p:nvPr/>
        </p:nvSpPr>
        <p:spPr>
          <a:xfrm xmlns:a="http://schemas.openxmlformats.org/drawingml/2006/main">
            <a:off x="8096250" y="22288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07F79"/>
                </a:solidFill>
                <a:latin typeface="Arial"/>
                <a:ea typeface="Arial"/>
                <a:cs typeface="Arial"/>
              </a:defRPr>
            </a:pPr>
            <a:r>
              <a:rPr sz="2625" b="1">
                <a:solidFill>
                  <a:srgbClr val="007F79"/>
                </a:solidFill>
                <a:latin typeface="Arial"/>
                <a:ea typeface="Arial"/>
                <a:cs typeface="Arial"/>
              </a:rPr>
              <a:t>Prompt tambahan</a:t>
            </a:r>
          </a:p>
        </p:txBody>
      </p:sp>
      <p:sp>
        <p:nvSpPr>
          <p:cNvPr id="8" name="“Tambahkan Data dummy nya&#10;dengan card yang sudah&#10;anda buat”">
            <a:extLst xmlns:a="http://schemas.openxmlformats.org/drawingml/2006/main">
              <a:ext uri="{FF2B5EF4-FFF2-40B4-BE49-F238E27FC236}">
                <a16:creationId xmlns:a16="http://schemas.microsoft.com/office/drawing/2014/main" id="{288BCF83-8E23-4017-B1B0-5745EE99E76C}"/>
              </a:ext>
            </a:extLst>
          </p:cNvPr>
          <p:cNvSpPr>
            <a:spLocks xmlns:a="http://schemas.openxmlformats.org/drawingml/2006/main" noGrp="1"/>
          </p:cNvSpPr>
          <p:nvPr/>
        </p:nvSpPr>
        <p:spPr>
          <a:xfrm xmlns:a="http://schemas.openxmlformats.org/drawingml/2006/main">
            <a:off x="8096250" y="2981325"/>
            <a:ext cx="6143625"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142C31"/>
                </a:solidFill>
                <a:latin typeface="Arial"/>
                <a:ea typeface="Arial"/>
                <a:cs typeface="Arial"/>
              </a:defRPr>
            </a:pPr>
            <a:r>
              <a:rPr sz="2625" b="1">
                <a:solidFill>
                  <a:srgbClr val="142C31"/>
                </a:solidFill>
                <a:latin typeface="Arial"/>
                <a:ea typeface="Arial"/>
                <a:cs typeface="Arial"/>
              </a:rPr>
              <a:t>“Tambahkan Data dummy nya</a:t>
            </a:r>
          </a:p>
          <a:p xmlns:a="http://schemas.openxmlformats.org/drawingml/2006/main">
            <a:pPr>
              <a:buNone/>
              <a:defRPr sz="2625" b="1">
                <a:solidFill>
                  <a:srgbClr val="142C31"/>
                </a:solidFill>
                <a:latin typeface="Arial"/>
                <a:ea typeface="Arial"/>
                <a:cs typeface="Arial"/>
              </a:defRPr>
            </a:pPr>
            <a:r>
              <a:rPr sz="2625" b="1">
                <a:solidFill>
                  <a:srgbClr val="142C31"/>
                </a:solidFill>
                <a:latin typeface="Arial"/>
                <a:ea typeface="Arial"/>
                <a:cs typeface="Arial"/>
              </a:rPr>
              <a:t>dengan card yang sudah</a:t>
            </a:r>
          </a:p>
          <a:p xmlns:a="http://schemas.openxmlformats.org/drawingml/2006/main">
            <a:pPr>
              <a:buNone/>
              <a:defRPr sz="2625" b="1">
                <a:solidFill>
                  <a:srgbClr val="142C31"/>
                </a:solidFill>
                <a:latin typeface="Arial"/>
                <a:ea typeface="Arial"/>
                <a:cs typeface="Arial"/>
              </a:defRPr>
            </a:pPr>
            <a:r>
              <a:rPr sz="2625" b="1">
                <a:solidFill>
                  <a:srgbClr val="142C31"/>
                </a:solidFill>
                <a:latin typeface="Arial"/>
                <a:ea typeface="Arial"/>
                <a:cs typeface="Arial"/>
              </a:rPr>
              <a:t>anda buat”</a:t>
            </a:r>
          </a:p>
        </p:txBody>
      </p:sp>
      <p:sp>
        <p:nvSpPr>
          <p:cNvPr id="9" name="Screen demo selesai ketika page membuat item daftar, memasan">
            <a:extLst xmlns:a="http://schemas.openxmlformats.org/drawingml/2006/main">
              <a:ext uri="{FF2B5EF4-FFF2-40B4-BE49-F238E27FC236}">
                <a16:creationId xmlns:a16="http://schemas.microsoft.com/office/drawing/2014/main" id="{349C2BE2-C88D-499F-A4DA-7985D3A9946F}"/>
              </a:ext>
            </a:extLst>
          </p:cNvPr>
          <p:cNvSpPr>
            <a:spLocks xmlns:a="http://schemas.openxmlformats.org/drawingml/2006/main" noGrp="1"/>
          </p:cNvSpPr>
          <p:nvPr/>
        </p:nvSpPr>
        <p:spPr>
          <a:xfrm xmlns:a="http://schemas.openxmlformats.org/drawingml/2006/main">
            <a:off x="762000" y="5638800"/>
            <a:ext cx="1333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850" b="1">
                <a:solidFill>
                  <a:srgbClr val="142C31"/>
                </a:solidFill>
                <a:latin typeface="Arial"/>
                <a:ea typeface="Arial"/>
                <a:cs typeface="Arial"/>
              </a:defRPr>
            </a:pPr>
            <a:r>
              <a:rPr sz="2850" b="1">
                <a:solidFill>
                  <a:srgbClr val="142C31"/>
                </a:solidFill>
                <a:latin typeface="Arial"/>
                <a:ea typeface="Arial"/>
                <a:cs typeface="Arial"/>
              </a:rPr>
              <a:t>Screen demo selesai ketika page membuat item daftar, memasang card, dan mengisi data contoh.</a:t>
            </a:r>
          </a:p>
        </p:txBody>
      </p:sp>
      <p:sp>
        <p:nvSpPr>
          <p:cNvPr id="10" name="Temuan ini mengarahkan refinement berikutnya pada consumer c">
            <a:extLst xmlns:a="http://schemas.openxmlformats.org/drawingml/2006/main">
              <a:ext uri="{FF2B5EF4-FFF2-40B4-BE49-F238E27FC236}">
                <a16:creationId xmlns:a16="http://schemas.microsoft.com/office/drawing/2014/main" id="{14DE4BF9-CDC5-4561-B001-6594A68265AD}"/>
              </a:ext>
            </a:extLst>
          </p:cNvPr>
          <p:cNvSpPr>
            <a:spLocks xmlns:a="http://schemas.openxmlformats.org/drawingml/2006/main" noGrp="1"/>
          </p:cNvSpPr>
          <p:nvPr/>
        </p:nvSpPr>
        <p:spPr>
          <a:xfrm xmlns:a="http://schemas.openxmlformats.org/drawingml/2006/main">
            <a:off x="762000" y="7258050"/>
            <a:ext cx="1333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566B70"/>
                </a:solidFill>
                <a:latin typeface="Arial"/>
                <a:ea typeface="Arial"/>
                <a:cs typeface="Arial"/>
              </a:defRPr>
            </a:pPr>
            <a:r>
              <a:rPr sz="2175" b="0">
                <a:solidFill>
                  <a:srgbClr val="566B70"/>
                </a:solidFill>
                <a:latin typeface="Arial"/>
                <a:ea typeface="Arial"/>
                <a:cs typeface="Arial"/>
              </a:rPr>
              <a:t>Temuan ini mengarahkan refinement berikutnya pada consumer card dan fixture demo.</a:t>
            </a:r>
          </a:p>
        </p:txBody>
      </p:sp>
    </p:spTree>
    <p:extLst>
      <p:ext uri="{BB962C8B-B14F-4D97-AF65-F5344CB8AC3E}">
        <p14:creationId xmlns:p14="http://schemas.microsoft.com/office/powerpoint/2010/main" val="160124759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elajaran untuk pengembangan UI FMX">
            <a:extLst xmlns:a="http://schemas.openxmlformats.org/drawingml/2006/main">
              <a:ext uri="{FF2B5EF4-FFF2-40B4-BE49-F238E27FC236}">
                <a16:creationId xmlns:a16="http://schemas.microsoft.com/office/drawing/2014/main" id="{CAF76167-26A8-49C8-90B0-4FEEC9063ED6}"/>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Pelajaran untuk pengembangan UI FMX</a:t>
            </a:r>
          </a:p>
        </p:txBody>
      </p:sp>
      <p:sp>
        <p:nvSpPr>
          <p:cNvPr id="2" name="Eksperimen author menghasilkan empat tampilan yang cukup bai">
            <a:extLst xmlns:a="http://schemas.openxmlformats.org/drawingml/2006/main">
              <a:ext uri="{FF2B5EF4-FFF2-40B4-BE49-F238E27FC236}">
                <a16:creationId xmlns:a16="http://schemas.microsoft.com/office/drawing/2014/main" id="{650F9482-3FA5-441C-A7B0-11E03A098E5D}"/>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Eksperimen author menghasilkan empat tampilan yang cukup baik, dengan interpretasi visual berbeda</a:t>
            </a:r>
          </a:p>
        </p:txBody>
      </p:sp>
      <p:sp>
        <p:nvSpPr>
          <p:cNvPr id="3" name="HTML-FMX  /  V2 healthcare study">
            <a:extLst xmlns:a="http://schemas.openxmlformats.org/drawingml/2006/main">
              <a:ext uri="{FF2B5EF4-FFF2-40B4-BE49-F238E27FC236}">
                <a16:creationId xmlns:a16="http://schemas.microsoft.com/office/drawing/2014/main" id="{F1C7BA65-22CD-4700-A467-2441BBD4CECA}"/>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16">
            <a:extLst xmlns:a="http://schemas.openxmlformats.org/drawingml/2006/main">
              <a:ext uri="{FF2B5EF4-FFF2-40B4-BE49-F238E27FC236}">
                <a16:creationId xmlns:a16="http://schemas.microsoft.com/office/drawing/2014/main" id="{62A2B6DD-9B2B-4258-BD2D-E116401F3CEF}"/>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22</a:t>
            </a:r>
          </a:p>
        </p:txBody>
      </p:sp>
      <p:sp>
        <p:nvSpPr>
          <p:cNvPr id="5" name="Struktur perlu dibaca bersama screenshot">
            <a:extLst xmlns:a="http://schemas.openxmlformats.org/drawingml/2006/main">
              <a:ext uri="{FF2B5EF4-FFF2-40B4-BE49-F238E27FC236}">
                <a16:creationId xmlns:a16="http://schemas.microsoft.com/office/drawing/2014/main" id="{7D0B888E-A135-4AC8-8CB5-1E6975F7C74A}"/>
              </a:ext>
            </a:extLst>
          </p:cNvPr>
          <p:cNvSpPr>
            <a:spLocks xmlns:a="http://schemas.openxmlformats.org/drawingml/2006/main" noGrp="1"/>
          </p:cNvSpPr>
          <p:nvPr/>
        </p:nvSpPr>
        <p:spPr>
          <a:xfrm xmlns:a="http://schemas.openxmlformats.org/drawingml/2006/main">
            <a:off x="762000" y="2133600"/>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007F79"/>
                </a:solidFill>
                <a:latin typeface="Arial"/>
                <a:ea typeface="Arial"/>
                <a:cs typeface="Arial"/>
              </a:defRPr>
            </a:pPr>
            <a:r>
              <a:rPr sz="2400" b="1">
                <a:solidFill>
                  <a:srgbClr val="007F79"/>
                </a:solidFill>
                <a:latin typeface="Arial"/>
                <a:ea typeface="Arial"/>
                <a:cs typeface="Arial"/>
              </a:rPr>
              <a:t>Struktur perlu dibaca bersama screenshot</a:t>
            </a:r>
          </a:p>
        </p:txBody>
      </p:sp>
      <p:sp>
        <p:nvSpPr>
          <p:cNvPr id="6" name="Section, scroll area, bottom navigation, dan reusable card m">
            <a:extLst xmlns:a="http://schemas.openxmlformats.org/drawingml/2006/main">
              <a:ext uri="{FF2B5EF4-FFF2-40B4-BE49-F238E27FC236}">
                <a16:creationId xmlns:a16="http://schemas.microsoft.com/office/drawing/2014/main" id="{EBEF9634-283F-4466-9D0C-540E36BF381E}"/>
              </a:ext>
            </a:extLst>
          </p:cNvPr>
          <p:cNvSpPr>
            <a:spLocks xmlns:a="http://schemas.openxmlformats.org/drawingml/2006/main" noGrp="1"/>
          </p:cNvSpPr>
          <p:nvPr/>
        </p:nvSpPr>
        <p:spPr>
          <a:xfrm xmlns:a="http://schemas.openxmlformats.org/drawingml/2006/main">
            <a:off x="762000" y="2676525"/>
            <a:ext cx="1314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C31"/>
                </a:solidFill>
                <a:latin typeface="Arial"/>
                <a:ea typeface="Arial"/>
                <a:cs typeface="Arial"/>
              </a:defRPr>
            </a:pPr>
            <a:r>
              <a:rPr sz="2100" b="0">
                <a:solidFill>
                  <a:srgbClr val="142C31"/>
                </a:solidFill>
                <a:latin typeface="Arial"/>
                <a:ea typeface="Arial"/>
                <a:cs typeface="Arial"/>
              </a:rPr>
              <a:t>Section, scroll area, bottom navigation, dan reusable card menentukan bagaimana developer melanjutkan pengembangan layar.</a:t>
            </a:r>
          </a:p>
        </p:txBody>
      </p:sp>
      <p:sp>
        <p:nvSpPr>
          <p:cNvPr id="7" name="Penyelesaian layar mencakup komposisi data">
            <a:extLst xmlns:a="http://schemas.openxmlformats.org/drawingml/2006/main">
              <a:ext uri="{FF2B5EF4-FFF2-40B4-BE49-F238E27FC236}">
                <a16:creationId xmlns:a16="http://schemas.microsoft.com/office/drawing/2014/main" id="{11101503-277D-46E6-A9C5-53613FFC8622}"/>
              </a:ext>
            </a:extLst>
          </p:cNvPr>
          <p:cNvSpPr>
            <a:spLocks xmlns:a="http://schemas.openxmlformats.org/drawingml/2006/main" noGrp="1"/>
          </p:cNvSpPr>
          <p:nvPr/>
        </p:nvSpPr>
        <p:spPr>
          <a:xfrm xmlns:a="http://schemas.openxmlformats.org/drawingml/2006/main">
            <a:off x="762000" y="4000500"/>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007F79"/>
                </a:solidFill>
                <a:latin typeface="Arial"/>
                <a:ea typeface="Arial"/>
                <a:cs typeface="Arial"/>
              </a:defRPr>
            </a:pPr>
            <a:r>
              <a:rPr sz="2400" b="1">
                <a:solidFill>
                  <a:srgbClr val="007F79"/>
                </a:solidFill>
                <a:latin typeface="Arial"/>
                <a:ea typeface="Arial"/>
                <a:cs typeface="Arial"/>
              </a:rPr>
              <a:t>Penyelesaian layar mencakup komposisi data</a:t>
            </a:r>
          </a:p>
        </p:txBody>
      </p:sp>
      <p:sp>
        <p:nvSpPr>
          <p:cNvPr id="8" name="Untuk demo yang meminta data contoh, page perlu memuat card ">
            <a:extLst xmlns:a="http://schemas.openxmlformats.org/drawingml/2006/main">
              <a:ext uri="{FF2B5EF4-FFF2-40B4-BE49-F238E27FC236}">
                <a16:creationId xmlns:a16="http://schemas.microsoft.com/office/drawing/2014/main" id="{BDA5B7C1-E14C-4483-9872-F4F0FB4D10A8}"/>
              </a:ext>
            </a:extLst>
          </p:cNvPr>
          <p:cNvSpPr>
            <a:spLocks xmlns:a="http://schemas.openxmlformats.org/drawingml/2006/main" noGrp="1"/>
          </p:cNvSpPr>
          <p:nvPr/>
        </p:nvSpPr>
        <p:spPr>
          <a:xfrm xmlns:a="http://schemas.openxmlformats.org/drawingml/2006/main">
            <a:off x="762000" y="4543425"/>
            <a:ext cx="1314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C31"/>
                </a:solidFill>
                <a:latin typeface="Arial"/>
                <a:ea typeface="Arial"/>
                <a:cs typeface="Arial"/>
              </a:defRPr>
            </a:pPr>
            <a:r>
              <a:rPr sz="2100" b="0">
                <a:solidFill>
                  <a:srgbClr val="142C31"/>
                </a:solidFill>
                <a:latin typeface="Arial"/>
                <a:ea typeface="Arial"/>
                <a:cs typeface="Arial"/>
              </a:rPr>
              <a:t>Untuk demo yang meminta data contoh, page perlu memuat card yang sudah dibuat agar hasil dapat ditinjau secara utuh.</a:t>
            </a:r>
          </a:p>
        </p:txBody>
      </p:sp>
      <p:sp>
        <p:nvSpPr>
          <p:cNvPr id="9" name="Waktu memberi konteks pada workflow">
            <a:extLst xmlns:a="http://schemas.openxmlformats.org/drawingml/2006/main">
              <a:ext uri="{FF2B5EF4-FFF2-40B4-BE49-F238E27FC236}">
                <a16:creationId xmlns:a16="http://schemas.microsoft.com/office/drawing/2014/main" id="{4091F3C5-8148-47A4-9D69-DDFFE81F862C}"/>
              </a:ext>
            </a:extLst>
          </p:cNvPr>
          <p:cNvSpPr>
            <a:spLocks xmlns:a="http://schemas.openxmlformats.org/drawingml/2006/main" noGrp="1"/>
          </p:cNvSpPr>
          <p:nvPr/>
        </p:nvSpPr>
        <p:spPr>
          <a:xfrm xmlns:a="http://schemas.openxmlformats.org/drawingml/2006/main">
            <a:off x="762000" y="5867400"/>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1">
                <a:solidFill>
                  <a:srgbClr val="007F79"/>
                </a:solidFill>
                <a:latin typeface="Arial"/>
                <a:ea typeface="Arial"/>
                <a:cs typeface="Arial"/>
              </a:defRPr>
            </a:pPr>
            <a:r>
              <a:rPr sz="2400" b="1">
                <a:solidFill>
                  <a:srgbClr val="007F79"/>
                </a:solidFill>
                <a:latin typeface="Arial"/>
                <a:ea typeface="Arial"/>
                <a:cs typeface="Arial"/>
              </a:rPr>
              <a:t>Waktu memberi konteks pada workflow</a:t>
            </a:r>
          </a:p>
        </p:txBody>
      </p:sp>
      <p:sp>
        <p:nvSpPr>
          <p:cNvPr id="10" name="Durasi membantu memilih jalur kerja. Kualitas maintenance, c">
            <a:extLst xmlns:a="http://schemas.openxmlformats.org/drawingml/2006/main">
              <a:ext uri="{FF2B5EF4-FFF2-40B4-BE49-F238E27FC236}">
                <a16:creationId xmlns:a16="http://schemas.microsoft.com/office/drawing/2014/main" id="{ABC9ACBB-041A-4960-8651-4298EFD6338D}"/>
              </a:ext>
            </a:extLst>
          </p:cNvPr>
          <p:cNvSpPr>
            <a:spLocks xmlns:a="http://schemas.openxmlformats.org/drawingml/2006/main" noGrp="1"/>
          </p:cNvSpPr>
          <p:nvPr/>
        </p:nvSpPr>
        <p:spPr>
          <a:xfrm xmlns:a="http://schemas.openxmlformats.org/drawingml/2006/main">
            <a:off x="762000" y="6410325"/>
            <a:ext cx="1314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00" b="0">
                <a:solidFill>
                  <a:srgbClr val="142C31"/>
                </a:solidFill>
                <a:latin typeface="Arial"/>
                <a:ea typeface="Arial"/>
                <a:cs typeface="Arial"/>
              </a:defRPr>
            </a:pPr>
            <a:r>
              <a:rPr sz="2100" b="0">
                <a:solidFill>
                  <a:srgbClr val="142C31"/>
                </a:solidFill>
                <a:latin typeface="Arial"/>
                <a:ea typeface="Arial"/>
                <a:cs typeface="Arial"/>
              </a:rPr>
              <a:t>Durasi membantu memilih jalur kerja. Kualitas maintenance, callback, API, dan perilaku device memerlukan pemeriksaan tambahan.</a:t>
            </a:r>
          </a:p>
        </p:txBody>
      </p:sp>
    </p:spTree>
    <p:extLst>
      <p:ext uri="{BB962C8B-B14F-4D97-AF65-F5344CB8AC3E}">
        <p14:creationId xmlns:p14="http://schemas.microsoft.com/office/powerpoint/2010/main" val="205434429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esimpulan struktur dan warna">
            <a:extLst xmlns:a="http://schemas.openxmlformats.org/drawingml/2006/main">
              <a:ext uri="{FF2B5EF4-FFF2-40B4-BE49-F238E27FC236}">
                <a16:creationId xmlns:a16="http://schemas.microsoft.com/office/drawing/2014/main" id="{19416068-7A83-41F5-9710-FDA77BE995BE}"/>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Kesimpulan struktur dan warna</a:t>
            </a:r>
          </a:p>
        </p:txBody>
      </p:sp>
      <p:sp>
        <p:nvSpPr>
          <p:cNvPr id="2" name="Penilaian author berdasarkan hasil keempat metode dalam eksp">
            <a:extLst xmlns:a="http://schemas.openxmlformats.org/drawingml/2006/main">
              <a:ext uri="{FF2B5EF4-FFF2-40B4-BE49-F238E27FC236}">
                <a16:creationId xmlns:a16="http://schemas.microsoft.com/office/drawing/2014/main" id="{80BB4A43-3326-4E02-BDC9-EA83498F8F2E}"/>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Penilaian author berdasarkan hasil keempat metode dalam eksperimen ini</a:t>
            </a:r>
          </a:p>
        </p:txBody>
      </p:sp>
      <p:sp>
        <p:nvSpPr>
          <p:cNvPr id="3" name="HTML-FMX  /  V2 healthcare study">
            <a:extLst xmlns:a="http://schemas.openxmlformats.org/drawingml/2006/main">
              <a:ext uri="{FF2B5EF4-FFF2-40B4-BE49-F238E27FC236}">
                <a16:creationId xmlns:a16="http://schemas.microsoft.com/office/drawing/2014/main" id="{7D91918C-6C66-42A4-854D-A7B1C1DB1964}"/>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Sekitar 90%">
            <a:extLst xmlns:a="http://schemas.openxmlformats.org/drawingml/2006/main">
              <a:ext uri="{FF2B5EF4-FFF2-40B4-BE49-F238E27FC236}">
                <a16:creationId xmlns:a16="http://schemas.microsoft.com/office/drawing/2014/main" id="{F1682F03-0611-4C2F-8F1B-B8336412B85A}"/>
              </a:ext>
            </a:extLst>
          </p:cNvPr>
          <p:cNvSpPr>
            <a:spLocks xmlns:a="http://schemas.openxmlformats.org/drawingml/2006/main" noGrp="1"/>
          </p:cNvSpPr>
          <p:nvPr/>
        </p:nvSpPr>
        <p:spPr>
          <a:xfrm xmlns:a="http://schemas.openxmlformats.org/drawingml/2006/main">
            <a:off x="762000" y="242887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850" b="1">
                <a:solidFill>
                  <a:srgbClr val="007F79"/>
                </a:solidFill>
                <a:latin typeface="Arial"/>
                <a:ea typeface="Arial"/>
                <a:cs typeface="Arial"/>
              </a:defRPr>
            </a:pPr>
            <a:r>
              <a:rPr sz="5850" b="1">
                <a:solidFill>
                  <a:srgbClr val="007F79"/>
                </a:solidFill>
                <a:latin typeface="Arial"/>
                <a:ea typeface="Arial"/>
                <a:cs typeface="Arial"/>
              </a:rPr>
              <a:t>Sekitar 90%</a:t>
            </a:r>
          </a:p>
        </p:txBody>
      </p:sp>
      <p:sp>
        <p:nvSpPr>
          <p:cNvPr id="5" name="kemiripan hierarki komponen&#10;secara keseluruhan">
            <a:extLst xmlns:a="http://schemas.openxmlformats.org/drawingml/2006/main">
              <a:ext uri="{FF2B5EF4-FFF2-40B4-BE49-F238E27FC236}">
                <a16:creationId xmlns:a16="http://schemas.microsoft.com/office/drawing/2014/main" id="{EACD3264-77B9-47FA-822E-A2C6B0D4E8DC}"/>
              </a:ext>
            </a:extLst>
          </p:cNvPr>
          <p:cNvSpPr>
            <a:spLocks xmlns:a="http://schemas.openxmlformats.org/drawingml/2006/main" noGrp="1"/>
          </p:cNvSpPr>
          <p:nvPr/>
        </p:nvSpPr>
        <p:spPr>
          <a:xfrm xmlns:a="http://schemas.openxmlformats.org/drawingml/2006/main">
            <a:off x="762000" y="3619500"/>
            <a:ext cx="5429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142C31"/>
                </a:solidFill>
                <a:latin typeface="Arial"/>
                <a:ea typeface="Arial"/>
                <a:cs typeface="Arial"/>
              </a:defRPr>
            </a:pPr>
            <a:r>
              <a:rPr sz="2550" b="1">
                <a:solidFill>
                  <a:srgbClr val="142C31"/>
                </a:solidFill>
                <a:latin typeface="Arial"/>
                <a:ea typeface="Arial"/>
                <a:cs typeface="Arial"/>
              </a:rPr>
              <a:t>kemiripan hierarki komponen</a:t>
            </a:r>
          </a:p>
          <a:p xmlns:a="http://schemas.openxmlformats.org/drawingml/2006/main">
            <a:pPr>
              <a:buNone/>
              <a:defRPr sz="2550" b="1">
                <a:solidFill>
                  <a:srgbClr val="142C31"/>
                </a:solidFill>
                <a:latin typeface="Arial"/>
                <a:ea typeface="Arial"/>
                <a:cs typeface="Arial"/>
              </a:defRPr>
            </a:pPr>
            <a:r>
              <a:rPr sz="2550" b="1">
                <a:solidFill>
                  <a:srgbClr val="142C31"/>
                </a:solidFill>
                <a:latin typeface="Arial"/>
                <a:ea typeface="Arial"/>
                <a:cs typeface="Arial"/>
              </a:rPr>
              <a:t>secara keseluruhan</a:t>
            </a:r>
          </a:p>
        </p:txBody>
      </p:sp>
      <p:sp>
        <p:nvSpPr>
          <p:cNvPr id="6" name="Estimasi author dari peninjauan hasil.">
            <a:extLst xmlns:a="http://schemas.openxmlformats.org/drawingml/2006/main">
              <a:ext uri="{FF2B5EF4-FFF2-40B4-BE49-F238E27FC236}">
                <a16:creationId xmlns:a16="http://schemas.microsoft.com/office/drawing/2014/main" id="{D4DA94CC-C062-4522-9593-BDAC64F04442}"/>
              </a:ext>
            </a:extLst>
          </p:cNvPr>
          <p:cNvSpPr>
            <a:spLocks xmlns:a="http://schemas.openxmlformats.org/drawingml/2006/main" noGrp="1"/>
          </p:cNvSpPr>
          <p:nvPr/>
        </p:nvSpPr>
        <p:spPr>
          <a:xfrm xmlns:a="http://schemas.openxmlformats.org/drawingml/2006/main">
            <a:off x="762000" y="5286375"/>
            <a:ext cx="5381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Estimasi author dari peninjauan hasil.</a:t>
            </a:r>
          </a:p>
        </p:txBody>
      </p:sp>
      <p:sp>
        <p:nvSpPr>
          <p:cNvPr id="7" name="Hierarki komponen hampir sama">
            <a:extLst xmlns:a="http://schemas.openxmlformats.org/drawingml/2006/main">
              <a:ext uri="{FF2B5EF4-FFF2-40B4-BE49-F238E27FC236}">
                <a16:creationId xmlns:a16="http://schemas.microsoft.com/office/drawing/2014/main" id="{971718F0-97DF-49C6-92C3-9B237EC95B27}"/>
              </a:ext>
            </a:extLst>
          </p:cNvPr>
          <p:cNvSpPr>
            <a:spLocks xmlns:a="http://schemas.openxmlformats.org/drawingml/2006/main" noGrp="1"/>
          </p:cNvSpPr>
          <p:nvPr/>
        </p:nvSpPr>
        <p:spPr>
          <a:xfrm xmlns:a="http://schemas.openxmlformats.org/drawingml/2006/main">
            <a:off x="6667500" y="2095500"/>
            <a:ext cx="7762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07F79"/>
                </a:solidFill>
                <a:latin typeface="Arial"/>
                <a:ea typeface="Arial"/>
                <a:cs typeface="Arial"/>
              </a:defRPr>
            </a:pPr>
            <a:r>
              <a:rPr sz="2550" b="1">
                <a:solidFill>
                  <a:srgbClr val="007F79"/>
                </a:solidFill>
                <a:latin typeface="Arial"/>
                <a:ea typeface="Arial"/>
                <a:cs typeface="Arial"/>
              </a:rPr>
              <a:t>Hierarki komponen hampir sama</a:t>
            </a:r>
          </a:p>
        </p:txBody>
      </p:sp>
      <p:sp>
        <p:nvSpPr>
          <p:cNvPr id="8" name="Perbedaan paling terlihat pada kematangan visual, kelengkapa">
            <a:extLst xmlns:a="http://schemas.openxmlformats.org/drawingml/2006/main">
              <a:ext uri="{FF2B5EF4-FFF2-40B4-BE49-F238E27FC236}">
                <a16:creationId xmlns:a16="http://schemas.microsoft.com/office/drawing/2014/main" id="{6B22146B-9214-439C-8F41-99D649811EC9}"/>
              </a:ext>
            </a:extLst>
          </p:cNvPr>
          <p:cNvSpPr>
            <a:spLocks xmlns:a="http://schemas.openxmlformats.org/drawingml/2006/main" noGrp="1"/>
          </p:cNvSpPr>
          <p:nvPr/>
        </p:nvSpPr>
        <p:spPr>
          <a:xfrm xmlns:a="http://schemas.openxmlformats.org/drawingml/2006/main">
            <a:off x="6667500" y="3048000"/>
            <a:ext cx="7572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142C31"/>
                </a:solidFill>
                <a:latin typeface="Arial"/>
                <a:ea typeface="Arial"/>
                <a:cs typeface="Arial"/>
              </a:defRPr>
            </a:pPr>
            <a:r>
              <a:rPr sz="2250" b="0">
                <a:solidFill>
                  <a:srgbClr val="142C31"/>
                </a:solidFill>
                <a:latin typeface="Arial"/>
                <a:ea typeface="Arial"/>
                <a:cs typeface="Arial"/>
              </a:rPr>
              <a:t>Perbedaan paling terlihat pada kematangan visual, kelengkapan aset, dan waktu pengerjaan.</a:t>
            </a:r>
          </a:p>
        </p:txBody>
      </p:sp>
      <p:sp>
        <p:nvSpPr>
          <p:cNvPr id="9" name="Kepatuhan warna pada DESIGN.md">
            <a:extLst xmlns:a="http://schemas.openxmlformats.org/drawingml/2006/main">
              <a:ext uri="{FF2B5EF4-FFF2-40B4-BE49-F238E27FC236}">
                <a16:creationId xmlns:a16="http://schemas.microsoft.com/office/drawing/2014/main" id="{B0F92A4B-6B2B-4A58-9EAA-2CA056F04E13}"/>
              </a:ext>
            </a:extLst>
          </p:cNvPr>
          <p:cNvSpPr>
            <a:spLocks xmlns:a="http://schemas.openxmlformats.org/drawingml/2006/main" noGrp="1"/>
          </p:cNvSpPr>
          <p:nvPr/>
        </p:nvSpPr>
        <p:spPr>
          <a:xfrm xmlns:a="http://schemas.openxmlformats.org/drawingml/2006/main">
            <a:off x="6667500" y="4762500"/>
            <a:ext cx="757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550" b="1">
                <a:solidFill>
                  <a:srgbClr val="007F79"/>
                </a:solidFill>
                <a:latin typeface="Arial"/>
                <a:ea typeface="Arial"/>
                <a:cs typeface="Arial"/>
              </a:defRPr>
            </a:pPr>
            <a:r>
              <a:rPr sz="2550" b="1">
                <a:solidFill>
                  <a:srgbClr val="007F79"/>
                </a:solidFill>
                <a:latin typeface="Arial"/>
                <a:ea typeface="Arial"/>
                <a:cs typeface="Arial"/>
              </a:rPr>
              <a:t>Kepatuhan warna pada DESIGN.md</a:t>
            </a:r>
          </a:p>
        </p:txBody>
      </p:sp>
      <p:sp>
        <p:nvSpPr>
          <p:cNvPr id="10" name="Metode 1, 2, dan 3 mengikuti aturan warna. Metode 4 memakai ">
            <a:extLst xmlns:a="http://schemas.openxmlformats.org/drawingml/2006/main">
              <a:ext uri="{FF2B5EF4-FFF2-40B4-BE49-F238E27FC236}">
                <a16:creationId xmlns:a16="http://schemas.microsoft.com/office/drawing/2014/main" id="{319CD072-770A-4615-BBA3-17D22F269854}"/>
              </a:ext>
            </a:extLst>
          </p:cNvPr>
          <p:cNvSpPr>
            <a:spLocks xmlns:a="http://schemas.openxmlformats.org/drawingml/2006/main" noGrp="1"/>
          </p:cNvSpPr>
          <p:nvPr/>
        </p:nvSpPr>
        <p:spPr>
          <a:xfrm xmlns:a="http://schemas.openxmlformats.org/drawingml/2006/main">
            <a:off x="6667500" y="5391150"/>
            <a:ext cx="757237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Metode 1, 2, dan 3 mengikuti aturan warna. Metode 4 memakai palet berbeda. Prompt pembuatan HTML tidak menyebut DESIGN.md secara eksplisit.</a:t>
            </a:r>
          </a:p>
        </p:txBody>
      </p:sp>
      <p:sp>
        <p:nvSpPr>
          <p:cNvPr id="11" name="Penilaian ini berlaku untuk eksperimen yang dicatat.">
            <a:extLst xmlns:a="http://schemas.openxmlformats.org/drawingml/2006/main">
              <a:ext uri="{FF2B5EF4-FFF2-40B4-BE49-F238E27FC236}">
                <a16:creationId xmlns:a16="http://schemas.microsoft.com/office/drawing/2014/main" id="{4B35CB75-61D8-4560-AEB9-5376AFADA4CC}"/>
              </a:ext>
            </a:extLst>
          </p:cNvPr>
          <p:cNvSpPr>
            <a:spLocks xmlns:a="http://schemas.openxmlformats.org/drawingml/2006/main" noGrp="1"/>
          </p:cNvSpPr>
          <p:nvPr/>
        </p:nvSpPr>
        <p:spPr>
          <a:xfrm xmlns:a="http://schemas.openxmlformats.org/drawingml/2006/main">
            <a:off x="762000" y="7543800"/>
            <a:ext cx="1343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Penilaian ini berlaku untuk eksperimen yang dicatat.</a:t>
            </a:r>
          </a:p>
        </p:txBody>
      </p:sp>
      <p:sp>
        <p:nvSpPr>
          <p:cNvPr id="12" name="17">
            <a:extLst xmlns:a="http://schemas.openxmlformats.org/drawingml/2006/main">
              <a:ext uri="{FF2B5EF4-FFF2-40B4-BE49-F238E27FC236}">
                <a16:creationId xmlns:a16="http://schemas.microsoft.com/office/drawing/2014/main" id="{D66D64C9-947B-42CC-8496-102DD1B4433E}"/>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23</a:t>
            </a:r>
          </a:p>
        </p:txBody>
      </p:sp>
    </p:spTree>
    <p:extLst>
      <p:ext uri="{BB962C8B-B14F-4D97-AF65-F5344CB8AC3E}">
        <p14:creationId xmlns:p14="http://schemas.microsoft.com/office/powerpoint/2010/main" val="61151446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valuasi Metode 1 dan 2">
            <a:extLst xmlns:a="http://schemas.openxmlformats.org/drawingml/2006/main">
              <a:ext uri="{FF2B5EF4-FFF2-40B4-BE49-F238E27FC236}">
                <a16:creationId xmlns:a16="http://schemas.microsoft.com/office/drawing/2014/main" id="{C28FB685-51B6-4595-B3D1-CB2D8DB50927}"/>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Evaluasi Metode 1 dan 2</a:t>
            </a:r>
          </a:p>
        </p:txBody>
      </p:sp>
      <p:sp>
        <p:nvSpPr>
          <p:cNvPr id="2" name="Waktu total termasuk implementasi card dan pengisian data du">
            <a:extLst xmlns:a="http://schemas.openxmlformats.org/drawingml/2006/main">
              <a:ext uri="{FF2B5EF4-FFF2-40B4-BE49-F238E27FC236}">
                <a16:creationId xmlns:a16="http://schemas.microsoft.com/office/drawing/2014/main" id="{E7A50C17-087D-4590-A199-A2A005DFA91C}"/>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Waktu total termasuk implementasi card dan pengisian data dummy</a:t>
            </a:r>
          </a:p>
        </p:txBody>
      </p:sp>
      <p:sp>
        <p:nvSpPr>
          <p:cNvPr id="3" name="HTML-FMX  /  V2 healthcare study">
            <a:extLst xmlns:a="http://schemas.openxmlformats.org/drawingml/2006/main">
              <a:ext uri="{FF2B5EF4-FFF2-40B4-BE49-F238E27FC236}">
                <a16:creationId xmlns:a16="http://schemas.microsoft.com/office/drawing/2014/main" id="{AF82CBF6-5075-4B16-853B-966B8790CEDB}"/>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Metode 1: Google Stitch + HTML">
            <a:extLst xmlns:a="http://schemas.openxmlformats.org/drawingml/2006/main">
              <a:ext uri="{FF2B5EF4-FFF2-40B4-BE49-F238E27FC236}">
                <a16:creationId xmlns:a16="http://schemas.microsoft.com/office/drawing/2014/main" id="{8516C970-3B3A-4DC6-A1A8-884F438AF2A3}"/>
              </a:ext>
            </a:extLst>
          </p:cNvPr>
          <p:cNvSpPr>
            <a:spLocks xmlns:a="http://schemas.openxmlformats.org/drawingml/2006/main" noGrp="1"/>
          </p:cNvSpPr>
          <p:nvPr/>
        </p:nvSpPr>
        <p:spPr>
          <a:xfrm xmlns:a="http://schemas.openxmlformats.org/drawingml/2006/main">
            <a:off x="762000" y="2124075"/>
            <a:ext cx="6334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07F79"/>
                </a:solidFill>
                <a:latin typeface="Arial"/>
                <a:ea typeface="Arial"/>
                <a:cs typeface="Arial"/>
              </a:defRPr>
            </a:pPr>
            <a:r>
              <a:rPr sz="2625" b="1">
                <a:solidFill>
                  <a:srgbClr val="007F79"/>
                </a:solidFill>
                <a:latin typeface="Arial"/>
                <a:ea typeface="Arial"/>
                <a:cs typeface="Arial"/>
              </a:rPr>
              <a:t>Metode 1: Google Stitch + HTML</a:t>
            </a:r>
          </a:p>
        </p:txBody>
      </p:sp>
      <p:sp>
        <p:nvSpPr>
          <p:cNvPr id="5" name="38m 55s">
            <a:extLst xmlns:a="http://schemas.openxmlformats.org/drawingml/2006/main">
              <a:ext uri="{FF2B5EF4-FFF2-40B4-BE49-F238E27FC236}">
                <a16:creationId xmlns:a16="http://schemas.microsoft.com/office/drawing/2014/main" id="{E98D6577-5C69-4387-9528-EEB32D238245}"/>
              </a:ext>
            </a:extLst>
          </p:cNvPr>
          <p:cNvSpPr>
            <a:spLocks xmlns:a="http://schemas.openxmlformats.org/drawingml/2006/main" noGrp="1"/>
          </p:cNvSpPr>
          <p:nvPr/>
        </p:nvSpPr>
        <p:spPr>
          <a:xfrm xmlns:a="http://schemas.openxmlformats.org/drawingml/2006/main">
            <a:off x="762000" y="3333750"/>
            <a:ext cx="6334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900" b="1">
                <a:solidFill>
                  <a:srgbClr val="142C31"/>
                </a:solidFill>
                <a:latin typeface="Arial"/>
                <a:ea typeface="Arial"/>
                <a:cs typeface="Arial"/>
              </a:defRPr>
            </a:pPr>
            <a:r>
              <a:rPr sz="3900" b="1">
                <a:solidFill>
                  <a:srgbClr val="142C31"/>
                </a:solidFill>
                <a:latin typeface="Arial"/>
                <a:ea typeface="Arial"/>
                <a:cs typeface="Arial"/>
              </a:rPr>
              <a:t>38m 55s</a:t>
            </a:r>
          </a:p>
        </p:txBody>
      </p:sp>
      <p:sp>
        <p:nvSpPr>
          <p:cNvPr id="6" name="Urutan ke-3 tercepat">
            <a:extLst xmlns:a="http://schemas.openxmlformats.org/drawingml/2006/main">
              <a:ext uri="{FF2B5EF4-FFF2-40B4-BE49-F238E27FC236}">
                <a16:creationId xmlns:a16="http://schemas.microsoft.com/office/drawing/2014/main" id="{E638A3BB-8CF8-4F49-AE05-411CD1E01608}"/>
              </a:ext>
            </a:extLst>
          </p:cNvPr>
          <p:cNvSpPr>
            <a:spLocks xmlns:a="http://schemas.openxmlformats.org/drawingml/2006/main" noGrp="1"/>
          </p:cNvSpPr>
          <p:nvPr/>
        </p:nvSpPr>
        <p:spPr>
          <a:xfrm xmlns:a="http://schemas.openxmlformats.org/drawingml/2006/main">
            <a:off x="762000" y="4095750"/>
            <a:ext cx="6334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66B70"/>
                </a:solidFill>
                <a:latin typeface="Arial"/>
                <a:ea typeface="Arial"/>
                <a:cs typeface="Arial"/>
              </a:defRPr>
            </a:pPr>
            <a:r>
              <a:rPr sz="2025" b="0">
                <a:solidFill>
                  <a:srgbClr val="566B70"/>
                </a:solidFill>
                <a:latin typeface="Arial"/>
                <a:ea typeface="Arial"/>
                <a:cs typeface="Arial"/>
              </a:rPr>
              <a:t>Urutan ke-3 tercepat</a:t>
            </a:r>
          </a:p>
        </p:txBody>
      </p:sp>
      <p:sp>
        <p:nvSpPr>
          <p:cNvPr id="7" name="Visual lebih matang dengan aset yang lebih lengkap. Pengelom">
            <a:extLst xmlns:a="http://schemas.openxmlformats.org/drawingml/2006/main">
              <a:ext uri="{FF2B5EF4-FFF2-40B4-BE49-F238E27FC236}">
                <a16:creationId xmlns:a16="http://schemas.microsoft.com/office/drawing/2014/main" id="{BC5EA5CD-E863-4BB5-8986-73D8DCC2172F}"/>
              </a:ext>
            </a:extLst>
          </p:cNvPr>
          <p:cNvSpPr>
            <a:spLocks xmlns:a="http://schemas.openxmlformats.org/drawingml/2006/main" noGrp="1"/>
          </p:cNvSpPr>
          <p:nvPr/>
        </p:nvSpPr>
        <p:spPr>
          <a:xfrm xmlns:a="http://schemas.openxmlformats.org/drawingml/2006/main">
            <a:off x="762000" y="4714875"/>
            <a:ext cx="63341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Visual lebih matang dengan aset yang lebih lengkap. Pengelompokan visual rapi dan hasil sesuai wireframe.</a:t>
            </a:r>
          </a:p>
        </p:txBody>
      </p:sp>
      <p:sp>
        <p:nvSpPr>
          <p:cNvPr id="8" name="Warna mengikuti DESIGN.md.">
            <a:extLst xmlns:a="http://schemas.openxmlformats.org/drawingml/2006/main">
              <a:ext uri="{FF2B5EF4-FFF2-40B4-BE49-F238E27FC236}">
                <a16:creationId xmlns:a16="http://schemas.microsoft.com/office/drawing/2014/main" id="{B2A95A82-BA25-4D52-ABFC-5A13FE3BC060}"/>
              </a:ext>
            </a:extLst>
          </p:cNvPr>
          <p:cNvSpPr>
            <a:spLocks xmlns:a="http://schemas.openxmlformats.org/drawingml/2006/main" noGrp="1"/>
          </p:cNvSpPr>
          <p:nvPr/>
        </p:nvSpPr>
        <p:spPr>
          <a:xfrm xmlns:a="http://schemas.openxmlformats.org/drawingml/2006/main">
            <a:off x="762000" y="6429375"/>
            <a:ext cx="6334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566B70"/>
                </a:solidFill>
                <a:latin typeface="Arial"/>
                <a:ea typeface="Arial"/>
                <a:cs typeface="Arial"/>
              </a:defRPr>
            </a:pPr>
            <a:r>
              <a:rPr sz="1950" b="0">
                <a:solidFill>
                  <a:srgbClr val="566B70"/>
                </a:solidFill>
                <a:latin typeface="Arial"/>
                <a:ea typeface="Arial"/>
                <a:cs typeface="Arial"/>
              </a:rPr>
              <a:t>Warna mengikuti DESIGN.md.</a:t>
            </a:r>
          </a:p>
        </p:txBody>
      </p:sp>
      <p:sp>
        <p:nvSpPr>
          <p:cNvPr id="9" name="Metode 2: Create UI langsung">
            <a:extLst xmlns:a="http://schemas.openxmlformats.org/drawingml/2006/main">
              <a:ext uri="{FF2B5EF4-FFF2-40B4-BE49-F238E27FC236}">
                <a16:creationId xmlns:a16="http://schemas.microsoft.com/office/drawing/2014/main" id="{CD2F9CD4-9E0B-4909-9E79-69C7DC8750BA}"/>
              </a:ext>
            </a:extLst>
          </p:cNvPr>
          <p:cNvSpPr>
            <a:spLocks xmlns:a="http://schemas.openxmlformats.org/drawingml/2006/main" noGrp="1"/>
          </p:cNvSpPr>
          <p:nvPr/>
        </p:nvSpPr>
        <p:spPr>
          <a:xfrm xmlns:a="http://schemas.openxmlformats.org/drawingml/2006/main">
            <a:off x="8096250" y="2124075"/>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07F79"/>
                </a:solidFill>
                <a:latin typeface="Arial"/>
                <a:ea typeface="Arial"/>
                <a:cs typeface="Arial"/>
              </a:defRPr>
            </a:pPr>
            <a:r>
              <a:rPr sz="2625" b="1">
                <a:solidFill>
                  <a:srgbClr val="007F79"/>
                </a:solidFill>
                <a:latin typeface="Arial"/>
                <a:ea typeface="Arial"/>
                <a:cs typeface="Arial"/>
              </a:rPr>
              <a:t>Metode 2: Create UI langsung</a:t>
            </a:r>
          </a:p>
        </p:txBody>
      </p:sp>
      <p:sp>
        <p:nvSpPr>
          <p:cNvPr id="10" name="25m 52s">
            <a:extLst xmlns:a="http://schemas.openxmlformats.org/drawingml/2006/main">
              <a:ext uri="{FF2B5EF4-FFF2-40B4-BE49-F238E27FC236}">
                <a16:creationId xmlns:a16="http://schemas.microsoft.com/office/drawing/2014/main" id="{4E18C2E3-184F-4182-81ED-F8CA9B66CE82}"/>
              </a:ext>
            </a:extLst>
          </p:cNvPr>
          <p:cNvSpPr>
            <a:spLocks xmlns:a="http://schemas.openxmlformats.org/drawingml/2006/main" noGrp="1"/>
          </p:cNvSpPr>
          <p:nvPr/>
        </p:nvSpPr>
        <p:spPr>
          <a:xfrm xmlns:a="http://schemas.openxmlformats.org/drawingml/2006/main">
            <a:off x="8096250" y="3333750"/>
            <a:ext cx="628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900" b="1">
                <a:solidFill>
                  <a:srgbClr val="142C31"/>
                </a:solidFill>
                <a:latin typeface="Arial"/>
                <a:ea typeface="Arial"/>
                <a:cs typeface="Arial"/>
              </a:defRPr>
            </a:pPr>
            <a:r>
              <a:rPr sz="3900" b="1">
                <a:solidFill>
                  <a:srgbClr val="142C31"/>
                </a:solidFill>
                <a:latin typeface="Arial"/>
                <a:ea typeface="Arial"/>
                <a:cs typeface="Arial"/>
              </a:rPr>
              <a:t>25m 52s</a:t>
            </a:r>
          </a:p>
        </p:txBody>
      </p:sp>
      <p:sp>
        <p:nvSpPr>
          <p:cNvPr id="11" name="Urutan ke-2 tercepat">
            <a:extLst xmlns:a="http://schemas.openxmlformats.org/drawingml/2006/main">
              <a:ext uri="{FF2B5EF4-FFF2-40B4-BE49-F238E27FC236}">
                <a16:creationId xmlns:a16="http://schemas.microsoft.com/office/drawing/2014/main" id="{8BE77BBA-87AC-4FAE-B691-6B277959C205}"/>
              </a:ext>
            </a:extLst>
          </p:cNvPr>
          <p:cNvSpPr>
            <a:spLocks xmlns:a="http://schemas.openxmlformats.org/drawingml/2006/main" noGrp="1"/>
          </p:cNvSpPr>
          <p:nvPr/>
        </p:nvSpPr>
        <p:spPr>
          <a:xfrm xmlns:a="http://schemas.openxmlformats.org/drawingml/2006/main">
            <a:off x="8096250" y="4095750"/>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66B70"/>
                </a:solidFill>
                <a:latin typeface="Arial"/>
                <a:ea typeface="Arial"/>
                <a:cs typeface="Arial"/>
              </a:defRPr>
            </a:pPr>
            <a:r>
              <a:rPr sz="2025" b="0">
                <a:solidFill>
                  <a:srgbClr val="566B70"/>
                </a:solidFill>
                <a:latin typeface="Arial"/>
                <a:ea typeface="Arial"/>
                <a:cs typeface="Arial"/>
              </a:rPr>
              <a:t>Urutan ke-2 tercepat</a:t>
            </a:r>
          </a:p>
        </p:txBody>
      </p:sp>
      <p:sp>
        <p:nvSpPr>
          <p:cNvPr id="12" name="Hasil sesuai wireframe, tetapi tampilan masih mentah seperti">
            <a:extLst xmlns:a="http://schemas.openxmlformats.org/drawingml/2006/main">
              <a:ext uri="{FF2B5EF4-FFF2-40B4-BE49-F238E27FC236}">
                <a16:creationId xmlns:a16="http://schemas.microsoft.com/office/drawing/2014/main" id="{794D41EC-3DC0-4E9E-A867-2D1D18525ED5}"/>
              </a:ext>
            </a:extLst>
          </p:cNvPr>
          <p:cNvSpPr>
            <a:spLocks xmlns:a="http://schemas.openxmlformats.org/drawingml/2006/main" noGrp="1"/>
          </p:cNvSpPr>
          <p:nvPr/>
        </p:nvSpPr>
        <p:spPr>
          <a:xfrm xmlns:a="http://schemas.openxmlformats.org/drawingml/2006/main">
            <a:off x="8096250" y="4714875"/>
            <a:ext cx="6286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Hasil sesuai wireframe, tetapi tampilan masih mentah seperti Metode 3. Menjadi dasar UI yang masih perlu dipoles.</a:t>
            </a:r>
          </a:p>
        </p:txBody>
      </p:sp>
      <p:sp>
        <p:nvSpPr>
          <p:cNvPr id="13" name="Warna mengikuti DESIGN.md. Tambahan card + dummy paling sing">
            <a:extLst xmlns:a="http://schemas.openxmlformats.org/drawingml/2006/main">
              <a:ext uri="{FF2B5EF4-FFF2-40B4-BE49-F238E27FC236}">
                <a16:creationId xmlns:a16="http://schemas.microsoft.com/office/drawing/2014/main" id="{5FDC1F1A-259B-46D6-BA68-FE1F6795B5C3}"/>
              </a:ext>
            </a:extLst>
          </p:cNvPr>
          <p:cNvSpPr>
            <a:spLocks xmlns:a="http://schemas.openxmlformats.org/drawingml/2006/main" noGrp="1"/>
          </p:cNvSpPr>
          <p:nvPr/>
        </p:nvSpPr>
        <p:spPr>
          <a:xfrm xmlns:a="http://schemas.openxmlformats.org/drawingml/2006/main">
            <a:off x="8096250" y="6429375"/>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566B70"/>
                </a:solidFill>
                <a:latin typeface="Arial"/>
                <a:ea typeface="Arial"/>
                <a:cs typeface="Arial"/>
              </a:defRPr>
            </a:pPr>
            <a:r>
              <a:rPr sz="1950" b="0">
                <a:solidFill>
                  <a:srgbClr val="566B70"/>
                </a:solidFill>
                <a:latin typeface="Arial"/>
                <a:ea typeface="Arial"/>
                <a:cs typeface="Arial"/>
              </a:rPr>
              <a:t>Warna mengikuti DESIGN.md. Tambahan card + dummy paling singkat: 2m 27s.</a:t>
            </a:r>
          </a:p>
        </p:txBody>
      </p:sp>
      <p:sp>
        <p:nvSpPr>
          <p:cNvPr id="14" name="Metode 1 lebih matang secara visual. Metode 2 lebih cepat, t">
            <a:extLst xmlns:a="http://schemas.openxmlformats.org/drawingml/2006/main">
              <a:ext uri="{FF2B5EF4-FFF2-40B4-BE49-F238E27FC236}">
                <a16:creationId xmlns:a16="http://schemas.microsoft.com/office/drawing/2014/main" id="{1FA2C55E-6C50-4CD9-BDA1-1CE815CD5B00}"/>
              </a:ext>
            </a:extLst>
          </p:cNvPr>
          <p:cNvSpPr>
            <a:spLocks xmlns:a="http://schemas.openxmlformats.org/drawingml/2006/main" noGrp="1"/>
          </p:cNvSpPr>
          <p:nvPr/>
        </p:nvSpPr>
        <p:spPr>
          <a:xfrm xmlns:a="http://schemas.openxmlformats.org/drawingml/2006/main">
            <a:off x="762000" y="7553325"/>
            <a:ext cx="13573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1">
                <a:solidFill>
                  <a:srgbClr val="007F79"/>
                </a:solidFill>
                <a:latin typeface="Arial"/>
                <a:ea typeface="Arial"/>
                <a:cs typeface="Arial"/>
              </a:defRPr>
            </a:pPr>
            <a:r>
              <a:rPr sz="1950" b="1">
                <a:solidFill>
                  <a:srgbClr val="007F79"/>
                </a:solidFill>
                <a:latin typeface="Arial"/>
                <a:ea typeface="Arial"/>
                <a:cs typeface="Arial"/>
              </a:rPr>
              <a:t>Metode 1 lebih matang secara visual. Metode 2 lebih cepat, tetapi masih perlu dipoles.</a:t>
            </a:r>
          </a:p>
        </p:txBody>
      </p:sp>
      <p:sp>
        <p:nvSpPr>
          <p:cNvPr id="15" name="18">
            <a:extLst xmlns:a="http://schemas.openxmlformats.org/drawingml/2006/main">
              <a:ext uri="{FF2B5EF4-FFF2-40B4-BE49-F238E27FC236}">
                <a16:creationId xmlns:a16="http://schemas.microsoft.com/office/drawing/2014/main" id="{EE531898-B22C-4A7F-889F-09AB6E3AC8AD}"/>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24</a:t>
            </a:r>
          </a:p>
        </p:txBody>
      </p:sp>
    </p:spTree>
    <p:extLst>
      <p:ext uri="{BB962C8B-B14F-4D97-AF65-F5344CB8AC3E}">
        <p14:creationId xmlns:p14="http://schemas.microsoft.com/office/powerpoint/2010/main" val="19352022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Evaluasi Metode 3 dan 4">
            <a:extLst xmlns:a="http://schemas.openxmlformats.org/drawingml/2006/main">
              <a:ext uri="{FF2B5EF4-FFF2-40B4-BE49-F238E27FC236}">
                <a16:creationId xmlns:a16="http://schemas.microsoft.com/office/drawing/2014/main" id="{F74A7D89-500D-407E-BAFD-7E3EF2121F2E}"/>
              </a:ext>
            </a:extLst>
          </p:cNvPr>
          <p:cNvSpPr>
            <a:spLocks xmlns:a="http://schemas.openxmlformats.org/drawingml/2006/main" noGrp="1"/>
          </p:cNvSpPr>
          <p:nvPr/>
        </p:nvSpPr>
        <p:spPr>
          <a:xfrm xmlns:a="http://schemas.openxmlformats.org/drawingml/2006/main">
            <a:off x="762000" y="476250"/>
            <a:ext cx="1366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142C31"/>
                </a:solidFill>
                <a:latin typeface="Arial"/>
                <a:ea typeface="Arial"/>
                <a:cs typeface="Arial"/>
              </a:defRPr>
            </a:pPr>
            <a:r>
              <a:rPr sz="3600" b="1">
                <a:solidFill>
                  <a:srgbClr val="142C31"/>
                </a:solidFill>
                <a:latin typeface="Arial"/>
                <a:ea typeface="Arial"/>
                <a:cs typeface="Arial"/>
              </a:rPr>
              <a:t>Evaluasi Metode 3 dan 4</a:t>
            </a:r>
          </a:p>
        </p:txBody>
      </p:sp>
      <p:sp>
        <p:nvSpPr>
          <p:cNvPr id="2" name="Waktu total termasuk implementasi card dan pengisian data du">
            <a:extLst xmlns:a="http://schemas.openxmlformats.org/drawingml/2006/main">
              <a:ext uri="{FF2B5EF4-FFF2-40B4-BE49-F238E27FC236}">
                <a16:creationId xmlns:a16="http://schemas.microsoft.com/office/drawing/2014/main" id="{D99673F8-515C-493D-974C-E30D4C8156F8}"/>
              </a:ext>
            </a:extLst>
          </p:cNvPr>
          <p:cNvSpPr>
            <a:spLocks xmlns:a="http://schemas.openxmlformats.org/drawingml/2006/main" noGrp="1"/>
          </p:cNvSpPr>
          <p:nvPr/>
        </p:nvSpPr>
        <p:spPr>
          <a:xfrm xmlns:a="http://schemas.openxmlformats.org/drawingml/2006/main">
            <a:off x="762000" y="1238250"/>
            <a:ext cx="1343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0">
                <a:solidFill>
                  <a:srgbClr val="566B70"/>
                </a:solidFill>
                <a:latin typeface="Arial"/>
                <a:ea typeface="Arial"/>
                <a:cs typeface="Arial"/>
              </a:defRPr>
            </a:pPr>
            <a:r>
              <a:rPr sz="1875" b="0">
                <a:solidFill>
                  <a:srgbClr val="566B70"/>
                </a:solidFill>
                <a:latin typeface="Arial"/>
                <a:ea typeface="Arial"/>
                <a:cs typeface="Arial"/>
              </a:rPr>
              <a:t>Waktu total termasuk implementasi card dan pengisian data dummy</a:t>
            </a:r>
          </a:p>
        </p:txBody>
      </p:sp>
      <p:sp>
        <p:nvSpPr>
          <p:cNvPr id="3" name="HTML-FMX  /  V2 healthcare study">
            <a:extLst xmlns:a="http://schemas.openxmlformats.org/drawingml/2006/main">
              <a:ext uri="{FF2B5EF4-FFF2-40B4-BE49-F238E27FC236}">
                <a16:creationId xmlns:a16="http://schemas.microsoft.com/office/drawing/2014/main" id="{BDE20A2E-573A-4B1C-B1E2-E40E0706601B}"/>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566B70"/>
                </a:solidFill>
                <a:latin typeface="Arial"/>
                <a:ea typeface="Arial"/>
                <a:cs typeface="Arial"/>
              </a:defRPr>
            </a:pPr>
            <a:r>
              <a:rPr sz="1200" b="0">
                <a:solidFill>
                  <a:srgbClr val="566B70"/>
                </a:solidFill>
                <a:latin typeface="Arial"/>
                <a:ea typeface="Arial"/>
                <a:cs typeface="Arial"/>
              </a:rPr>
              <a:t>HTML-FMX  /  V2 healthcare study</a:t>
            </a:r>
          </a:p>
        </p:txBody>
      </p:sp>
      <p:sp>
        <p:nvSpPr>
          <p:cNvPr id="4" name="Metode 3: Mapping terpisah">
            <a:extLst xmlns:a="http://schemas.openxmlformats.org/drawingml/2006/main">
              <a:ext uri="{FF2B5EF4-FFF2-40B4-BE49-F238E27FC236}">
                <a16:creationId xmlns:a16="http://schemas.microsoft.com/office/drawing/2014/main" id="{ACA385D9-7744-4376-BB6C-0FB4AAA02C02}"/>
              </a:ext>
            </a:extLst>
          </p:cNvPr>
          <p:cNvSpPr>
            <a:spLocks xmlns:a="http://schemas.openxmlformats.org/drawingml/2006/main" noGrp="1"/>
          </p:cNvSpPr>
          <p:nvPr/>
        </p:nvSpPr>
        <p:spPr>
          <a:xfrm xmlns:a="http://schemas.openxmlformats.org/drawingml/2006/main">
            <a:off x="762000" y="2124075"/>
            <a:ext cx="6334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07F79"/>
                </a:solidFill>
                <a:latin typeface="Arial"/>
                <a:ea typeface="Arial"/>
                <a:cs typeface="Arial"/>
              </a:defRPr>
            </a:pPr>
            <a:r>
              <a:rPr sz="2625" b="1">
                <a:solidFill>
                  <a:srgbClr val="007F79"/>
                </a:solidFill>
                <a:latin typeface="Arial"/>
                <a:ea typeface="Arial"/>
                <a:cs typeface="Arial"/>
              </a:rPr>
              <a:t>Metode 3: Mapping terpisah</a:t>
            </a:r>
          </a:p>
        </p:txBody>
      </p:sp>
      <p:sp>
        <p:nvSpPr>
          <p:cNvPr id="5" name="55m 22s">
            <a:extLst xmlns:a="http://schemas.openxmlformats.org/drawingml/2006/main">
              <a:ext uri="{FF2B5EF4-FFF2-40B4-BE49-F238E27FC236}">
                <a16:creationId xmlns:a16="http://schemas.microsoft.com/office/drawing/2014/main" id="{3E0F5CDC-838F-4A13-85C0-FFD5C058593D}"/>
              </a:ext>
            </a:extLst>
          </p:cNvPr>
          <p:cNvSpPr>
            <a:spLocks xmlns:a="http://schemas.openxmlformats.org/drawingml/2006/main" noGrp="1"/>
          </p:cNvSpPr>
          <p:nvPr/>
        </p:nvSpPr>
        <p:spPr>
          <a:xfrm xmlns:a="http://schemas.openxmlformats.org/drawingml/2006/main">
            <a:off x="762000" y="3333750"/>
            <a:ext cx="6334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900" b="1">
                <a:solidFill>
                  <a:srgbClr val="142C31"/>
                </a:solidFill>
                <a:latin typeface="Arial"/>
                <a:ea typeface="Arial"/>
                <a:cs typeface="Arial"/>
              </a:defRPr>
            </a:pPr>
            <a:r>
              <a:rPr sz="3900" b="1">
                <a:solidFill>
                  <a:srgbClr val="142C31"/>
                </a:solidFill>
                <a:latin typeface="Arial"/>
                <a:ea typeface="Arial"/>
                <a:cs typeface="Arial"/>
              </a:rPr>
              <a:t>55m 22s</a:t>
            </a:r>
          </a:p>
        </p:txBody>
      </p:sp>
      <p:sp>
        <p:nvSpPr>
          <p:cNvPr id="6" name="Waktu paling lama">
            <a:extLst xmlns:a="http://schemas.openxmlformats.org/drawingml/2006/main">
              <a:ext uri="{FF2B5EF4-FFF2-40B4-BE49-F238E27FC236}">
                <a16:creationId xmlns:a16="http://schemas.microsoft.com/office/drawing/2014/main" id="{902A6D29-9E5D-4B42-889D-D45180175C11}"/>
              </a:ext>
            </a:extLst>
          </p:cNvPr>
          <p:cNvSpPr>
            <a:spLocks xmlns:a="http://schemas.openxmlformats.org/drawingml/2006/main" noGrp="1"/>
          </p:cNvSpPr>
          <p:nvPr/>
        </p:nvSpPr>
        <p:spPr>
          <a:xfrm xmlns:a="http://schemas.openxmlformats.org/drawingml/2006/main">
            <a:off x="762000" y="4095750"/>
            <a:ext cx="6334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66B70"/>
                </a:solidFill>
                <a:latin typeface="Arial"/>
                <a:ea typeface="Arial"/>
                <a:cs typeface="Arial"/>
              </a:defRPr>
            </a:pPr>
            <a:r>
              <a:rPr sz="2025" b="0">
                <a:solidFill>
                  <a:srgbClr val="566B70"/>
                </a:solidFill>
                <a:latin typeface="Arial"/>
                <a:ea typeface="Arial"/>
                <a:cs typeface="Arial"/>
              </a:rPr>
              <a:t>Waktu paling lama</a:t>
            </a:r>
          </a:p>
        </p:txBody>
      </p:sp>
      <p:sp>
        <p:nvSpPr>
          <p:cNvPr id="7" name="Paling sesuai dengan susunan wireframe menurut author. Hasil">
            <a:extLst xmlns:a="http://schemas.openxmlformats.org/drawingml/2006/main">
              <a:ext uri="{FF2B5EF4-FFF2-40B4-BE49-F238E27FC236}">
                <a16:creationId xmlns:a16="http://schemas.microsoft.com/office/drawing/2014/main" id="{093F90C9-20E8-4C09-B30B-B66064066FB3}"/>
              </a:ext>
            </a:extLst>
          </p:cNvPr>
          <p:cNvSpPr>
            <a:spLocks xmlns:a="http://schemas.openxmlformats.org/drawingml/2006/main" noGrp="1"/>
          </p:cNvSpPr>
          <p:nvPr/>
        </p:nvSpPr>
        <p:spPr>
          <a:xfrm xmlns:a="http://schemas.openxmlformats.org/drawingml/2006/main">
            <a:off x="762000" y="4714875"/>
            <a:ext cx="633412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Paling sesuai dengan susunan wireframe menurut author. Hasil visual masih mentah. Tahap mapping terpisah belum memberi peningkatan visual pada percobaan ini.</a:t>
            </a:r>
          </a:p>
        </p:txBody>
      </p:sp>
      <p:sp>
        <p:nvSpPr>
          <p:cNvPr id="8" name="Warna mengikuti DESIGN.md. UI awal: 8m 16s mapping + 41m 54s">
            <a:extLst xmlns:a="http://schemas.openxmlformats.org/drawingml/2006/main">
              <a:ext uri="{FF2B5EF4-FFF2-40B4-BE49-F238E27FC236}">
                <a16:creationId xmlns:a16="http://schemas.microsoft.com/office/drawing/2014/main" id="{5F660BDD-E163-43C0-973B-B3492FD32CD8}"/>
              </a:ext>
            </a:extLst>
          </p:cNvPr>
          <p:cNvSpPr>
            <a:spLocks xmlns:a="http://schemas.openxmlformats.org/drawingml/2006/main" noGrp="1"/>
          </p:cNvSpPr>
          <p:nvPr/>
        </p:nvSpPr>
        <p:spPr>
          <a:xfrm xmlns:a="http://schemas.openxmlformats.org/drawingml/2006/main">
            <a:off x="762000" y="6429375"/>
            <a:ext cx="6334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566B70"/>
                </a:solidFill>
                <a:latin typeface="Arial"/>
                <a:ea typeface="Arial"/>
                <a:cs typeface="Arial"/>
              </a:defRPr>
            </a:pPr>
            <a:r>
              <a:rPr sz="1950" b="0">
                <a:solidFill>
                  <a:srgbClr val="566B70"/>
                </a:solidFill>
                <a:latin typeface="Arial"/>
                <a:ea typeface="Arial"/>
                <a:cs typeface="Arial"/>
              </a:rPr>
              <a:t>Warna mengikuti DESIGN.md. UI awal: 8m 16s mapping + 41m 54s implementasi.</a:t>
            </a:r>
          </a:p>
        </p:txBody>
      </p:sp>
      <p:sp>
        <p:nvSpPr>
          <p:cNvPr id="9" name="Metode 4: HTML buatan agent">
            <a:extLst xmlns:a="http://schemas.openxmlformats.org/drawingml/2006/main">
              <a:ext uri="{FF2B5EF4-FFF2-40B4-BE49-F238E27FC236}">
                <a16:creationId xmlns:a16="http://schemas.microsoft.com/office/drawing/2014/main" id="{50FA3104-FB3B-437C-B9BB-A39171934A7D}"/>
              </a:ext>
            </a:extLst>
          </p:cNvPr>
          <p:cNvSpPr>
            <a:spLocks xmlns:a="http://schemas.openxmlformats.org/drawingml/2006/main" noGrp="1"/>
          </p:cNvSpPr>
          <p:nvPr/>
        </p:nvSpPr>
        <p:spPr>
          <a:xfrm xmlns:a="http://schemas.openxmlformats.org/drawingml/2006/main">
            <a:off x="8096250" y="2124075"/>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625" b="1">
                <a:solidFill>
                  <a:srgbClr val="007F79"/>
                </a:solidFill>
                <a:latin typeface="Arial"/>
                <a:ea typeface="Arial"/>
                <a:cs typeface="Arial"/>
              </a:defRPr>
            </a:pPr>
            <a:r>
              <a:rPr sz="2625" b="1">
                <a:solidFill>
                  <a:srgbClr val="007F79"/>
                </a:solidFill>
                <a:latin typeface="Arial"/>
                <a:ea typeface="Arial"/>
                <a:cs typeface="Arial"/>
              </a:rPr>
              <a:t>Metode 4: HTML buatan agent</a:t>
            </a:r>
          </a:p>
        </p:txBody>
      </p:sp>
      <p:sp>
        <p:nvSpPr>
          <p:cNvPr id="10" name="23m 33s">
            <a:extLst xmlns:a="http://schemas.openxmlformats.org/drawingml/2006/main">
              <a:ext uri="{FF2B5EF4-FFF2-40B4-BE49-F238E27FC236}">
                <a16:creationId xmlns:a16="http://schemas.microsoft.com/office/drawing/2014/main" id="{04CE3299-BC44-4465-AA9E-2AB60D0CDBE4}"/>
              </a:ext>
            </a:extLst>
          </p:cNvPr>
          <p:cNvSpPr>
            <a:spLocks xmlns:a="http://schemas.openxmlformats.org/drawingml/2006/main" noGrp="1"/>
          </p:cNvSpPr>
          <p:nvPr/>
        </p:nvSpPr>
        <p:spPr>
          <a:xfrm xmlns:a="http://schemas.openxmlformats.org/drawingml/2006/main">
            <a:off x="8096250" y="3333750"/>
            <a:ext cx="628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900" b="1">
                <a:solidFill>
                  <a:srgbClr val="142C31"/>
                </a:solidFill>
                <a:latin typeface="Arial"/>
                <a:ea typeface="Arial"/>
                <a:cs typeface="Arial"/>
              </a:defRPr>
            </a:pPr>
            <a:r>
              <a:rPr sz="3900" b="1">
                <a:solidFill>
                  <a:srgbClr val="142C31"/>
                </a:solidFill>
                <a:latin typeface="Arial"/>
                <a:ea typeface="Arial"/>
                <a:cs typeface="Arial"/>
              </a:rPr>
              <a:t>23m 33s</a:t>
            </a:r>
          </a:p>
        </p:txBody>
      </p:sp>
      <p:sp>
        <p:nvSpPr>
          <p:cNvPr id="11" name="Waktu paling cepat">
            <a:extLst xmlns:a="http://schemas.openxmlformats.org/drawingml/2006/main">
              <a:ext uri="{FF2B5EF4-FFF2-40B4-BE49-F238E27FC236}">
                <a16:creationId xmlns:a16="http://schemas.microsoft.com/office/drawing/2014/main" id="{8E0F9EDF-1640-49D0-AB01-44342B11910A}"/>
              </a:ext>
            </a:extLst>
          </p:cNvPr>
          <p:cNvSpPr>
            <a:spLocks xmlns:a="http://schemas.openxmlformats.org/drawingml/2006/main" noGrp="1"/>
          </p:cNvSpPr>
          <p:nvPr/>
        </p:nvSpPr>
        <p:spPr>
          <a:xfrm xmlns:a="http://schemas.openxmlformats.org/drawingml/2006/main">
            <a:off x="8096250" y="4095750"/>
            <a:ext cx="628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566B70"/>
                </a:solidFill>
                <a:latin typeface="Arial"/>
                <a:ea typeface="Arial"/>
                <a:cs typeface="Arial"/>
              </a:defRPr>
            </a:pPr>
            <a:r>
              <a:rPr sz="2025" b="0">
                <a:solidFill>
                  <a:srgbClr val="566B70"/>
                </a:solidFill>
                <a:latin typeface="Arial"/>
                <a:ea typeface="Arial"/>
                <a:cs typeface="Arial"/>
              </a:rPr>
              <a:t>Waktu paling cepat</a:t>
            </a:r>
          </a:p>
        </p:txBody>
      </p:sp>
      <p:sp>
        <p:nvSpPr>
          <p:cNvPr id="12" name="Hasil visual cukup memuaskan dan total waktu paling singkat.">
            <a:extLst xmlns:a="http://schemas.openxmlformats.org/drawingml/2006/main">
              <a:ext uri="{FF2B5EF4-FFF2-40B4-BE49-F238E27FC236}">
                <a16:creationId xmlns:a16="http://schemas.microsoft.com/office/drawing/2014/main" id="{B6C8F79D-CBB0-48B4-8F88-B75309DA3805}"/>
              </a:ext>
            </a:extLst>
          </p:cNvPr>
          <p:cNvSpPr>
            <a:spLocks xmlns:a="http://schemas.openxmlformats.org/drawingml/2006/main" noGrp="1"/>
          </p:cNvSpPr>
          <p:nvPr/>
        </p:nvSpPr>
        <p:spPr>
          <a:xfrm xmlns:a="http://schemas.openxmlformats.org/drawingml/2006/main">
            <a:off x="8096250" y="4714875"/>
            <a:ext cx="6286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142C31"/>
                </a:solidFill>
                <a:latin typeface="Arial"/>
                <a:ea typeface="Arial"/>
                <a:cs typeface="Arial"/>
              </a:defRPr>
            </a:pPr>
            <a:r>
              <a:rPr sz="2175" b="0">
                <a:solidFill>
                  <a:srgbClr val="142C31"/>
                </a:solidFill>
                <a:latin typeface="Arial"/>
                <a:ea typeface="Arial"/>
                <a:cs typeface="Arial"/>
              </a:rPr>
              <a:t>Hasil visual cukup memuaskan dan total waktu paling singkat. Paletnya berbeda dari aturan warna DESIGN.md.</a:t>
            </a:r>
          </a:p>
        </p:txBody>
      </p:sp>
      <p:sp>
        <p:nvSpPr>
          <p:cNvPr id="13" name="Prompt HTML tidak merujuk DESIGN.md secara eksplisit. Kepatu">
            <a:extLst xmlns:a="http://schemas.openxmlformats.org/drawingml/2006/main">
              <a:ext uri="{FF2B5EF4-FFF2-40B4-BE49-F238E27FC236}">
                <a16:creationId xmlns:a16="http://schemas.microsoft.com/office/drawing/2014/main" id="{E127D1AD-DE0A-4F7F-A1B5-547DEA83D882}"/>
              </a:ext>
            </a:extLst>
          </p:cNvPr>
          <p:cNvSpPr>
            <a:spLocks xmlns:a="http://schemas.openxmlformats.org/drawingml/2006/main" noGrp="1"/>
          </p:cNvSpPr>
          <p:nvPr/>
        </p:nvSpPr>
        <p:spPr>
          <a:xfrm xmlns:a="http://schemas.openxmlformats.org/drawingml/2006/main">
            <a:off x="8096250" y="6429375"/>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0">
                <a:solidFill>
                  <a:srgbClr val="566B70"/>
                </a:solidFill>
                <a:latin typeface="Arial"/>
                <a:ea typeface="Arial"/>
                <a:cs typeface="Arial"/>
              </a:defRPr>
            </a:pPr>
            <a:r>
              <a:rPr sz="1950" b="0">
                <a:solidFill>
                  <a:srgbClr val="566B70"/>
                </a:solidFill>
                <a:latin typeface="Arial"/>
                <a:ea typeface="Arial"/>
                <a:cs typeface="Arial"/>
              </a:rPr>
              <a:t>Prompt HTML tidak merujuk DESIGN.md secara eksplisit. Kepatuhan warna perlu diminta sejak tahap HTML.</a:t>
            </a:r>
          </a:p>
        </p:txBody>
      </p:sp>
      <p:sp>
        <p:nvSpPr>
          <p:cNvPr id="14" name="Kesesuaian wireframe, kematangan visual, dan kepatuhan warna">
            <a:extLst xmlns:a="http://schemas.openxmlformats.org/drawingml/2006/main">
              <a:ext uri="{FF2B5EF4-FFF2-40B4-BE49-F238E27FC236}">
                <a16:creationId xmlns:a16="http://schemas.microsoft.com/office/drawing/2014/main" id="{5021E364-B530-4347-9EF8-CAF944FD859A}"/>
              </a:ext>
            </a:extLst>
          </p:cNvPr>
          <p:cNvSpPr>
            <a:spLocks xmlns:a="http://schemas.openxmlformats.org/drawingml/2006/main" noGrp="1"/>
          </p:cNvSpPr>
          <p:nvPr/>
        </p:nvSpPr>
        <p:spPr>
          <a:xfrm xmlns:a="http://schemas.openxmlformats.org/drawingml/2006/main">
            <a:off x="762000" y="7553325"/>
            <a:ext cx="13573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950" b="1">
                <a:solidFill>
                  <a:srgbClr val="007F79"/>
                </a:solidFill>
                <a:latin typeface="Arial"/>
                <a:ea typeface="Arial"/>
                <a:cs typeface="Arial"/>
              </a:defRPr>
            </a:pPr>
            <a:r>
              <a:rPr sz="1950" b="1">
                <a:solidFill>
                  <a:srgbClr val="007F79"/>
                </a:solidFill>
                <a:latin typeface="Arial"/>
                <a:ea typeface="Arial"/>
                <a:cs typeface="Arial"/>
              </a:rPr>
              <a:t>Kesesuaian wireframe, kematangan visual, dan kepatuhan warna memberi penilaian yang berbeda.</a:t>
            </a:r>
          </a:p>
        </p:txBody>
      </p:sp>
      <p:sp>
        <p:nvSpPr>
          <p:cNvPr id="15" name="19">
            <a:extLst xmlns:a="http://schemas.openxmlformats.org/drawingml/2006/main">
              <a:ext uri="{FF2B5EF4-FFF2-40B4-BE49-F238E27FC236}">
                <a16:creationId xmlns:a16="http://schemas.microsoft.com/office/drawing/2014/main" id="{E3DE0E89-1194-427E-8985-2E21266A13CF}"/>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566B70"/>
                </a:solidFill>
                <a:latin typeface="Arial"/>
                <a:ea typeface="Arial"/>
                <a:cs typeface="Arial"/>
              </a:defRPr>
            </a:pPr>
            <a:r>
              <a:rPr sz="1350" b="0">
                <a:solidFill>
                  <a:srgbClr val="566B70"/>
                </a:solidFill>
                <a:latin typeface="Arial"/>
                <a:ea typeface="Arial"/>
                <a:cs typeface="Arial"/>
              </a:rPr>
              <a:t>25</a:t>
            </a:r>
          </a:p>
        </p:txBody>
      </p:sp>
    </p:spTree>
    <p:extLst>
      <p:ext uri="{BB962C8B-B14F-4D97-AF65-F5344CB8AC3E}">
        <p14:creationId xmlns:p14="http://schemas.microsoft.com/office/powerpoint/2010/main" val="851976395"/>
      </p:ext>
    </p:extLst>
  </p:cSld>
</p:sld>
</file>

<file path=ppt/slides/slide26.xml><?xml version="1.0" encoding="utf-8"?>
<p:sld xmlns:p="http://schemas.openxmlformats.org/presentationml/2006/main">
  <p:cSld>
    <p:bg>
      <p:bgPr>
        <a:solidFill xmlns:a="http://schemas.openxmlformats.org/drawingml/2006/main">
          <a:srgbClr val="142C31"/>
        </a:solidFill>
      </p:bgPr>
    </p:bg>
    <p:spTree>
      <p:nvGrpSpPr>
        <p:cNvPr id="1" name=""/>
        <p:cNvGrpSpPr/>
        <p:nvPr/>
      </p:nvGrpSpPr>
      <p:grpSpPr>
        <a:xfrm xmlns:a="http://schemas.openxmlformats.org/drawingml/2006/main"/>
      </p:grpSpPr>
      <p:sp>
        <p:nvSpPr>
          <p:cNvPr id="7" name="HTML-FMX  /  V2 healthcare study">
            <a:extLst xmlns:a="http://schemas.openxmlformats.org/drawingml/2006/main">
              <a:ext uri="{FF2B5EF4-FFF2-40B4-BE49-F238E27FC236}">
                <a16:creationId xmlns:a16="http://schemas.microsoft.com/office/drawing/2014/main" id="{5A7C4E4F-889A-4329-842E-E82221F06323}"/>
              </a:ext>
            </a:extLst>
          </p:cNvPr>
          <p:cNvSpPr>
            <a:spLocks xmlns:a="http://schemas.openxmlformats.org/drawingml/2006/main" noGrp="1"/>
          </p:cNvSpPr>
          <p:nvPr/>
        </p:nvSpPr>
        <p:spPr>
          <a:xfrm xmlns:a="http://schemas.openxmlformats.org/drawingml/2006/main">
            <a:off x="762000" y="81724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00" b="0">
                <a:solidFill>
                  <a:srgbClr val="C6E2DE"/>
                </a:solidFill>
                <a:latin typeface="Arial"/>
                <a:ea typeface="Arial"/>
                <a:cs typeface="Arial"/>
              </a:defRPr>
            </a:pPr>
            <a:r>
              <a:rPr sz="1200" b="0">
                <a:solidFill>
                  <a:srgbClr val="C6E2DE"/>
                </a:solidFill>
                <a:latin typeface="Arial"/>
                <a:ea typeface="Arial"/>
                <a:cs typeface="Arial"/>
              </a:rPr>
              <a:t>HTML-FMX  /  V2 healthcare study</a:t>
            </a:r>
          </a:p>
        </p:txBody>
      </p:sp>
      <p:sp>
        <p:nvSpPr>
          <p:cNvPr id="2" name="17">
            <a:extLst xmlns:a="http://schemas.openxmlformats.org/drawingml/2006/main">
              <a:ext uri="{FF2B5EF4-FFF2-40B4-BE49-F238E27FC236}">
                <a16:creationId xmlns:a16="http://schemas.microsoft.com/office/drawing/2014/main" id="{DAA4D4A3-B630-46D4-ABF4-6F9ADACCB3B7}"/>
              </a:ext>
            </a:extLst>
          </p:cNvPr>
          <p:cNvSpPr>
            <a:spLocks xmlns:a="http://schemas.openxmlformats.org/drawingml/2006/main" noGrp="1"/>
          </p:cNvSpPr>
          <p:nvPr/>
        </p:nvSpPr>
        <p:spPr>
          <a:xfrm xmlns:a="http://schemas.openxmlformats.org/drawingml/2006/main">
            <a:off x="14001750" y="8143875"/>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0">
                <a:solidFill>
                  <a:srgbClr val="C6E2DE"/>
                </a:solidFill>
                <a:latin typeface="Arial"/>
                <a:ea typeface="Arial"/>
                <a:cs typeface="Arial"/>
              </a:defRPr>
            </a:pPr>
            <a:r>
              <a:rPr sz="1350" b="0">
                <a:solidFill>
                  <a:srgbClr val="C6E2DE"/>
                </a:solidFill>
                <a:latin typeface="Arial"/>
                <a:ea typeface="Arial"/>
                <a:cs typeface="Arial"/>
              </a:rPr>
              <a:t>26</a:t>
            </a:r>
          </a:p>
        </p:txBody>
      </p:sp>
      <p:sp>
        <p:nvSpPr>
          <p:cNvPr id="3" name="UI FMX hasil AI&#10;tetap menjadi&#10;tanggung jawab developer">
            <a:extLst xmlns:a="http://schemas.openxmlformats.org/drawingml/2006/main">
              <a:ext uri="{FF2B5EF4-FFF2-40B4-BE49-F238E27FC236}">
                <a16:creationId xmlns:a16="http://schemas.microsoft.com/office/drawing/2014/main" id="{DD30EDC8-563D-4F5A-9225-BB4020201380}"/>
              </a:ext>
            </a:extLst>
          </p:cNvPr>
          <p:cNvSpPr>
            <a:spLocks xmlns:a="http://schemas.openxmlformats.org/drawingml/2006/main" noGrp="1"/>
          </p:cNvSpPr>
          <p:nvPr/>
        </p:nvSpPr>
        <p:spPr>
          <a:xfrm xmlns:a="http://schemas.openxmlformats.org/drawingml/2006/main">
            <a:off x="762000" y="1552575"/>
            <a:ext cx="13335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5250" b="1">
                <a:solidFill>
                  <a:srgbClr val="FFFFFF"/>
                </a:solidFill>
                <a:latin typeface="Arial"/>
                <a:ea typeface="Arial"/>
                <a:cs typeface="Arial"/>
              </a:defRPr>
            </a:pPr>
            <a:r>
              <a:rPr sz="5250" b="1">
                <a:solidFill>
                  <a:srgbClr val="FFFFFF"/>
                </a:solidFill>
                <a:latin typeface="Arial"/>
                <a:ea typeface="Arial"/>
                <a:cs typeface="Arial"/>
              </a:rPr>
              <a:t>UI FMX hasil AI</a:t>
            </a:r>
          </a:p>
          <a:p xmlns:a="http://schemas.openxmlformats.org/drawingml/2006/main">
            <a:pPr>
              <a:buNone/>
              <a:defRPr sz="5250" b="1">
                <a:solidFill>
                  <a:srgbClr val="FFFFFF"/>
                </a:solidFill>
                <a:latin typeface="Arial"/>
                <a:ea typeface="Arial"/>
                <a:cs typeface="Arial"/>
              </a:defRPr>
            </a:pPr>
            <a:r>
              <a:rPr sz="5250" b="1">
                <a:solidFill>
                  <a:srgbClr val="FFFFFF"/>
                </a:solidFill>
                <a:latin typeface="Arial"/>
                <a:ea typeface="Arial"/>
                <a:cs typeface="Arial"/>
              </a:rPr>
              <a:t>tetap menjadi</a:t>
            </a:r>
          </a:p>
          <a:p xmlns:a="http://schemas.openxmlformats.org/drawingml/2006/main">
            <a:pPr>
              <a:buNone/>
              <a:defRPr sz="5250" b="1">
                <a:solidFill>
                  <a:srgbClr val="FFFFFF"/>
                </a:solidFill>
                <a:latin typeface="Arial"/>
                <a:ea typeface="Arial"/>
                <a:cs typeface="Arial"/>
              </a:defRPr>
            </a:pPr>
            <a:r>
              <a:rPr sz="5250" b="1">
                <a:solidFill>
                  <a:srgbClr val="FFFFFF"/>
                </a:solidFill>
                <a:latin typeface="Arial"/>
                <a:ea typeface="Arial"/>
                <a:cs typeface="Arial"/>
              </a:rPr>
              <a:t>tanggung jawab developer</a:t>
            </a:r>
          </a:p>
        </p:txBody>
      </p:sp>
      <p:sp>
        <p:nvSpPr>
          <p:cNvPr id="4" name="Skill membantu menjaga hierarchy, style, dan pola reusable c">
            <a:extLst xmlns:a="http://schemas.openxmlformats.org/drawingml/2006/main">
              <a:ext uri="{FF2B5EF4-FFF2-40B4-BE49-F238E27FC236}">
                <a16:creationId xmlns:a16="http://schemas.microsoft.com/office/drawing/2014/main" id="{A3BF699E-21CB-4B6E-8EEA-CEECF93B7900}"/>
              </a:ext>
            </a:extLst>
          </p:cNvPr>
          <p:cNvSpPr>
            <a:spLocks xmlns:a="http://schemas.openxmlformats.org/drawingml/2006/main" noGrp="1"/>
          </p:cNvSpPr>
          <p:nvPr/>
        </p:nvSpPr>
        <p:spPr>
          <a:xfrm xmlns:a="http://schemas.openxmlformats.org/drawingml/2006/main">
            <a:off x="762000" y="4829175"/>
            <a:ext cx="12954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C6E2DE"/>
                </a:solidFill>
                <a:latin typeface="Arial"/>
                <a:ea typeface="Arial"/>
                <a:cs typeface="Arial"/>
              </a:defRPr>
            </a:pPr>
            <a:r>
              <a:rPr sz="2400" b="0">
                <a:solidFill>
                  <a:srgbClr val="C6E2DE"/>
                </a:solidFill>
                <a:latin typeface="Arial"/>
                <a:ea typeface="Arial"/>
                <a:cs typeface="Arial"/>
              </a:rPr>
              <a:t>Skill membantu menjaga hierarchy, style, dan pola reusable card.</a:t>
            </a:r>
          </a:p>
          <a:p xmlns:a="http://schemas.openxmlformats.org/drawingml/2006/main">
            <a:pPr>
              <a:buNone/>
              <a:defRPr sz="2400" b="0">
                <a:solidFill>
                  <a:srgbClr val="C6E2DE"/>
                </a:solidFill>
                <a:latin typeface="Arial"/>
                <a:ea typeface="Arial"/>
                <a:cs typeface="Arial"/>
              </a:defRPr>
            </a:pPr>
            <a:r>
              <a:rPr sz="2400" b="0">
                <a:solidFill>
                  <a:srgbClr val="C6E2DE"/>
                </a:solidFill>
                <a:latin typeface="Arial"/>
                <a:ea typeface="Arial"/>
                <a:cs typeface="Arial"/>
              </a:rPr>
              <a:t>Developer meninjau hasil serta menyelesaikan integrasinya.</a:t>
            </a:r>
          </a:p>
        </p:txBody>
      </p:sp>
      <p:sp>
        <p:nvSpPr>
          <p:cNvPr id="5" name="HTML-To-Delphi-FMX">
            <a:extLst xmlns:a="http://schemas.openxmlformats.org/drawingml/2006/main">
              <a:ext uri="{FF2B5EF4-FFF2-40B4-BE49-F238E27FC236}">
                <a16:creationId xmlns:a16="http://schemas.microsoft.com/office/drawing/2014/main" id="{C8CB0F5D-332B-4A21-83E5-78605F1FC550}"/>
              </a:ext>
            </a:extLst>
          </p:cNvPr>
          <p:cNvSpPr>
            <a:spLocks xmlns:a="http://schemas.openxmlformats.org/drawingml/2006/main" noGrp="1"/>
          </p:cNvSpPr>
          <p:nvPr/>
        </p:nvSpPr>
        <p:spPr>
          <a:xfrm xmlns:a="http://schemas.openxmlformats.org/drawingml/2006/main">
            <a:off x="762000" y="6924675"/>
            <a:ext cx="1238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1">
                <a:solidFill>
                  <a:srgbClr val="FFFFFF"/>
                </a:solidFill>
                <a:latin typeface="Arial"/>
                <a:ea typeface="Arial"/>
                <a:cs typeface="Arial"/>
              </a:defRPr>
            </a:pPr>
            <a:r>
              <a:rPr sz="2250" b="1">
                <a:solidFill>
                  <a:srgbClr val="FFFFFF"/>
                </a:solidFill>
                <a:latin typeface="Arial"/>
                <a:ea typeface="Arial"/>
                <a:cs typeface="Arial"/>
              </a:rPr>
              <a:t>HTML-To-Delphi-FMX</a:t>
            </a:r>
          </a:p>
        </p:txBody>
      </p:sp>
      <p:sp>
        <p:nvSpPr>
          <p:cNvPr id="6" name="github.com/dondonondon/HTML-To-Delphi-FMX">
            <a:extLst xmlns:a="http://schemas.openxmlformats.org/drawingml/2006/main">
              <a:ext uri="{FF2B5EF4-FFF2-40B4-BE49-F238E27FC236}">
                <a16:creationId xmlns:a16="http://schemas.microsoft.com/office/drawing/2014/main" id="{0D3B106B-C484-4E11-B16F-3FEB4406D935}"/>
              </a:ext>
            </a:extLst>
          </p:cNvPr>
          <p:cNvSpPr>
            <a:spLocks xmlns:a="http://schemas.openxmlformats.org/drawingml/2006/main" noGrp="1"/>
          </p:cNvSpPr>
          <p:nvPr/>
        </p:nvSpPr>
        <p:spPr>
          <a:xfrm xmlns:a="http://schemas.openxmlformats.org/drawingml/2006/main">
            <a:off x="762000" y="7458075"/>
            <a:ext cx="1333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C6E2DE"/>
                </a:solidFill>
                <a:latin typeface="Arial"/>
                <a:ea typeface="Arial"/>
                <a:cs typeface="Arial"/>
              </a:defRPr>
            </a:pPr>
            <a:r>
              <a:rPr sz="2025" b="0">
                <a:solidFill>
                  <a:srgbClr val="C6E2DE"/>
                </a:solidFill>
                <a:latin typeface="Arial"/>
                <a:ea typeface="Arial"/>
                <a:cs typeface="Arial"/>
              </a:rPr>
              <a:t>github.com/dondonondon/HTML-To-Delphi-FMX</a:t>
            </a:r>
          </a:p>
        </p:txBody>
      </p:sp>
    </p:spTree>
    <p:extLst>
      <p:ext uri="{BB962C8B-B14F-4D97-AF65-F5344CB8AC3E}">
        <p14:creationId xmlns:p14="http://schemas.microsoft.com/office/powerpoint/2010/main" val="1195160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2026-10-03T01:42:29.1850000Z</dcterms:created>
  <dcterms:modified xsi:type="dcterms:W3CDTF">2026-10-03T01:42:29.1850000Z</dcterms:modified>
</coreProperties>
</file>